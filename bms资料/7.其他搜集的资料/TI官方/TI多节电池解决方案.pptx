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66" r:id="rId2"/>
    <p:sldId id="272" r:id="rId3"/>
    <p:sldId id="267" r:id="rId4"/>
    <p:sldId id="268" r:id="rId5"/>
    <p:sldId id="270" r:id="rId6"/>
    <p:sldId id="290" r:id="rId7"/>
    <p:sldId id="289" r:id="rId8"/>
    <p:sldId id="292" r:id="rId9"/>
    <p:sldId id="293" r:id="rId10"/>
    <p:sldId id="271" r:id="rId11"/>
    <p:sldId id="269" r:id="rId12"/>
    <p:sldId id="273" r:id="rId13"/>
    <p:sldId id="275" r:id="rId14"/>
    <p:sldId id="274" r:id="rId15"/>
    <p:sldId id="285" r:id="rId16"/>
    <p:sldId id="276" r:id="rId17"/>
    <p:sldId id="278" r:id="rId18"/>
    <p:sldId id="280" r:id="rId19"/>
    <p:sldId id="279" r:id="rId20"/>
    <p:sldId id="281" r:id="rId21"/>
    <p:sldId id="284" r:id="rId22"/>
    <p:sldId id="283" r:id="rId23"/>
    <p:sldId id="288" r:id="rId24"/>
  </p:sldIdLst>
  <p:sldSz cx="9144000" cy="6858000" type="screen4x3"/>
  <p:notesSz cx="6805613" cy="9939338"/>
  <p:defaultTextStyle>
    <a:defPPr>
      <a:defRPr lang="zh-TW"/>
    </a:defPPr>
    <a:lvl1pPr algn="l" rtl="0" fontAlgn="base">
      <a:spcBef>
        <a:spcPct val="0"/>
      </a:spcBef>
      <a:spcAft>
        <a:spcPct val="0"/>
      </a:spcAft>
      <a:defRPr kumimoji="1" kern="1200">
        <a:solidFill>
          <a:schemeClr val="tx1"/>
        </a:solidFill>
        <a:latin typeface="Arial" charset="0"/>
        <a:ea typeface="新細明體" charset="-120"/>
        <a:cs typeface="+mn-cs"/>
      </a:defRPr>
    </a:lvl1pPr>
    <a:lvl2pPr marL="457200" algn="l" rtl="0" fontAlgn="base">
      <a:spcBef>
        <a:spcPct val="0"/>
      </a:spcBef>
      <a:spcAft>
        <a:spcPct val="0"/>
      </a:spcAft>
      <a:defRPr kumimoji="1" kern="1200">
        <a:solidFill>
          <a:schemeClr val="tx1"/>
        </a:solidFill>
        <a:latin typeface="Arial" charset="0"/>
        <a:ea typeface="新細明體" charset="-120"/>
        <a:cs typeface="+mn-cs"/>
      </a:defRPr>
    </a:lvl2pPr>
    <a:lvl3pPr marL="914400" algn="l" rtl="0" fontAlgn="base">
      <a:spcBef>
        <a:spcPct val="0"/>
      </a:spcBef>
      <a:spcAft>
        <a:spcPct val="0"/>
      </a:spcAft>
      <a:defRPr kumimoji="1" kern="1200">
        <a:solidFill>
          <a:schemeClr val="tx1"/>
        </a:solidFill>
        <a:latin typeface="Arial" charset="0"/>
        <a:ea typeface="新細明體" charset="-120"/>
        <a:cs typeface="+mn-cs"/>
      </a:defRPr>
    </a:lvl3pPr>
    <a:lvl4pPr marL="1371600" algn="l" rtl="0" fontAlgn="base">
      <a:spcBef>
        <a:spcPct val="0"/>
      </a:spcBef>
      <a:spcAft>
        <a:spcPct val="0"/>
      </a:spcAft>
      <a:defRPr kumimoji="1" kern="1200">
        <a:solidFill>
          <a:schemeClr val="tx1"/>
        </a:solidFill>
        <a:latin typeface="Arial" charset="0"/>
        <a:ea typeface="新細明體" charset="-120"/>
        <a:cs typeface="+mn-cs"/>
      </a:defRPr>
    </a:lvl4pPr>
    <a:lvl5pPr marL="1828800" algn="l" rtl="0" fontAlgn="base">
      <a:spcBef>
        <a:spcPct val="0"/>
      </a:spcBef>
      <a:spcAft>
        <a:spcPct val="0"/>
      </a:spcAft>
      <a:defRPr kumimoji="1" kern="1200">
        <a:solidFill>
          <a:schemeClr val="tx1"/>
        </a:solidFill>
        <a:latin typeface="Arial" charset="0"/>
        <a:ea typeface="新細明體" charset="-120"/>
        <a:cs typeface="+mn-cs"/>
      </a:defRPr>
    </a:lvl5pPr>
    <a:lvl6pPr marL="2286000" algn="l" defTabSz="914400" rtl="0" eaLnBrk="1" latinLnBrk="0" hangingPunct="1">
      <a:defRPr kumimoji="1" kern="1200">
        <a:solidFill>
          <a:schemeClr val="tx1"/>
        </a:solidFill>
        <a:latin typeface="Arial" charset="0"/>
        <a:ea typeface="新細明體" charset="-120"/>
        <a:cs typeface="+mn-cs"/>
      </a:defRPr>
    </a:lvl6pPr>
    <a:lvl7pPr marL="2743200" algn="l" defTabSz="914400" rtl="0" eaLnBrk="1" latinLnBrk="0" hangingPunct="1">
      <a:defRPr kumimoji="1" kern="1200">
        <a:solidFill>
          <a:schemeClr val="tx1"/>
        </a:solidFill>
        <a:latin typeface="Arial" charset="0"/>
        <a:ea typeface="新細明體" charset="-120"/>
        <a:cs typeface="+mn-cs"/>
      </a:defRPr>
    </a:lvl7pPr>
    <a:lvl8pPr marL="3200400" algn="l" defTabSz="914400" rtl="0" eaLnBrk="1" latinLnBrk="0" hangingPunct="1">
      <a:defRPr kumimoji="1" kern="1200">
        <a:solidFill>
          <a:schemeClr val="tx1"/>
        </a:solidFill>
        <a:latin typeface="Arial" charset="0"/>
        <a:ea typeface="新細明體" charset="-120"/>
        <a:cs typeface="+mn-cs"/>
      </a:defRPr>
    </a:lvl8pPr>
    <a:lvl9pPr marL="3657600" algn="l" defTabSz="914400" rtl="0" eaLnBrk="1" latinLnBrk="0" hangingPunct="1">
      <a:defRPr kumimoji="1" kern="1200">
        <a:solidFill>
          <a:schemeClr val="tx1"/>
        </a:solidFill>
        <a:latin typeface="Arial"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FF"/>
    <a:srgbClr val="B4A3FB"/>
  </p:clrMru>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7CE84F3-28C3-443E-9E96-99CF82512B78}" styleName="深色樣式 1 - 輔色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77331" autoAdjust="0"/>
  </p:normalViewPr>
  <p:slideViewPr>
    <p:cSldViewPr>
      <p:cViewPr>
        <p:scale>
          <a:sx n="50" d="100"/>
          <a:sy n="50" d="100"/>
        </p:scale>
        <p:origin x="-1956" y="-1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575" cy="496888"/>
          </a:xfrm>
          <a:prstGeom prst="rect">
            <a:avLst/>
          </a:prstGeom>
        </p:spPr>
        <p:txBody>
          <a:bodyPr vert="horz" lIns="92821" tIns="46410" rIns="92821" bIns="46410" rtlCol="0"/>
          <a:lstStyle>
            <a:lvl1pPr algn="l">
              <a:defRPr sz="1200"/>
            </a:lvl1pPr>
          </a:lstStyle>
          <a:p>
            <a:pPr>
              <a:defRPr/>
            </a:pPr>
            <a:endParaRPr lang="zh-TW" altLang="en-US"/>
          </a:p>
        </p:txBody>
      </p:sp>
      <p:sp>
        <p:nvSpPr>
          <p:cNvPr id="3" name="日期版面配置區 2"/>
          <p:cNvSpPr>
            <a:spLocks noGrp="1"/>
          </p:cNvSpPr>
          <p:nvPr>
            <p:ph type="dt" sz="quarter" idx="1"/>
          </p:nvPr>
        </p:nvSpPr>
        <p:spPr>
          <a:xfrm>
            <a:off x="3854450" y="0"/>
            <a:ext cx="2949575" cy="496888"/>
          </a:xfrm>
          <a:prstGeom prst="rect">
            <a:avLst/>
          </a:prstGeom>
        </p:spPr>
        <p:txBody>
          <a:bodyPr vert="horz" lIns="92821" tIns="46410" rIns="92821" bIns="46410" rtlCol="0"/>
          <a:lstStyle>
            <a:lvl1pPr algn="r">
              <a:defRPr sz="1200"/>
            </a:lvl1pPr>
          </a:lstStyle>
          <a:p>
            <a:pPr>
              <a:defRPr/>
            </a:pPr>
            <a:fld id="{65E36F80-623B-442E-8ABD-23563D3882ED}" type="datetimeFigureOut">
              <a:rPr lang="zh-TW" altLang="en-US"/>
              <a:pPr>
                <a:defRPr/>
              </a:pPr>
              <a:t>2012/8/21</a:t>
            </a:fld>
            <a:endParaRPr lang="zh-TW" altLang="en-US"/>
          </a:p>
        </p:txBody>
      </p:sp>
      <p:sp>
        <p:nvSpPr>
          <p:cNvPr id="4" name="頁尾版面配置區 3"/>
          <p:cNvSpPr>
            <a:spLocks noGrp="1"/>
          </p:cNvSpPr>
          <p:nvPr>
            <p:ph type="ftr" sz="quarter" idx="2"/>
          </p:nvPr>
        </p:nvSpPr>
        <p:spPr>
          <a:xfrm>
            <a:off x="0" y="9440863"/>
            <a:ext cx="2949575" cy="496887"/>
          </a:xfrm>
          <a:prstGeom prst="rect">
            <a:avLst/>
          </a:prstGeom>
        </p:spPr>
        <p:txBody>
          <a:bodyPr vert="horz" lIns="92821" tIns="46410" rIns="92821" bIns="46410" rtlCol="0" anchor="b"/>
          <a:lstStyle>
            <a:lvl1pPr algn="l">
              <a:defRPr sz="1200"/>
            </a:lvl1pPr>
          </a:lstStyle>
          <a:p>
            <a:pPr>
              <a:defRPr/>
            </a:pPr>
            <a:endParaRPr lang="zh-TW" altLang="en-US"/>
          </a:p>
        </p:txBody>
      </p:sp>
      <p:sp>
        <p:nvSpPr>
          <p:cNvPr id="5" name="投影片編號版面配置區 4"/>
          <p:cNvSpPr>
            <a:spLocks noGrp="1"/>
          </p:cNvSpPr>
          <p:nvPr>
            <p:ph type="sldNum" sz="quarter" idx="3"/>
          </p:nvPr>
        </p:nvSpPr>
        <p:spPr>
          <a:xfrm>
            <a:off x="3854450" y="9440863"/>
            <a:ext cx="2949575" cy="496887"/>
          </a:xfrm>
          <a:prstGeom prst="rect">
            <a:avLst/>
          </a:prstGeom>
        </p:spPr>
        <p:txBody>
          <a:bodyPr vert="horz" lIns="92821" tIns="46410" rIns="92821" bIns="46410" rtlCol="0" anchor="b"/>
          <a:lstStyle>
            <a:lvl1pPr algn="r">
              <a:defRPr sz="1200"/>
            </a:lvl1pPr>
          </a:lstStyle>
          <a:p>
            <a:pPr>
              <a:defRPr/>
            </a:pPr>
            <a:fld id="{9A2EE56F-B6EE-426A-8DD5-93926E95228E}"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4450" y="0"/>
            <a:ext cx="2949575" cy="496888"/>
          </a:xfrm>
          <a:prstGeom prst="rect">
            <a:avLst/>
          </a:prstGeom>
        </p:spPr>
        <p:txBody>
          <a:bodyPr vert="horz" lIns="91440" tIns="45720" rIns="91440" bIns="45720" rtlCol="0"/>
          <a:lstStyle>
            <a:lvl1pPr algn="r">
              <a:defRPr sz="1200"/>
            </a:lvl1pPr>
          </a:lstStyle>
          <a:p>
            <a:fld id="{08A465A3-8802-4EEB-90A5-BEF57179F1E1}" type="datetimeFigureOut">
              <a:rPr lang="zh-TW" altLang="en-US" smtClean="0"/>
              <a:pPr/>
              <a:t>2012/8/21</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1038" y="4721225"/>
            <a:ext cx="5443537" cy="447198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4450" y="9440863"/>
            <a:ext cx="2949575" cy="496887"/>
          </a:xfrm>
          <a:prstGeom prst="rect">
            <a:avLst/>
          </a:prstGeom>
        </p:spPr>
        <p:txBody>
          <a:bodyPr vert="horz" lIns="91440" tIns="45720" rIns="91440" bIns="45720" rtlCol="0" anchor="b"/>
          <a:lstStyle>
            <a:lvl1pPr algn="r">
              <a:defRPr sz="1200"/>
            </a:lvl1pPr>
          </a:lstStyle>
          <a:p>
            <a:fld id="{CBD19DC5-36F1-4878-AFCB-CEED87DE26DD}"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CBD19DC5-36F1-4878-AFCB-CEED87DE26DD}" type="slidenum">
              <a:rPr lang="zh-TW" altLang="en-US" smtClean="0"/>
              <a:pPr/>
              <a:t>1</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CBD19DC5-36F1-4878-AFCB-CEED87DE26DD}" type="slidenum">
              <a:rPr lang="zh-TW" altLang="en-US" smtClean="0"/>
              <a:pPr/>
              <a:t>6</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CN" dirty="0" smtClean="0"/>
              <a:t>bq76PL536A-Q1</a:t>
            </a:r>
            <a:r>
              <a:rPr lang="zh-CN" altLang="en-US" dirty="0" smtClean="0"/>
              <a:t>能够采用</a:t>
            </a:r>
            <a:r>
              <a:rPr lang="en-US" altLang="zh-CN" dirty="0" smtClean="0"/>
              <a:t>ADC</a:t>
            </a:r>
            <a:r>
              <a:rPr lang="zh-CN" altLang="en-US" dirty="0" smtClean="0"/>
              <a:t>来测量</a:t>
            </a:r>
            <a:r>
              <a:rPr lang="en-US" altLang="zh-CN" dirty="0" smtClean="0"/>
              <a:t>TS1+</a:t>
            </a:r>
            <a:r>
              <a:rPr lang="zh-CN" altLang="en-US" dirty="0" smtClean="0"/>
              <a:t>、</a:t>
            </a:r>
            <a:r>
              <a:rPr lang="en-US" altLang="zh-CN" dirty="0" smtClean="0"/>
              <a:t>TS1</a:t>
            </a:r>
            <a:r>
              <a:rPr lang="zh-CN" altLang="en-US" dirty="0" smtClean="0"/>
              <a:t>－ 及</a:t>
            </a:r>
            <a:r>
              <a:rPr lang="en-US" altLang="zh-CN" dirty="0" smtClean="0"/>
              <a:t>TS2+</a:t>
            </a:r>
            <a:r>
              <a:rPr lang="zh-CN" altLang="en-US" dirty="0" smtClean="0"/>
              <a:t>、</a:t>
            </a:r>
            <a:r>
              <a:rPr lang="en-US" altLang="zh-CN" dirty="0" smtClean="0"/>
              <a:t>TS2</a:t>
            </a:r>
            <a:r>
              <a:rPr lang="zh-CN" altLang="en-US" dirty="0" smtClean="0"/>
              <a:t>－差分输入电压。这些输入通常由一个外部热敏电阻</a:t>
            </a:r>
            <a:r>
              <a:rPr lang="en-US" altLang="zh-CN" dirty="0" smtClean="0"/>
              <a:t>/</a:t>
            </a:r>
            <a:r>
              <a:rPr lang="zh-CN" altLang="en-US" dirty="0" smtClean="0"/>
              <a:t>电阻分压器网络来得到。</a:t>
            </a:r>
            <a:r>
              <a:rPr lang="en-US" altLang="zh-CN" dirty="0" err="1" smtClean="0"/>
              <a:t>TSn</a:t>
            </a:r>
            <a:r>
              <a:rPr lang="zh-CN" altLang="en-US" dirty="0" smtClean="0"/>
              <a:t>输入采用经过分压的</a:t>
            </a:r>
            <a:r>
              <a:rPr lang="en-US" altLang="zh-CN" dirty="0" smtClean="0"/>
              <a:t>REG50</a:t>
            </a:r>
            <a:r>
              <a:rPr lang="zh-CN" altLang="en-US" dirty="0" smtClean="0"/>
              <a:t>，并在转换期间内部连接为</a:t>
            </a:r>
            <a:r>
              <a:rPr lang="en-US" altLang="zh-CN" dirty="0" smtClean="0"/>
              <a:t>ADC</a:t>
            </a:r>
            <a:r>
              <a:rPr lang="zh-CN" altLang="en-US" dirty="0" smtClean="0"/>
              <a:t>基准。这可产生一个比例式结果，并免除了当用于驱动温度传感器时对</a:t>
            </a:r>
            <a:r>
              <a:rPr lang="en-US" altLang="zh-CN" dirty="0" smtClean="0"/>
              <a:t>REG50</a:t>
            </a:r>
            <a:r>
              <a:rPr lang="zh-CN" altLang="en-US" dirty="0" smtClean="0"/>
              <a:t>电压漂移进行补偿或校正的需要。</a:t>
            </a:r>
            <a:r>
              <a:rPr lang="en-US" altLang="zh-CN" dirty="0" smtClean="0"/>
              <a:t>REG50</a:t>
            </a:r>
            <a:r>
              <a:rPr lang="zh-CN" altLang="en-US" dirty="0" smtClean="0"/>
              <a:t>基准在</a:t>
            </a:r>
            <a:r>
              <a:rPr lang="en-US" altLang="zh-CN" dirty="0" err="1" smtClean="0"/>
              <a:t>TSn</a:t>
            </a:r>
            <a:r>
              <a:rPr lang="zh-CN" altLang="en-US" dirty="0" smtClean="0"/>
              <a:t>输入上提供了一个大约</a:t>
            </a:r>
            <a:r>
              <a:rPr lang="en-US" altLang="zh-CN" dirty="0" smtClean="0"/>
              <a:t>2.5 V</a:t>
            </a:r>
            <a:r>
              <a:rPr lang="zh-CN" altLang="en-US" dirty="0" smtClean="0"/>
              <a:t>的全标度输入。最终的读数被限制在</a:t>
            </a:r>
            <a:r>
              <a:rPr lang="en-US" altLang="zh-CN" dirty="0" smtClean="0"/>
              <a:t>0</a:t>
            </a:r>
            <a:r>
              <a:rPr lang="zh-CN" altLang="en-US" dirty="0" smtClean="0"/>
              <a:t>至</a:t>
            </a:r>
            <a:r>
              <a:rPr lang="en-US" altLang="zh-CN" dirty="0" smtClean="0"/>
              <a:t>16,383</a:t>
            </a:r>
            <a:r>
              <a:rPr lang="zh-CN" altLang="en-US" dirty="0" smtClean="0"/>
              <a:t>之间，这对应于一个</a:t>
            </a:r>
            <a:r>
              <a:rPr lang="en-US" altLang="zh-CN" dirty="0" smtClean="0"/>
              <a:t>0</a:t>
            </a:r>
            <a:r>
              <a:rPr lang="zh-CN" altLang="en-US" dirty="0" smtClean="0"/>
              <a:t>至</a:t>
            </a:r>
            <a:r>
              <a:rPr lang="en-US" altLang="zh-CN" dirty="0" smtClean="0"/>
              <a:t>0.5</a:t>
            </a:r>
            <a:r>
              <a:rPr lang="zh-CN" altLang="en-US" dirty="0" smtClean="0"/>
              <a:t>的外分比。</a:t>
            </a:r>
            <a:endParaRPr lang="en-US" altLang="zh-CN" dirty="0" smtClean="0"/>
          </a:p>
          <a:p>
            <a:endParaRPr lang="zh-CN" altLang="en-US" dirty="0" smtClean="0"/>
          </a:p>
          <a:p>
            <a:r>
              <a:rPr lang="en-US" altLang="zh-CN" dirty="0" smtClean="0"/>
              <a:t>ADC</a:t>
            </a:r>
            <a:r>
              <a:rPr lang="zh-CN" altLang="en-US" dirty="0" smtClean="0"/>
              <a:t>需要两个控制位来成功地完成</a:t>
            </a:r>
            <a:r>
              <a:rPr lang="en-US" altLang="zh-CN" dirty="0" err="1" smtClean="0"/>
              <a:t>TSn</a:t>
            </a:r>
            <a:r>
              <a:rPr lang="zh-CN" altLang="en-US" dirty="0" smtClean="0"/>
              <a:t>输入电压的转换。通过设定</a:t>
            </a:r>
            <a:r>
              <a:rPr lang="en-US" altLang="zh-CN" dirty="0" smtClean="0"/>
              <a:t>ADC_CONTROL[</a:t>
            </a:r>
            <a:r>
              <a:rPr lang="en-US" altLang="zh-CN" dirty="0" err="1" smtClean="0"/>
              <a:t>TSn</a:t>
            </a:r>
            <a:r>
              <a:rPr lang="en-US" altLang="zh-CN" dirty="0" smtClean="0"/>
              <a:t>] </a:t>
            </a:r>
            <a:r>
              <a:rPr lang="zh-CN" altLang="en-US" dirty="0" smtClean="0"/>
              <a:t>使</a:t>
            </a:r>
            <a:r>
              <a:rPr lang="en-US" altLang="zh-CN" dirty="0" smtClean="0"/>
              <a:t>ADC</a:t>
            </a:r>
            <a:r>
              <a:rPr lang="zh-CN" altLang="en-US" dirty="0" smtClean="0"/>
              <a:t>在下一个请求的转换周期中对</a:t>
            </a:r>
            <a:r>
              <a:rPr lang="en-US" altLang="zh-CN" dirty="0" err="1" smtClean="0"/>
              <a:t>TSn</a:t>
            </a:r>
            <a:r>
              <a:rPr lang="zh-CN" altLang="en-US" dirty="0" smtClean="0"/>
              <a:t>通道进行转换。而通过设定</a:t>
            </a:r>
            <a:r>
              <a:rPr lang="en-US" altLang="zh-CN" dirty="0" smtClean="0"/>
              <a:t>O_CONTROL[</a:t>
            </a:r>
            <a:r>
              <a:rPr lang="en-US" altLang="zh-CN" dirty="0" err="1" smtClean="0"/>
              <a:t>TSn</a:t>
            </a:r>
            <a:r>
              <a:rPr lang="en-US" altLang="zh-CN" dirty="0" smtClean="0"/>
              <a:t>] </a:t>
            </a:r>
            <a:r>
              <a:rPr lang="zh-CN" altLang="en-US" dirty="0" smtClean="0"/>
              <a:t>以使连接</a:t>
            </a:r>
            <a:r>
              <a:rPr lang="en-US" altLang="zh-CN" dirty="0" err="1" smtClean="0"/>
              <a:t>TSn</a:t>
            </a:r>
            <a:r>
              <a:rPr lang="en-US" altLang="zh-CN" dirty="0" smtClean="0"/>
              <a:t>– </a:t>
            </a:r>
            <a:r>
              <a:rPr lang="zh-CN" altLang="en-US" dirty="0" smtClean="0"/>
              <a:t>输入与</a:t>
            </a:r>
            <a:r>
              <a:rPr lang="en-US" altLang="zh-CN" dirty="0" smtClean="0"/>
              <a:t>VSS</a:t>
            </a:r>
            <a:r>
              <a:rPr lang="zh-CN" altLang="en-US" dirty="0" smtClean="0"/>
              <a:t>的</a:t>
            </a:r>
            <a:r>
              <a:rPr lang="en-US" altLang="zh-CN" dirty="0" smtClean="0"/>
              <a:t>FET</a:t>
            </a:r>
            <a:r>
              <a:rPr lang="zh-CN" altLang="en-US" dirty="0" smtClean="0"/>
              <a:t>开关闭合，从而构成分压电路。</a:t>
            </a:r>
            <a:r>
              <a:rPr lang="en-US" altLang="zh-CN" dirty="0" smtClean="0"/>
              <a:t>IO_CONTROL[] </a:t>
            </a:r>
            <a:r>
              <a:rPr lang="zh-CN" altLang="en-US" dirty="0" smtClean="0"/>
              <a:t>位应当仅在需要的时候进行设定，从而达到节能的目的；在高温条件下，热敏电阻消耗的电流可能相对较高。</a:t>
            </a:r>
            <a:endParaRPr lang="zh-TW" altLang="en-US" dirty="0"/>
          </a:p>
        </p:txBody>
      </p:sp>
      <p:sp>
        <p:nvSpPr>
          <p:cNvPr id="4" name="投影片編號版面配置區 3"/>
          <p:cNvSpPr>
            <a:spLocks noGrp="1"/>
          </p:cNvSpPr>
          <p:nvPr>
            <p:ph type="sldNum" sz="quarter" idx="10"/>
          </p:nvPr>
        </p:nvSpPr>
        <p:spPr/>
        <p:txBody>
          <a:bodyPr/>
          <a:lstStyle/>
          <a:p>
            <a:fld id="{CBD19DC5-36F1-4878-AFCB-CEED87DE26DD}" type="slidenum">
              <a:rPr lang="zh-TW" altLang="en-US" smtClean="0"/>
              <a:pPr/>
              <a:t>18</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lvl1pPr>
              <a:defRPr sz="4400"/>
            </a:lvl1pPr>
          </a:lstStyle>
          <a:p>
            <a:r>
              <a:rPr lang="zh-TW" altLang="en-US" dirty="0" smtClean="0"/>
              <a:t>按一下以編輯母片標題樣式</a:t>
            </a:r>
            <a:endParaRPr lang="zh-TW" altLang="en-US" dirty="0"/>
          </a:p>
        </p:txBody>
      </p:sp>
      <p:sp>
        <p:nvSpPr>
          <p:cNvPr id="3" name="副標題 2"/>
          <p:cNvSpPr>
            <a:spLocks noGrp="1"/>
          </p:cNvSpPr>
          <p:nvPr>
            <p:ph type="subTitle" idx="1"/>
          </p:nvPr>
        </p:nvSpPr>
        <p:spPr>
          <a:xfrm>
            <a:off x="683568" y="3886200"/>
            <a:ext cx="6400800" cy="17526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dirty="0" smtClean="0"/>
              <a:t>按一下以編輯母片副標題樣式</a:t>
            </a:r>
            <a:endParaRPr lang="zh-TW" altLang="en-US" dirty="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B9C96C9F-956A-45D9-AAD1-9C3D01BF4CD7}" type="slidenum">
              <a:rPr lang="en-US" altLang="zh-TW"/>
              <a:pPr>
                <a:defRPr/>
              </a:pPr>
              <a:t>‹#›</a:t>
            </a:fld>
            <a:endParaRPr lang="en-US" altLang="zh-TW"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lvl1pPr>
              <a:defRPr/>
            </a:lvl1pPr>
            <a:lvl2pPr>
              <a:defRPr/>
            </a:lvl2pPr>
            <a:lvl3pPr>
              <a:defRPr/>
            </a:lvl3pPr>
            <a:lvl4pPr>
              <a:defRPr/>
            </a:lvl4pPr>
            <a:lvl5pPr>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dirty="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6A792F37-8BD7-4CF7-BF77-F94854A100DA}" type="slidenum">
              <a:rPr lang="en-US" altLang="zh-TW"/>
              <a:pPr>
                <a:defRPr/>
              </a:pPr>
              <a:t>‹#›</a:t>
            </a:fld>
            <a:endParaRPr lang="en-US" altLang="zh-TW"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73D71A76-A7DE-4812-B1A3-A0962C23543D}" type="slidenum">
              <a:rPr lang="en-US" altLang="zh-TW"/>
              <a:pPr>
                <a:defRPr/>
              </a:pPr>
              <a:t>‹#›</a:t>
            </a:fld>
            <a:endParaRPr lang="en-US" altLang="zh-TW"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CA63DE88-CDA6-4DCF-AA4F-63B150F45A3E}" type="slidenum">
              <a:rPr lang="en-US" altLang="zh-TW"/>
              <a:pPr>
                <a:defRPr/>
              </a:pPr>
              <a:t>‹#›</a:t>
            </a:fld>
            <a:endParaRPr lang="en-US" altLang="zh-TW"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p:cNvSpPr>
            <a:spLocks noGrp="1" noChangeArrowheads="1"/>
          </p:cNvSpPr>
          <p:nvPr>
            <p:ph type="sldNum" sz="quarter" idx="12"/>
          </p:nvPr>
        </p:nvSpPr>
        <p:spPr>
          <a:ln/>
        </p:spPr>
        <p:txBody>
          <a:bodyPr/>
          <a:lstStyle>
            <a:lvl1pPr>
              <a:defRPr/>
            </a:lvl1pPr>
          </a:lstStyle>
          <a:p>
            <a:pPr>
              <a:defRPr/>
            </a:pPr>
            <a:fld id="{3FFAE7B0-01A3-43C2-85CE-20091AAF8B9C}" type="slidenum">
              <a:rPr lang="en-US" altLang="zh-TW"/>
              <a:pPr>
                <a:defRPr/>
              </a:pPr>
              <a:t>‹#›</a:t>
            </a:fld>
            <a:endParaRPr lang="en-US" altLang="zh-TW"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p:cNvSpPr>
            <a:spLocks noGrp="1" noChangeArrowheads="1"/>
          </p:cNvSpPr>
          <p:nvPr>
            <p:ph type="sldNum" sz="quarter" idx="12"/>
          </p:nvPr>
        </p:nvSpPr>
        <p:spPr>
          <a:ln/>
        </p:spPr>
        <p:txBody>
          <a:bodyPr/>
          <a:lstStyle>
            <a:lvl1pPr>
              <a:defRPr/>
            </a:lvl1pPr>
          </a:lstStyle>
          <a:p>
            <a:pPr>
              <a:defRPr/>
            </a:pPr>
            <a:fld id="{B98453B7-1564-4ACE-8BC7-56FE410B39DA}" type="slidenum">
              <a:rPr lang="en-US" altLang="zh-TW"/>
              <a:pPr>
                <a:defRPr/>
              </a:pPr>
              <a:t>‹#›</a:t>
            </a:fld>
            <a:endParaRPr lang="en-US" altLang="zh-TW"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AA0CD112-ECD8-43A4-88CD-2B2F401DC248}" type="slidenum">
              <a:rPr lang="en-US" altLang="zh-TW"/>
              <a:pPr>
                <a:defRPr/>
              </a:pPr>
              <a:t>‹#›</a:t>
            </a:fld>
            <a:endParaRPr lang="en-US" altLang="zh-TW"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3278D423-5FC0-454F-A7FA-CAE6076C6CBA}" type="slidenum">
              <a:rPr lang="en-US" altLang="zh-TW"/>
              <a:pPr>
                <a:defRPr/>
              </a:pPr>
              <a:t>‹#›</a:t>
            </a:fld>
            <a:endParaRPr lang="en-US" altLang="zh-TW"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3A1E771D-20CC-41E0-9263-C74CBC5B14D5}" type="slidenum">
              <a:rPr lang="en-US" altLang="zh-TW"/>
              <a:pPr>
                <a:defRPr/>
              </a:pPr>
              <a:t>‹#›</a:t>
            </a:fld>
            <a:endParaRPr lang="en-US" altLang="zh-TW"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1FE4EFD3-90A3-49A9-9550-DE992CD49F9B}" type="slidenum">
              <a:rPr lang="en-US" altLang="zh-TW"/>
              <a:pPr>
                <a:defRPr/>
              </a:pPr>
              <a:t>‹#›</a:t>
            </a:fld>
            <a:endParaRPr lang="en-US" altLang="zh-TW"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D1CAF822-3BB7-49D2-871F-BF334CDB9E7B}" type="slidenum">
              <a:rPr lang="en-US" altLang="zh-TW"/>
              <a:pPr>
                <a:defRPr/>
              </a:pPr>
              <a:t>‹#›</a:t>
            </a:fld>
            <a:endParaRPr lang="en-US" altLang="zh-TW"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 按一下以編輯母片</a:t>
            </a:r>
          </a:p>
          <a:p>
            <a:pPr lvl="1"/>
            <a:r>
              <a:rPr lang="zh-TW" altLang="en-US" smtClean="0"/>
              <a:t> 第二層</a:t>
            </a:r>
          </a:p>
          <a:p>
            <a:pPr lvl="2"/>
            <a:r>
              <a:rPr lang="zh-TW" altLang="en-US" smtClean="0"/>
              <a:t> 第三層</a:t>
            </a:r>
          </a:p>
          <a:p>
            <a:pPr lvl="3"/>
            <a:r>
              <a:rPr lang="zh-TW" altLang="en-US" smtClean="0"/>
              <a:t> 第四層</a:t>
            </a:r>
          </a:p>
          <a:p>
            <a:pPr lvl="4"/>
            <a:r>
              <a:rPr lang="zh-TW" altLang="en-US" smtClean="0"/>
              <a:t> 第五層</a:t>
            </a:r>
          </a:p>
        </p:txBody>
      </p:sp>
      <p:sp>
        <p:nvSpPr>
          <p:cNvPr id="1028" name="Rectangle 4"/>
          <p:cNvSpPr>
            <a:spLocks noGrp="1" noChangeArrowheads="1"/>
          </p:cNvSpPr>
          <p:nvPr>
            <p:ph type="dt" sz="half" idx="2"/>
          </p:nvPr>
        </p:nvSpPr>
        <p:spPr bwMode="auto">
          <a:xfrm>
            <a:off x="457200" y="6121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aseline="0">
                <a:solidFill>
                  <a:schemeClr val="tx1">
                    <a:lumMod val="85000"/>
                    <a:lumOff val="15000"/>
                  </a:schemeClr>
                </a:solidFill>
                <a:latin typeface="Verdana" pitchFamily="34" charset="0"/>
                <a:ea typeface="微軟正黑體" pitchFamily="34" charset="-120"/>
              </a:defRPr>
            </a:lvl1pPr>
          </a:lstStyle>
          <a:p>
            <a:pPr>
              <a:defRPr/>
            </a:pPr>
            <a:endParaRPr lang="en-US" altLang="zh-TW"/>
          </a:p>
        </p:txBody>
      </p:sp>
      <p:sp>
        <p:nvSpPr>
          <p:cNvPr id="1029" name="Rectangle 5"/>
          <p:cNvSpPr>
            <a:spLocks noGrp="1" noChangeArrowheads="1"/>
          </p:cNvSpPr>
          <p:nvPr>
            <p:ph type="ftr" sz="quarter" idx="3"/>
          </p:nvPr>
        </p:nvSpPr>
        <p:spPr bwMode="auto">
          <a:xfrm>
            <a:off x="3124200" y="612140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aseline="0">
                <a:solidFill>
                  <a:schemeClr val="tx1">
                    <a:lumMod val="85000"/>
                    <a:lumOff val="15000"/>
                  </a:schemeClr>
                </a:solidFill>
                <a:latin typeface="Verdana" pitchFamily="34" charset="0"/>
                <a:ea typeface="微軟正黑體" pitchFamily="34" charset="-120"/>
              </a:defRPr>
            </a:lvl1pPr>
          </a:lstStyle>
          <a:p>
            <a:pPr>
              <a:defRPr/>
            </a:pPr>
            <a:endParaRPr lang="en-US" altLang="zh-TW"/>
          </a:p>
        </p:txBody>
      </p:sp>
      <p:sp>
        <p:nvSpPr>
          <p:cNvPr id="1030" name="Rectangle 6"/>
          <p:cNvSpPr>
            <a:spLocks noGrp="1" noChangeArrowheads="1"/>
          </p:cNvSpPr>
          <p:nvPr>
            <p:ph type="sldNum" sz="quarter" idx="4"/>
          </p:nvPr>
        </p:nvSpPr>
        <p:spPr bwMode="auto">
          <a:xfrm>
            <a:off x="6902450" y="6121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aseline="0">
                <a:solidFill>
                  <a:schemeClr val="tx1">
                    <a:lumMod val="85000"/>
                    <a:lumOff val="15000"/>
                  </a:schemeClr>
                </a:solidFill>
                <a:latin typeface="Verdana" pitchFamily="34" charset="0"/>
                <a:ea typeface="微軟正黑體" pitchFamily="34" charset="-120"/>
              </a:defRPr>
            </a:lvl1pPr>
          </a:lstStyle>
          <a:p>
            <a:pPr>
              <a:defRPr/>
            </a:pPr>
            <a:fld id="{DDCB2D07-838E-4D0D-973F-AA5B0E9507A3}" type="slidenum">
              <a:rPr lang="en-US" altLang="zh-TW"/>
              <a:pPr>
                <a:defRPr/>
              </a:pPr>
              <a:t>‹#›</a:t>
            </a:fld>
            <a:endParaRPr lang="en-US" altLang="zh-TW"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kumimoji="1" sz="3600" b="1">
          <a:solidFill>
            <a:srgbClr val="262626"/>
          </a:solidFill>
          <a:latin typeface="Verdana" pitchFamily="34" charset="0"/>
          <a:ea typeface="微軟正黑體" pitchFamily="34" charset="-120"/>
          <a:cs typeface="+mj-cs"/>
        </a:defRPr>
      </a:lvl1pPr>
      <a:lvl2pPr algn="l" rtl="0" eaLnBrk="0" fontAlgn="base" hangingPunct="0">
        <a:spcBef>
          <a:spcPct val="0"/>
        </a:spcBef>
        <a:spcAft>
          <a:spcPct val="0"/>
        </a:spcAft>
        <a:defRPr kumimoji="1" sz="3600" b="1">
          <a:solidFill>
            <a:srgbClr val="262626"/>
          </a:solidFill>
          <a:latin typeface="Verdana" pitchFamily="34" charset="0"/>
          <a:ea typeface="微軟正黑體" pitchFamily="34" charset="-120"/>
        </a:defRPr>
      </a:lvl2pPr>
      <a:lvl3pPr algn="l" rtl="0" eaLnBrk="0" fontAlgn="base" hangingPunct="0">
        <a:spcBef>
          <a:spcPct val="0"/>
        </a:spcBef>
        <a:spcAft>
          <a:spcPct val="0"/>
        </a:spcAft>
        <a:defRPr kumimoji="1" sz="3600" b="1">
          <a:solidFill>
            <a:srgbClr val="262626"/>
          </a:solidFill>
          <a:latin typeface="Verdana" pitchFamily="34" charset="0"/>
          <a:ea typeface="微軟正黑體" pitchFamily="34" charset="-120"/>
        </a:defRPr>
      </a:lvl3pPr>
      <a:lvl4pPr algn="l" rtl="0" eaLnBrk="0" fontAlgn="base" hangingPunct="0">
        <a:spcBef>
          <a:spcPct val="0"/>
        </a:spcBef>
        <a:spcAft>
          <a:spcPct val="0"/>
        </a:spcAft>
        <a:defRPr kumimoji="1" sz="3600" b="1">
          <a:solidFill>
            <a:srgbClr val="262626"/>
          </a:solidFill>
          <a:latin typeface="Verdana" pitchFamily="34" charset="0"/>
          <a:ea typeface="微軟正黑體" pitchFamily="34" charset="-120"/>
        </a:defRPr>
      </a:lvl4pPr>
      <a:lvl5pPr algn="l" rtl="0" eaLnBrk="0" fontAlgn="base" hangingPunct="0">
        <a:spcBef>
          <a:spcPct val="0"/>
        </a:spcBef>
        <a:spcAft>
          <a:spcPct val="0"/>
        </a:spcAft>
        <a:defRPr kumimoji="1" sz="3600" b="1">
          <a:solidFill>
            <a:srgbClr val="262626"/>
          </a:solidFill>
          <a:latin typeface="Verdana" pitchFamily="34" charset="0"/>
          <a:ea typeface="微軟正黑體" pitchFamily="34" charset="-120"/>
        </a:defRPr>
      </a:lvl5pPr>
      <a:lvl6pPr marL="457200" algn="ctr" rtl="0" fontAlgn="base">
        <a:spcBef>
          <a:spcPct val="0"/>
        </a:spcBef>
        <a:spcAft>
          <a:spcPct val="0"/>
        </a:spcAft>
        <a:defRPr kumimoji="1" sz="4400">
          <a:solidFill>
            <a:schemeClr val="tx2"/>
          </a:solidFill>
          <a:latin typeface="Arial" charset="0"/>
          <a:ea typeface="新細明體" charset="-120"/>
        </a:defRPr>
      </a:lvl6pPr>
      <a:lvl7pPr marL="914400" algn="ctr" rtl="0" fontAlgn="base">
        <a:spcBef>
          <a:spcPct val="0"/>
        </a:spcBef>
        <a:spcAft>
          <a:spcPct val="0"/>
        </a:spcAft>
        <a:defRPr kumimoji="1" sz="4400">
          <a:solidFill>
            <a:schemeClr val="tx2"/>
          </a:solidFill>
          <a:latin typeface="Arial" charset="0"/>
          <a:ea typeface="新細明體" charset="-120"/>
        </a:defRPr>
      </a:lvl7pPr>
      <a:lvl8pPr marL="1371600" algn="ctr" rtl="0" fontAlgn="base">
        <a:spcBef>
          <a:spcPct val="0"/>
        </a:spcBef>
        <a:spcAft>
          <a:spcPct val="0"/>
        </a:spcAft>
        <a:defRPr kumimoji="1" sz="4400">
          <a:solidFill>
            <a:schemeClr val="tx2"/>
          </a:solidFill>
          <a:latin typeface="Arial" charset="0"/>
          <a:ea typeface="新細明體" charset="-120"/>
        </a:defRPr>
      </a:lvl8pPr>
      <a:lvl9pPr marL="1828800" algn="ctr" rtl="0" fontAlgn="base">
        <a:spcBef>
          <a:spcPct val="0"/>
        </a:spcBef>
        <a:spcAft>
          <a:spcPct val="0"/>
        </a:spcAft>
        <a:defRPr kumimoji="1" sz="4400">
          <a:solidFill>
            <a:schemeClr val="tx2"/>
          </a:solidFill>
          <a:latin typeface="Arial" charset="0"/>
          <a:ea typeface="新細明體" charset="-120"/>
        </a:defRPr>
      </a:lvl9pPr>
    </p:titleStyle>
    <p:bodyStyle>
      <a:lvl1pPr marL="342900" indent="-342900" algn="l" rtl="0" eaLnBrk="0" fontAlgn="base" hangingPunct="0">
        <a:spcBef>
          <a:spcPct val="20000"/>
        </a:spcBef>
        <a:spcAft>
          <a:spcPct val="0"/>
        </a:spcAft>
        <a:buClr>
          <a:srgbClr val="262626"/>
        </a:buClr>
        <a:buFont typeface="Wingdings" pitchFamily="2" charset="2"/>
        <a:buChar char="n"/>
        <a:defRPr kumimoji="1" sz="3200">
          <a:solidFill>
            <a:srgbClr val="262626"/>
          </a:solidFill>
          <a:latin typeface="Verdana" pitchFamily="34" charset="0"/>
          <a:ea typeface="微軟正黑體" pitchFamily="34" charset="-120"/>
          <a:cs typeface="+mn-cs"/>
        </a:defRPr>
      </a:lvl1pPr>
      <a:lvl2pPr marL="742950" indent="-285750" algn="l" rtl="0" eaLnBrk="0" fontAlgn="base" hangingPunct="0">
        <a:spcBef>
          <a:spcPct val="20000"/>
        </a:spcBef>
        <a:spcAft>
          <a:spcPct val="0"/>
        </a:spcAft>
        <a:buClr>
          <a:srgbClr val="262626"/>
        </a:buClr>
        <a:buFont typeface="Wingdings" pitchFamily="2" charset="2"/>
        <a:buChar char="p"/>
        <a:defRPr kumimoji="1" sz="2800">
          <a:solidFill>
            <a:srgbClr val="262626"/>
          </a:solidFill>
          <a:latin typeface="Verdana" pitchFamily="34" charset="0"/>
          <a:ea typeface="微軟正黑體" pitchFamily="34" charset="-120"/>
        </a:defRPr>
      </a:lvl2pPr>
      <a:lvl3pPr marL="1143000" indent="-228600" algn="l" rtl="0" eaLnBrk="0" fontAlgn="base" hangingPunct="0">
        <a:spcBef>
          <a:spcPct val="20000"/>
        </a:spcBef>
        <a:spcAft>
          <a:spcPct val="0"/>
        </a:spcAft>
        <a:buClr>
          <a:srgbClr val="262626"/>
        </a:buClr>
        <a:buChar char="•"/>
        <a:defRPr kumimoji="1" sz="2400">
          <a:solidFill>
            <a:srgbClr val="262626"/>
          </a:solidFill>
          <a:latin typeface="Verdana" pitchFamily="34" charset="0"/>
          <a:ea typeface="微軟正黑體" pitchFamily="34" charset="-120"/>
        </a:defRPr>
      </a:lvl3pPr>
      <a:lvl4pPr marL="1600200" indent="-228600" algn="l" rtl="0" eaLnBrk="0" fontAlgn="base" hangingPunct="0">
        <a:spcBef>
          <a:spcPct val="20000"/>
        </a:spcBef>
        <a:spcAft>
          <a:spcPct val="0"/>
        </a:spcAft>
        <a:buClr>
          <a:srgbClr val="262626"/>
        </a:buClr>
        <a:buChar char="–"/>
        <a:defRPr kumimoji="1" sz="2000">
          <a:solidFill>
            <a:srgbClr val="262626"/>
          </a:solidFill>
          <a:latin typeface="Verdana" pitchFamily="34" charset="0"/>
          <a:ea typeface="微軟正黑體" pitchFamily="34" charset="-120"/>
        </a:defRPr>
      </a:lvl4pPr>
      <a:lvl5pPr marL="2057400" indent="-228600" algn="l" rtl="0" eaLnBrk="0" fontAlgn="base" hangingPunct="0">
        <a:spcBef>
          <a:spcPct val="20000"/>
        </a:spcBef>
        <a:spcAft>
          <a:spcPct val="0"/>
        </a:spcAft>
        <a:buClr>
          <a:srgbClr val="262626"/>
        </a:buClr>
        <a:buChar char="»"/>
        <a:defRPr kumimoji="1" sz="2000">
          <a:solidFill>
            <a:srgbClr val="262626"/>
          </a:solidFill>
          <a:latin typeface="Verdana" pitchFamily="34" charset="0"/>
          <a:ea typeface="微軟正黑體" pitchFamily="34" charset="-12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251520" y="2130425"/>
            <a:ext cx="8568952" cy="1470025"/>
          </a:xfrm>
        </p:spPr>
        <p:txBody>
          <a:bodyPr/>
          <a:lstStyle/>
          <a:p>
            <a:pPr>
              <a:defRPr/>
            </a:pPr>
            <a:r>
              <a:rPr lang="en-US" altLang="zh-TW" dirty="0" smtClean="0">
                <a:solidFill>
                  <a:srgbClr val="FF0000"/>
                </a:solidFill>
                <a:effectLst>
                  <a:outerShdw blurRad="38100" dist="38100" dir="2700000" algn="tl">
                    <a:srgbClr val="000000">
                      <a:alpha val="43137"/>
                    </a:srgbClr>
                  </a:outerShdw>
                </a:effectLst>
                <a:latin typeface="微軟正黑體" pitchFamily="34" charset="-120"/>
              </a:rPr>
              <a:t>TI</a:t>
            </a:r>
            <a:r>
              <a:rPr lang="zh-TW" altLang="en-US" dirty="0" smtClean="0">
                <a:solidFill>
                  <a:srgbClr val="FF0000"/>
                </a:solidFill>
                <a:effectLst>
                  <a:outerShdw blurRad="38100" dist="38100" dir="2700000" algn="tl">
                    <a:srgbClr val="000000">
                      <a:alpha val="43137"/>
                    </a:srgbClr>
                  </a:outerShdw>
                </a:effectLst>
                <a:latin typeface="微軟正黑體" pitchFamily="34" charset="-120"/>
              </a:rPr>
              <a:t> </a:t>
            </a:r>
            <a:r>
              <a:rPr lang="zh-CN" altLang="zh-TW" dirty="0" smtClean="0">
                <a:solidFill>
                  <a:srgbClr val="FF0000"/>
                </a:solidFill>
                <a:effectLst>
                  <a:outerShdw blurRad="38100" dist="38100" dir="2700000" algn="tl">
                    <a:srgbClr val="000000">
                      <a:alpha val="43137"/>
                    </a:srgbClr>
                  </a:outerShdw>
                </a:effectLst>
                <a:latin typeface="微軟正黑體" pitchFamily="34" charset="-120"/>
              </a:rPr>
              <a:t>多节电池解决方案</a:t>
            </a:r>
            <a:r>
              <a:rPr lang="zh-TW" altLang="en-US" dirty="0" smtClean="0">
                <a:solidFill>
                  <a:srgbClr val="FF0000"/>
                </a:solidFill>
                <a:effectLst>
                  <a:outerShdw blurRad="38100" dist="38100" dir="2700000" algn="tl">
                    <a:srgbClr val="000000">
                      <a:alpha val="43137"/>
                    </a:srgbClr>
                  </a:outerShdw>
                </a:effectLst>
                <a:latin typeface="微軟正黑體" pitchFamily="34" charset="-120"/>
              </a:rPr>
              <a:t>介紹</a:t>
            </a:r>
            <a:r>
              <a:rPr lang="en-US" altLang="zh-TW" dirty="0" smtClean="0">
                <a:solidFill>
                  <a:srgbClr val="FF0000"/>
                </a:solidFill>
                <a:effectLst>
                  <a:outerShdw blurRad="38100" dist="38100" dir="2700000" algn="tl">
                    <a:srgbClr val="000000">
                      <a:alpha val="43137"/>
                    </a:srgbClr>
                  </a:outerShdw>
                </a:effectLst>
                <a:latin typeface="微軟正黑體" pitchFamily="34" charset="-120"/>
              </a:rPr>
              <a:t> ( </a:t>
            </a:r>
            <a:r>
              <a:rPr lang="zh-CN" altLang="zh-TW" dirty="0" smtClean="0">
                <a:solidFill>
                  <a:srgbClr val="FF0000"/>
                </a:solidFill>
                <a:effectLst>
                  <a:outerShdw blurRad="38100" dist="38100" dir="2700000" algn="tl">
                    <a:srgbClr val="000000">
                      <a:alpha val="43137"/>
                    </a:srgbClr>
                  </a:outerShdw>
                </a:effectLst>
                <a:latin typeface="微軟正黑體" pitchFamily="34" charset="-120"/>
              </a:rPr>
              <a:t>电池电量检测与监视、电池保护</a:t>
            </a:r>
            <a:r>
              <a:rPr lang="en-US" altLang="zh-TW" dirty="0" smtClean="0">
                <a:solidFill>
                  <a:srgbClr val="FF0000"/>
                </a:solidFill>
                <a:effectLst>
                  <a:outerShdw blurRad="38100" dist="38100" dir="2700000" algn="tl">
                    <a:srgbClr val="000000">
                      <a:alpha val="43137"/>
                    </a:srgbClr>
                  </a:outerShdw>
                </a:effectLst>
                <a:latin typeface="微軟正黑體" pitchFamily="34" charset="-120"/>
              </a:rPr>
              <a:t> )</a:t>
            </a:r>
            <a:endParaRPr lang="zh-TW" altLang="en-US" dirty="0">
              <a:solidFill>
                <a:srgbClr val="FF0000"/>
              </a:solidFill>
              <a:effectLst>
                <a:outerShdw blurRad="38100" dist="38100" dir="2700000" algn="tl">
                  <a:srgbClr val="000000">
                    <a:alpha val="43137"/>
                  </a:srgbClr>
                </a:outerShdw>
              </a:effectLst>
              <a:latin typeface="微軟正黑體" pitchFamily="34" charset="-120"/>
            </a:endParaRPr>
          </a:p>
        </p:txBody>
      </p:sp>
      <p:sp>
        <p:nvSpPr>
          <p:cNvPr id="2051" name="副標題 2"/>
          <p:cNvSpPr>
            <a:spLocks noGrp="1"/>
          </p:cNvSpPr>
          <p:nvPr>
            <p:ph type="subTitle" idx="1"/>
          </p:nvPr>
        </p:nvSpPr>
        <p:spPr>
          <a:xfrm>
            <a:off x="684213" y="3886200"/>
            <a:ext cx="6400800" cy="1752600"/>
          </a:xfrm>
        </p:spPr>
        <p:txBody>
          <a:bodyPr/>
          <a:lstStyle/>
          <a:p>
            <a:r>
              <a:rPr lang="en-US" altLang="zh-TW" sz="1600" dirty="0" smtClean="0"/>
              <a:t>BMS Product Application Technical Support</a:t>
            </a:r>
          </a:p>
          <a:p>
            <a:r>
              <a:rPr lang="en-US" altLang="zh-TW" sz="1600" dirty="0" smtClean="0"/>
              <a:t>Tino Pan</a:t>
            </a:r>
          </a:p>
          <a:p>
            <a:r>
              <a:rPr lang="en-US" altLang="zh-TW" sz="1600" dirty="0" smtClean="0"/>
              <a:t>2012.Aug</a:t>
            </a:r>
            <a:endParaRPr lang="zh-TW" altLang="en-US" sz="16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solidFill>
                  <a:srgbClr val="6600FF"/>
                </a:solidFill>
                <a:effectLst>
                  <a:outerShdw blurRad="38100" dist="38100" dir="2700000" algn="tl">
                    <a:srgbClr val="000000">
                      <a:alpha val="43137"/>
                    </a:srgbClr>
                  </a:outerShdw>
                </a:effectLst>
                <a:ea typeface="Verdana" pitchFamily="34" charset="0"/>
                <a:cs typeface="Verdana" pitchFamily="34" charset="0"/>
              </a:rPr>
              <a:t>Agenda</a:t>
            </a:r>
            <a:endParaRPr lang="zh-TW" altLang="en-US" dirty="0">
              <a:solidFill>
                <a:srgbClr val="6600FF"/>
              </a:solidFill>
            </a:endParaRPr>
          </a:p>
        </p:txBody>
      </p:sp>
      <p:sp>
        <p:nvSpPr>
          <p:cNvPr id="3" name="內容版面配置區 2"/>
          <p:cNvSpPr>
            <a:spLocks noGrp="1"/>
          </p:cNvSpPr>
          <p:nvPr>
            <p:ph idx="1"/>
          </p:nvPr>
        </p:nvSpPr>
        <p:spPr/>
        <p:txBody>
          <a:bodyPr/>
          <a:lstStyle/>
          <a:p>
            <a:r>
              <a:rPr lang="en-US" altLang="zh-TW" sz="2800" dirty="0" smtClean="0">
                <a:latin typeface="微軟正黑體" pitchFamily="34" charset="-120"/>
              </a:rPr>
              <a:t>TI</a:t>
            </a:r>
            <a:r>
              <a:rPr lang="zh-CN" altLang="en-US" sz="2800" dirty="0" smtClean="0">
                <a:latin typeface="微軟正黑體" pitchFamily="34" charset="-120"/>
              </a:rPr>
              <a:t>多节电池方案介绍</a:t>
            </a:r>
            <a:endParaRPr lang="en-US" altLang="zh-TW" sz="2800" dirty="0" smtClean="0">
              <a:latin typeface="微軟正黑體" pitchFamily="34" charset="-120"/>
            </a:endParaRPr>
          </a:p>
          <a:p>
            <a:r>
              <a:rPr lang="en-US" altLang="zh-TW" sz="2800" dirty="0" smtClean="0">
                <a:latin typeface="微軟正黑體" pitchFamily="34" charset="-120"/>
              </a:rPr>
              <a:t>bq76PL536A</a:t>
            </a:r>
            <a:r>
              <a:rPr lang="zh-CN" altLang="en-US" sz="2800" dirty="0" smtClean="0">
                <a:latin typeface="微軟正黑體" pitchFamily="34" charset="-120"/>
              </a:rPr>
              <a:t>方案设计介绍</a:t>
            </a:r>
            <a:endParaRPr lang="en-US" altLang="zh-TW" sz="2800" dirty="0" smtClean="0">
              <a:latin typeface="微軟正黑體" pitchFamily="34" charset="-120"/>
            </a:endParaRPr>
          </a:p>
          <a:p>
            <a:endParaRPr lang="en-US" altLang="zh-TW" sz="2800" dirty="0" smtClean="0">
              <a:latin typeface="微軟正黑體" pitchFamily="34" charset="-120"/>
            </a:endParaRPr>
          </a:p>
          <a:p>
            <a:endParaRPr lang="zh-TW" altLang="en-US" sz="2800" dirty="0">
              <a:latin typeface="微軟正黑體" pitchFamily="34" charset="-12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116632"/>
            <a:ext cx="8686800" cy="1143000"/>
          </a:xfrm>
        </p:spPr>
        <p:txBody>
          <a:bodyPr/>
          <a:lstStyle/>
          <a:p>
            <a:r>
              <a:rPr lang="en-US" altLang="ja-JP" sz="2800" dirty="0" smtClean="0">
                <a:solidFill>
                  <a:srgbClr val="6600FF"/>
                </a:solidFill>
                <a:effectLst>
                  <a:outerShdw blurRad="38100" dist="38100" dir="2700000" algn="tl">
                    <a:srgbClr val="000000">
                      <a:alpha val="43137"/>
                    </a:srgbClr>
                  </a:outerShdw>
                </a:effectLst>
                <a:latin typeface="Times New Roman" pitchFamily="18" charset="0"/>
                <a:ea typeface="MS PGothic" pitchFamily="34" charset="-128"/>
                <a:cs typeface="Times New Roman" pitchFamily="18" charset="0"/>
              </a:rPr>
              <a:t>Lithium Chemistry Battery Management </a:t>
            </a:r>
            <a:br>
              <a:rPr lang="en-US" altLang="ja-JP" sz="2800" dirty="0" smtClean="0">
                <a:solidFill>
                  <a:srgbClr val="6600FF"/>
                </a:solidFill>
                <a:effectLst>
                  <a:outerShdw blurRad="38100" dist="38100" dir="2700000" algn="tl">
                    <a:srgbClr val="000000">
                      <a:alpha val="43137"/>
                    </a:srgbClr>
                  </a:outerShdw>
                </a:effectLst>
                <a:latin typeface="Times New Roman" pitchFamily="18" charset="0"/>
                <a:ea typeface="MS PGothic" pitchFamily="34" charset="-128"/>
                <a:cs typeface="Times New Roman" pitchFamily="18" charset="0"/>
              </a:rPr>
            </a:br>
            <a:r>
              <a:rPr lang="en-US" altLang="ja-JP" sz="2800" dirty="0" smtClean="0">
                <a:solidFill>
                  <a:srgbClr val="6600FF"/>
                </a:solidFill>
                <a:effectLst>
                  <a:outerShdw blurRad="38100" dist="38100" dir="2700000" algn="tl">
                    <a:srgbClr val="000000">
                      <a:alpha val="43137"/>
                    </a:srgbClr>
                  </a:outerShdw>
                </a:effectLst>
                <a:latin typeface="Times New Roman" pitchFamily="18" charset="0"/>
                <a:ea typeface="MS PGothic" pitchFamily="34" charset="-128"/>
                <a:cs typeface="Times New Roman" pitchFamily="18" charset="0"/>
              </a:rPr>
              <a:t>HCE Product – Solutions Map</a:t>
            </a:r>
            <a:endParaRPr lang="ja-JP" altLang="en-US" sz="2800" dirty="0">
              <a:solidFill>
                <a:srgbClr val="6600FF"/>
              </a:solidFill>
              <a:effectLst>
                <a:outerShdw blurRad="38100" dist="38100" dir="2700000" algn="tl">
                  <a:srgbClr val="000000">
                    <a:alpha val="43137"/>
                  </a:srgbClr>
                </a:outerShdw>
              </a:effectLst>
              <a:latin typeface="Times New Roman" pitchFamily="18" charset="0"/>
              <a:ea typeface="MS PGothic" pitchFamily="34" charset="-128"/>
              <a:cs typeface="Times New Roman" pitchFamily="18" charset="0"/>
            </a:endParaRPr>
          </a:p>
        </p:txBody>
      </p:sp>
      <p:sp>
        <p:nvSpPr>
          <p:cNvPr id="4" name="Rectangle 2"/>
          <p:cNvSpPr>
            <a:spLocks noChangeArrowheads="1"/>
          </p:cNvSpPr>
          <p:nvPr/>
        </p:nvSpPr>
        <p:spPr bwMode="auto">
          <a:xfrm>
            <a:off x="2954338" y="3263900"/>
            <a:ext cx="1806575" cy="706438"/>
          </a:xfrm>
          <a:prstGeom prst="rect">
            <a:avLst/>
          </a:prstGeom>
          <a:solidFill>
            <a:srgbClr val="FFFF99"/>
          </a:solidFill>
          <a:ln w="12700" cap="sq">
            <a:noFill/>
            <a:miter lim="800000"/>
            <a:headEnd type="none" w="sm" len="sm"/>
            <a:tailEnd type="none" w="sm" len="sm"/>
          </a:ln>
        </p:spPr>
        <p:txBody>
          <a:bodyPr/>
          <a:lstStyle/>
          <a:p>
            <a:pPr>
              <a:spcBef>
                <a:spcPct val="20000"/>
              </a:spcBef>
            </a:pPr>
            <a:endParaRPr lang="zh-TW" altLang="zh-TW" sz="1000"/>
          </a:p>
        </p:txBody>
      </p:sp>
      <p:pic>
        <p:nvPicPr>
          <p:cNvPr id="5" name="Picture 5"/>
          <p:cNvPicPr>
            <a:picLocks noChangeAspect="1" noChangeArrowheads="1"/>
          </p:cNvPicPr>
          <p:nvPr/>
        </p:nvPicPr>
        <p:blipFill>
          <a:blip r:embed="rId2" cstate="print"/>
          <a:srcRect/>
          <a:stretch>
            <a:fillRect/>
          </a:stretch>
        </p:blipFill>
        <p:spPr bwMode="auto">
          <a:xfrm>
            <a:off x="163513" y="1708150"/>
            <a:ext cx="936625" cy="785813"/>
          </a:xfrm>
          <a:prstGeom prst="rect">
            <a:avLst/>
          </a:prstGeom>
          <a:noFill/>
          <a:ln w="9525">
            <a:noFill/>
            <a:miter lim="800000"/>
            <a:headEnd/>
            <a:tailEnd/>
          </a:ln>
        </p:spPr>
      </p:pic>
      <p:sp>
        <p:nvSpPr>
          <p:cNvPr id="6" name="Rectangle 6"/>
          <p:cNvSpPr>
            <a:spLocks noChangeArrowheads="1"/>
          </p:cNvSpPr>
          <p:nvPr/>
        </p:nvSpPr>
        <p:spPr bwMode="auto">
          <a:xfrm>
            <a:off x="3933825" y="4133850"/>
            <a:ext cx="936625" cy="455613"/>
          </a:xfrm>
          <a:prstGeom prst="rect">
            <a:avLst/>
          </a:prstGeom>
          <a:noFill/>
          <a:ln w="12700" cap="sq">
            <a:noFill/>
            <a:miter lim="800000"/>
            <a:headEnd type="none" w="sm" len="sm"/>
            <a:tailEnd type="none" w="sm" len="sm"/>
          </a:ln>
        </p:spPr>
        <p:txBody>
          <a:bodyPr/>
          <a:lstStyle/>
          <a:p>
            <a:pPr>
              <a:spcBef>
                <a:spcPct val="20000"/>
              </a:spcBef>
            </a:pPr>
            <a:endParaRPr lang="zh-TW" altLang="zh-TW" sz="1000"/>
          </a:p>
        </p:txBody>
      </p:sp>
      <p:sp>
        <p:nvSpPr>
          <p:cNvPr id="7" name="Rectangle 8"/>
          <p:cNvSpPr>
            <a:spLocks noChangeArrowheads="1"/>
          </p:cNvSpPr>
          <p:nvPr/>
        </p:nvSpPr>
        <p:spPr bwMode="auto">
          <a:xfrm>
            <a:off x="3835400" y="2547938"/>
            <a:ext cx="936625" cy="704850"/>
          </a:xfrm>
          <a:prstGeom prst="rect">
            <a:avLst/>
          </a:prstGeom>
          <a:solidFill>
            <a:srgbClr val="99CC00"/>
          </a:solidFill>
          <a:ln w="12700" cap="sq">
            <a:noFill/>
            <a:miter lim="800000"/>
            <a:headEnd type="none" w="sm" len="sm"/>
            <a:tailEnd type="none" w="sm" len="sm"/>
          </a:ln>
        </p:spPr>
        <p:txBody>
          <a:bodyPr/>
          <a:lstStyle/>
          <a:p>
            <a:pPr>
              <a:spcBef>
                <a:spcPct val="20000"/>
              </a:spcBef>
            </a:pPr>
            <a:endParaRPr lang="en-US" altLang="ja-JP" sz="1000">
              <a:latin typeface="MS PGothic" pitchFamily="34" charset="-128"/>
              <a:ea typeface="MS PGothic" pitchFamily="34" charset="-128"/>
            </a:endParaRPr>
          </a:p>
        </p:txBody>
      </p:sp>
      <p:sp>
        <p:nvSpPr>
          <p:cNvPr id="8" name="Rectangle 9"/>
          <p:cNvSpPr>
            <a:spLocks noChangeArrowheads="1"/>
          </p:cNvSpPr>
          <p:nvPr/>
        </p:nvSpPr>
        <p:spPr bwMode="auto">
          <a:xfrm>
            <a:off x="3835400" y="1804988"/>
            <a:ext cx="936625" cy="744537"/>
          </a:xfrm>
          <a:prstGeom prst="rect">
            <a:avLst/>
          </a:prstGeom>
          <a:solidFill>
            <a:srgbClr val="FFCC00"/>
          </a:solidFill>
          <a:ln w="12700" cap="sq">
            <a:noFill/>
            <a:miter lim="800000"/>
            <a:headEnd type="none" w="sm" len="sm"/>
            <a:tailEnd type="none" w="sm" len="sm"/>
          </a:ln>
        </p:spPr>
        <p:txBody>
          <a:bodyPr/>
          <a:lstStyle/>
          <a:p>
            <a:pPr>
              <a:spcBef>
                <a:spcPct val="20000"/>
              </a:spcBef>
            </a:pPr>
            <a:endParaRPr lang="en-US" altLang="ja-JP" sz="1000">
              <a:latin typeface="MS PGothic" pitchFamily="34" charset="-128"/>
              <a:ea typeface="MS PGothic" pitchFamily="34" charset="-128"/>
            </a:endParaRPr>
          </a:p>
        </p:txBody>
      </p:sp>
      <p:sp>
        <p:nvSpPr>
          <p:cNvPr id="9" name="Rectangle 10"/>
          <p:cNvSpPr>
            <a:spLocks noChangeArrowheads="1"/>
          </p:cNvSpPr>
          <p:nvPr/>
        </p:nvSpPr>
        <p:spPr bwMode="auto">
          <a:xfrm>
            <a:off x="3835400" y="1519238"/>
            <a:ext cx="936625" cy="285750"/>
          </a:xfrm>
          <a:prstGeom prst="rect">
            <a:avLst/>
          </a:prstGeom>
          <a:noFill/>
          <a:ln w="12700" cap="sq">
            <a:noFill/>
            <a:miter lim="800000"/>
            <a:headEnd type="none" w="sm" len="sm"/>
            <a:tailEnd type="none" w="sm" len="sm"/>
          </a:ln>
        </p:spPr>
        <p:txBody>
          <a:bodyPr/>
          <a:lstStyle/>
          <a:p>
            <a:pPr algn="ctr">
              <a:spcBef>
                <a:spcPct val="20000"/>
              </a:spcBef>
            </a:pPr>
            <a:r>
              <a:rPr lang="en-US" altLang="ja-JP" sz="1000">
                <a:ea typeface="MS PGothic" pitchFamily="34" charset="-128"/>
              </a:rPr>
              <a:t>7 cell</a:t>
            </a:r>
          </a:p>
        </p:txBody>
      </p:sp>
      <p:sp>
        <p:nvSpPr>
          <p:cNvPr id="10" name="Rectangle 11"/>
          <p:cNvSpPr>
            <a:spLocks noChangeArrowheads="1"/>
          </p:cNvSpPr>
          <p:nvPr/>
        </p:nvSpPr>
        <p:spPr bwMode="auto">
          <a:xfrm>
            <a:off x="3130550" y="4133850"/>
            <a:ext cx="936625" cy="455613"/>
          </a:xfrm>
          <a:prstGeom prst="rect">
            <a:avLst/>
          </a:prstGeom>
          <a:noFill/>
          <a:ln w="12700" cap="sq">
            <a:noFill/>
            <a:miter lim="800000"/>
            <a:headEnd type="none" w="sm" len="sm"/>
            <a:tailEnd type="none" w="sm" len="sm"/>
          </a:ln>
        </p:spPr>
        <p:txBody>
          <a:bodyPr/>
          <a:lstStyle/>
          <a:p>
            <a:pPr>
              <a:spcBef>
                <a:spcPct val="20000"/>
              </a:spcBef>
            </a:pPr>
            <a:r>
              <a:rPr lang="en-US" altLang="ja-JP" sz="1000">
                <a:latin typeface="MS PGothic" pitchFamily="34" charset="-128"/>
                <a:ea typeface="MS PGothic" pitchFamily="34" charset="-128"/>
              </a:rPr>
              <a:t>✓</a:t>
            </a:r>
            <a:r>
              <a:rPr lang="en-US" altLang="ja-JP" sz="1000">
                <a:ea typeface="MS PGothic" pitchFamily="34" charset="-128"/>
              </a:rPr>
              <a:t>Printer</a:t>
            </a:r>
          </a:p>
        </p:txBody>
      </p:sp>
      <p:sp>
        <p:nvSpPr>
          <p:cNvPr id="11" name="Rectangle 13"/>
          <p:cNvSpPr>
            <a:spLocks noChangeArrowheads="1"/>
          </p:cNvSpPr>
          <p:nvPr/>
        </p:nvSpPr>
        <p:spPr bwMode="auto">
          <a:xfrm>
            <a:off x="2898775" y="2549525"/>
            <a:ext cx="936625" cy="704850"/>
          </a:xfrm>
          <a:prstGeom prst="rect">
            <a:avLst/>
          </a:prstGeom>
          <a:solidFill>
            <a:srgbClr val="99CC00"/>
          </a:solidFill>
          <a:ln w="12700" cap="sq">
            <a:noFill/>
            <a:miter lim="800000"/>
            <a:headEnd type="none" w="sm" len="sm"/>
            <a:tailEnd type="none" w="sm" len="sm"/>
          </a:ln>
        </p:spPr>
        <p:txBody>
          <a:bodyPr/>
          <a:lstStyle/>
          <a:p>
            <a:pPr>
              <a:spcBef>
                <a:spcPct val="20000"/>
              </a:spcBef>
            </a:pPr>
            <a:endParaRPr lang="zh-TW" altLang="zh-TW" sz="1000">
              <a:latin typeface="MS PGothic" pitchFamily="34" charset="-128"/>
            </a:endParaRPr>
          </a:p>
        </p:txBody>
      </p:sp>
      <p:sp>
        <p:nvSpPr>
          <p:cNvPr id="12" name="Rectangle 14"/>
          <p:cNvSpPr>
            <a:spLocks noChangeArrowheads="1"/>
          </p:cNvSpPr>
          <p:nvPr/>
        </p:nvSpPr>
        <p:spPr bwMode="auto">
          <a:xfrm>
            <a:off x="2898775" y="1804988"/>
            <a:ext cx="936625" cy="744537"/>
          </a:xfrm>
          <a:prstGeom prst="rect">
            <a:avLst/>
          </a:prstGeom>
          <a:solidFill>
            <a:srgbClr val="FFCC00"/>
          </a:solidFill>
          <a:ln w="12700" cap="sq">
            <a:noFill/>
            <a:miter lim="800000"/>
            <a:headEnd type="none" w="sm" len="sm"/>
            <a:tailEnd type="none" w="sm" len="sm"/>
          </a:ln>
        </p:spPr>
        <p:txBody>
          <a:bodyPr/>
          <a:lstStyle/>
          <a:p>
            <a:pPr>
              <a:spcBef>
                <a:spcPct val="20000"/>
              </a:spcBef>
            </a:pPr>
            <a:endParaRPr lang="zh-TW" altLang="zh-TW" sz="1000">
              <a:latin typeface="MS PGothic" pitchFamily="34" charset="-128"/>
              <a:ea typeface="MS PGothic" pitchFamily="34" charset="-128"/>
            </a:endParaRPr>
          </a:p>
        </p:txBody>
      </p:sp>
      <p:sp>
        <p:nvSpPr>
          <p:cNvPr id="13" name="Rectangle 15"/>
          <p:cNvSpPr>
            <a:spLocks noChangeArrowheads="1"/>
          </p:cNvSpPr>
          <p:nvPr/>
        </p:nvSpPr>
        <p:spPr bwMode="auto">
          <a:xfrm>
            <a:off x="2898775" y="1519238"/>
            <a:ext cx="936625" cy="285750"/>
          </a:xfrm>
          <a:prstGeom prst="rect">
            <a:avLst/>
          </a:prstGeom>
          <a:noFill/>
          <a:ln w="12700" cap="sq">
            <a:noFill/>
            <a:miter lim="800000"/>
            <a:headEnd type="none" w="sm" len="sm"/>
            <a:tailEnd type="none" w="sm" len="sm"/>
          </a:ln>
        </p:spPr>
        <p:txBody>
          <a:bodyPr/>
          <a:lstStyle/>
          <a:p>
            <a:pPr algn="ctr">
              <a:spcBef>
                <a:spcPct val="20000"/>
              </a:spcBef>
            </a:pPr>
            <a:r>
              <a:rPr lang="en-US" altLang="ja-JP" sz="1000">
                <a:ea typeface="MS PGothic" pitchFamily="34" charset="-128"/>
              </a:rPr>
              <a:t>5, 6 cell</a:t>
            </a:r>
          </a:p>
        </p:txBody>
      </p:sp>
      <p:sp>
        <p:nvSpPr>
          <p:cNvPr id="14" name="Rectangle 16"/>
          <p:cNvSpPr>
            <a:spLocks noChangeArrowheads="1"/>
          </p:cNvSpPr>
          <p:nvPr/>
        </p:nvSpPr>
        <p:spPr bwMode="auto">
          <a:xfrm>
            <a:off x="8267700" y="2549525"/>
            <a:ext cx="777875" cy="704850"/>
          </a:xfrm>
          <a:prstGeom prst="rect">
            <a:avLst/>
          </a:prstGeom>
          <a:solidFill>
            <a:srgbClr val="99CC00"/>
          </a:solidFill>
          <a:ln w="12700" cap="sq">
            <a:noFill/>
            <a:miter lim="800000"/>
            <a:headEnd type="none" w="sm" len="sm"/>
            <a:tailEnd type="none" w="sm" len="sm"/>
          </a:ln>
        </p:spPr>
        <p:txBody>
          <a:bodyPr/>
          <a:lstStyle/>
          <a:p>
            <a:pPr algn="ctr">
              <a:spcBef>
                <a:spcPct val="20000"/>
              </a:spcBef>
            </a:pPr>
            <a:endParaRPr lang="zh-TW" altLang="zh-TW" sz="1000"/>
          </a:p>
        </p:txBody>
      </p:sp>
      <p:sp>
        <p:nvSpPr>
          <p:cNvPr id="15" name="Rectangle 17"/>
          <p:cNvSpPr>
            <a:spLocks noChangeArrowheads="1"/>
          </p:cNvSpPr>
          <p:nvPr/>
        </p:nvSpPr>
        <p:spPr bwMode="auto">
          <a:xfrm>
            <a:off x="7427913" y="2549525"/>
            <a:ext cx="839787" cy="704850"/>
          </a:xfrm>
          <a:prstGeom prst="rect">
            <a:avLst/>
          </a:prstGeom>
          <a:solidFill>
            <a:srgbClr val="99CC00"/>
          </a:solidFill>
          <a:ln w="12700" cap="sq">
            <a:noFill/>
            <a:miter lim="800000"/>
            <a:headEnd type="none" w="sm" len="sm"/>
            <a:tailEnd type="none" w="sm" len="sm"/>
          </a:ln>
        </p:spPr>
        <p:txBody>
          <a:bodyPr/>
          <a:lstStyle/>
          <a:p>
            <a:pPr>
              <a:spcBef>
                <a:spcPct val="20000"/>
              </a:spcBef>
            </a:pPr>
            <a:r>
              <a:rPr lang="en-US" altLang="ja-JP" sz="1000">
                <a:latin typeface="MS PGothic" pitchFamily="34" charset="-128"/>
                <a:ea typeface="MS PGothic" pitchFamily="34" charset="-128"/>
              </a:rPr>
              <a:t> </a:t>
            </a:r>
          </a:p>
          <a:p>
            <a:pPr>
              <a:spcBef>
                <a:spcPct val="20000"/>
              </a:spcBef>
            </a:pPr>
            <a:endParaRPr lang="en-US" altLang="zh-TW" sz="1000">
              <a:latin typeface="MS PGothic" pitchFamily="34" charset="-128"/>
              <a:ea typeface="MS PGothic" pitchFamily="34" charset="-128"/>
            </a:endParaRPr>
          </a:p>
        </p:txBody>
      </p:sp>
      <p:sp>
        <p:nvSpPr>
          <p:cNvPr id="16" name="Rectangle 18"/>
          <p:cNvSpPr>
            <a:spLocks noChangeArrowheads="1"/>
          </p:cNvSpPr>
          <p:nvPr/>
        </p:nvSpPr>
        <p:spPr bwMode="auto">
          <a:xfrm>
            <a:off x="6586538" y="2549525"/>
            <a:ext cx="841375" cy="704850"/>
          </a:xfrm>
          <a:prstGeom prst="rect">
            <a:avLst/>
          </a:prstGeom>
          <a:solidFill>
            <a:srgbClr val="99CC00"/>
          </a:solidFill>
          <a:ln w="12700" cap="sq">
            <a:noFill/>
            <a:miter lim="800000"/>
            <a:headEnd type="none" w="sm" len="sm"/>
            <a:tailEnd type="none" w="sm" len="sm"/>
          </a:ln>
        </p:spPr>
        <p:txBody>
          <a:bodyPr/>
          <a:lstStyle/>
          <a:p>
            <a:pPr>
              <a:spcBef>
                <a:spcPct val="20000"/>
              </a:spcBef>
            </a:pPr>
            <a:endParaRPr lang="zh-TW" altLang="zh-TW" sz="1000">
              <a:latin typeface="MS PGothic" pitchFamily="34" charset="-128"/>
            </a:endParaRPr>
          </a:p>
        </p:txBody>
      </p:sp>
      <p:sp>
        <p:nvSpPr>
          <p:cNvPr id="17" name="Rectangle 19"/>
          <p:cNvSpPr>
            <a:spLocks noChangeArrowheads="1"/>
          </p:cNvSpPr>
          <p:nvPr/>
        </p:nvSpPr>
        <p:spPr bwMode="auto">
          <a:xfrm>
            <a:off x="4772025" y="2549525"/>
            <a:ext cx="885825" cy="704850"/>
          </a:xfrm>
          <a:prstGeom prst="rect">
            <a:avLst/>
          </a:prstGeom>
          <a:solidFill>
            <a:srgbClr val="99CC00"/>
          </a:solidFill>
          <a:ln w="12700" cap="sq">
            <a:noFill/>
            <a:miter lim="800000"/>
            <a:headEnd type="none" w="sm" len="sm"/>
            <a:tailEnd type="none" w="sm" len="sm"/>
          </a:ln>
        </p:spPr>
        <p:txBody>
          <a:bodyPr/>
          <a:lstStyle/>
          <a:p>
            <a:pPr>
              <a:spcBef>
                <a:spcPct val="20000"/>
              </a:spcBef>
            </a:pPr>
            <a:endParaRPr lang="zh-TW" altLang="zh-TW" sz="1000">
              <a:latin typeface="MS PGothic" pitchFamily="34" charset="-128"/>
            </a:endParaRPr>
          </a:p>
        </p:txBody>
      </p:sp>
      <p:sp>
        <p:nvSpPr>
          <p:cNvPr id="18" name="Rectangle 20"/>
          <p:cNvSpPr>
            <a:spLocks noChangeArrowheads="1"/>
          </p:cNvSpPr>
          <p:nvPr/>
        </p:nvSpPr>
        <p:spPr bwMode="auto">
          <a:xfrm>
            <a:off x="2106613" y="2549525"/>
            <a:ext cx="792162" cy="704850"/>
          </a:xfrm>
          <a:prstGeom prst="rect">
            <a:avLst/>
          </a:prstGeom>
          <a:solidFill>
            <a:srgbClr val="99CC00"/>
          </a:solidFill>
          <a:ln w="12700" cap="sq">
            <a:noFill/>
            <a:miter lim="800000"/>
            <a:headEnd type="none" w="sm" len="sm"/>
            <a:tailEnd type="none" w="sm" len="sm"/>
          </a:ln>
        </p:spPr>
        <p:txBody>
          <a:bodyPr/>
          <a:lstStyle/>
          <a:p>
            <a:pPr>
              <a:spcBef>
                <a:spcPct val="20000"/>
              </a:spcBef>
            </a:pPr>
            <a:endParaRPr lang="zh-TW" altLang="zh-TW" sz="1000"/>
          </a:p>
        </p:txBody>
      </p:sp>
      <p:sp>
        <p:nvSpPr>
          <p:cNvPr id="19" name="Rectangle 21"/>
          <p:cNvSpPr>
            <a:spLocks noChangeArrowheads="1"/>
          </p:cNvSpPr>
          <p:nvPr/>
        </p:nvSpPr>
        <p:spPr bwMode="auto">
          <a:xfrm>
            <a:off x="1171575" y="2549525"/>
            <a:ext cx="935038" cy="704850"/>
          </a:xfrm>
          <a:prstGeom prst="rect">
            <a:avLst/>
          </a:prstGeom>
          <a:noFill/>
          <a:ln w="12700" cap="sq">
            <a:noFill/>
            <a:miter lim="800000"/>
            <a:headEnd type="none" w="sm" len="sm"/>
            <a:tailEnd type="none" w="sm" len="sm"/>
          </a:ln>
        </p:spPr>
        <p:txBody>
          <a:bodyPr/>
          <a:lstStyle/>
          <a:p>
            <a:pPr>
              <a:spcBef>
                <a:spcPct val="20000"/>
              </a:spcBef>
            </a:pPr>
            <a:endParaRPr lang="en-US" altLang="ja-JP" sz="1000">
              <a:ea typeface="MS PGothic" pitchFamily="34" charset="-128"/>
            </a:endParaRPr>
          </a:p>
          <a:p>
            <a:pPr>
              <a:spcBef>
                <a:spcPct val="20000"/>
              </a:spcBef>
            </a:pPr>
            <a:r>
              <a:rPr lang="en-US" altLang="ja-JP" sz="1000">
                <a:ea typeface="MS PGothic" pitchFamily="34" charset="-128"/>
              </a:rPr>
              <a:t>E-bike</a:t>
            </a:r>
          </a:p>
        </p:txBody>
      </p:sp>
      <p:sp>
        <p:nvSpPr>
          <p:cNvPr id="20" name="Rectangle 22"/>
          <p:cNvSpPr>
            <a:spLocks noChangeArrowheads="1"/>
          </p:cNvSpPr>
          <p:nvPr/>
        </p:nvSpPr>
        <p:spPr bwMode="auto">
          <a:xfrm>
            <a:off x="7526338" y="4133850"/>
            <a:ext cx="839787" cy="455613"/>
          </a:xfrm>
          <a:prstGeom prst="rect">
            <a:avLst/>
          </a:prstGeom>
          <a:noFill/>
          <a:ln w="12700" cap="sq">
            <a:noFill/>
            <a:miter lim="800000"/>
            <a:headEnd type="none" w="sm" len="sm"/>
            <a:tailEnd type="none" w="sm" len="sm"/>
          </a:ln>
        </p:spPr>
        <p:txBody>
          <a:bodyPr/>
          <a:lstStyle/>
          <a:p>
            <a:pPr>
              <a:spcBef>
                <a:spcPct val="20000"/>
              </a:spcBef>
            </a:pPr>
            <a:endParaRPr lang="en-US" altLang="ja-JP" sz="1000">
              <a:ea typeface="MS PGothic" pitchFamily="34" charset="-128"/>
            </a:endParaRPr>
          </a:p>
        </p:txBody>
      </p:sp>
      <p:sp>
        <p:nvSpPr>
          <p:cNvPr id="21" name="Rectangle 24"/>
          <p:cNvSpPr>
            <a:spLocks noChangeArrowheads="1"/>
          </p:cNvSpPr>
          <p:nvPr/>
        </p:nvSpPr>
        <p:spPr bwMode="auto">
          <a:xfrm>
            <a:off x="7427913" y="3254375"/>
            <a:ext cx="839787" cy="706438"/>
          </a:xfrm>
          <a:prstGeom prst="rect">
            <a:avLst/>
          </a:prstGeom>
          <a:solidFill>
            <a:srgbClr val="FFFF99"/>
          </a:solidFill>
          <a:ln w="12700" cap="sq">
            <a:solidFill>
              <a:srgbClr val="FFFF00"/>
            </a:solidFill>
            <a:miter lim="800000"/>
            <a:headEnd type="none" w="sm" len="sm"/>
            <a:tailEnd type="none" w="sm" len="sm"/>
          </a:ln>
        </p:spPr>
        <p:txBody>
          <a:bodyPr/>
          <a:lstStyle/>
          <a:p>
            <a:pPr>
              <a:spcBef>
                <a:spcPct val="20000"/>
              </a:spcBef>
            </a:pPr>
            <a:endParaRPr lang="en-US" altLang="ja-JP" sz="1000">
              <a:latin typeface="MS PGothic" pitchFamily="34" charset="-128"/>
              <a:ea typeface="MS PGothic" pitchFamily="34" charset="-128"/>
            </a:endParaRPr>
          </a:p>
          <a:p>
            <a:pPr>
              <a:spcBef>
                <a:spcPct val="20000"/>
              </a:spcBef>
            </a:pPr>
            <a:endParaRPr lang="en-US" altLang="ja-JP" sz="1000">
              <a:latin typeface="MS PGothic" pitchFamily="34" charset="-128"/>
              <a:ea typeface="MS PGothic" pitchFamily="34" charset="-128"/>
            </a:endParaRPr>
          </a:p>
        </p:txBody>
      </p:sp>
      <p:sp>
        <p:nvSpPr>
          <p:cNvPr id="22" name="Rectangle 25"/>
          <p:cNvSpPr>
            <a:spLocks noChangeArrowheads="1"/>
          </p:cNvSpPr>
          <p:nvPr/>
        </p:nvSpPr>
        <p:spPr bwMode="auto">
          <a:xfrm>
            <a:off x="7427913" y="1804988"/>
            <a:ext cx="839787" cy="744537"/>
          </a:xfrm>
          <a:prstGeom prst="rect">
            <a:avLst/>
          </a:prstGeom>
          <a:noFill/>
          <a:ln w="12700" cap="sq">
            <a:noFill/>
            <a:miter lim="800000"/>
            <a:headEnd type="none" w="sm" len="sm"/>
            <a:tailEnd type="none" w="sm" len="sm"/>
          </a:ln>
        </p:spPr>
        <p:txBody>
          <a:bodyPr/>
          <a:lstStyle/>
          <a:p>
            <a:pPr algn="ctr">
              <a:spcBef>
                <a:spcPct val="20000"/>
              </a:spcBef>
            </a:pPr>
            <a:endParaRPr lang="zh-TW" altLang="zh-TW" sz="1000"/>
          </a:p>
        </p:txBody>
      </p:sp>
      <p:sp>
        <p:nvSpPr>
          <p:cNvPr id="23" name="Rectangle 26"/>
          <p:cNvSpPr>
            <a:spLocks noChangeArrowheads="1"/>
          </p:cNvSpPr>
          <p:nvPr/>
        </p:nvSpPr>
        <p:spPr bwMode="auto">
          <a:xfrm>
            <a:off x="7427913" y="1519238"/>
            <a:ext cx="839787" cy="285750"/>
          </a:xfrm>
          <a:prstGeom prst="rect">
            <a:avLst/>
          </a:prstGeom>
          <a:noFill/>
          <a:ln w="12700" cap="sq">
            <a:noFill/>
            <a:miter lim="800000"/>
            <a:headEnd type="none" w="sm" len="sm"/>
            <a:tailEnd type="none" w="sm" len="sm"/>
          </a:ln>
        </p:spPr>
        <p:txBody>
          <a:bodyPr/>
          <a:lstStyle/>
          <a:p>
            <a:pPr algn="ctr">
              <a:spcBef>
                <a:spcPct val="20000"/>
              </a:spcBef>
            </a:pPr>
            <a:r>
              <a:rPr lang="en-US" altLang="ja-JP" sz="1000" dirty="0" smtClean="0">
                <a:ea typeface="MS PGothic" pitchFamily="34" charset="-128"/>
              </a:rPr>
              <a:t>16 cell</a:t>
            </a:r>
            <a:endParaRPr lang="en-US" altLang="ja-JP" sz="1000" dirty="0">
              <a:ea typeface="MS PGothic" pitchFamily="34" charset="-128"/>
            </a:endParaRPr>
          </a:p>
        </p:txBody>
      </p:sp>
      <p:sp>
        <p:nvSpPr>
          <p:cNvPr id="24" name="Rectangle 27"/>
          <p:cNvSpPr>
            <a:spLocks noChangeArrowheads="1"/>
          </p:cNvSpPr>
          <p:nvPr/>
        </p:nvSpPr>
        <p:spPr bwMode="auto">
          <a:xfrm>
            <a:off x="5756275" y="4133850"/>
            <a:ext cx="928688" cy="455613"/>
          </a:xfrm>
          <a:prstGeom prst="rect">
            <a:avLst/>
          </a:prstGeom>
          <a:noFill/>
          <a:ln w="12700" cap="sq">
            <a:noFill/>
            <a:miter lim="800000"/>
            <a:headEnd type="none" w="sm" len="sm"/>
            <a:tailEnd type="none" w="sm" len="sm"/>
          </a:ln>
        </p:spPr>
        <p:txBody>
          <a:bodyPr/>
          <a:lstStyle/>
          <a:p>
            <a:pPr>
              <a:spcBef>
                <a:spcPct val="20000"/>
              </a:spcBef>
            </a:pPr>
            <a:r>
              <a:rPr lang="en-US" altLang="ja-JP" sz="1000">
                <a:latin typeface="MS PGothic" pitchFamily="34" charset="-128"/>
                <a:ea typeface="MS PGothic" pitchFamily="34" charset="-128"/>
              </a:rPr>
              <a:t>✓Scooter</a:t>
            </a:r>
          </a:p>
          <a:p>
            <a:pPr>
              <a:spcBef>
                <a:spcPct val="20000"/>
              </a:spcBef>
            </a:pPr>
            <a:endParaRPr lang="en-US" altLang="ja-JP" sz="1000">
              <a:ea typeface="MS PGothic" pitchFamily="34" charset="-128"/>
            </a:endParaRPr>
          </a:p>
        </p:txBody>
      </p:sp>
      <p:sp>
        <p:nvSpPr>
          <p:cNvPr id="25" name="Rectangle 29"/>
          <p:cNvSpPr>
            <a:spLocks noChangeArrowheads="1"/>
          </p:cNvSpPr>
          <p:nvPr/>
        </p:nvSpPr>
        <p:spPr bwMode="auto">
          <a:xfrm>
            <a:off x="5649913" y="3263900"/>
            <a:ext cx="928687" cy="706438"/>
          </a:xfrm>
          <a:prstGeom prst="rect">
            <a:avLst/>
          </a:prstGeom>
          <a:solidFill>
            <a:srgbClr val="FFFF99"/>
          </a:solidFill>
          <a:ln w="12700" cap="sq">
            <a:noFill/>
            <a:miter lim="800000"/>
            <a:headEnd type="none" w="sm" len="sm"/>
            <a:tailEnd type="none" w="sm" len="sm"/>
          </a:ln>
        </p:spPr>
        <p:txBody>
          <a:bodyPr/>
          <a:lstStyle/>
          <a:p>
            <a:pPr>
              <a:spcBef>
                <a:spcPct val="20000"/>
              </a:spcBef>
            </a:pPr>
            <a:endParaRPr lang="en-US" altLang="ja-JP" sz="1000">
              <a:latin typeface="MS PGothic" pitchFamily="34" charset="-128"/>
              <a:ea typeface="MS PGothic" pitchFamily="34" charset="-128"/>
            </a:endParaRPr>
          </a:p>
          <a:p>
            <a:pPr>
              <a:spcBef>
                <a:spcPct val="20000"/>
              </a:spcBef>
            </a:pPr>
            <a:endParaRPr lang="en-US" altLang="ja-JP" sz="1000">
              <a:latin typeface="MS PGothic" pitchFamily="34" charset="-128"/>
              <a:ea typeface="MS PGothic" pitchFamily="34" charset="-128"/>
            </a:endParaRPr>
          </a:p>
          <a:p>
            <a:pPr>
              <a:spcBef>
                <a:spcPct val="20000"/>
              </a:spcBef>
            </a:pPr>
            <a:endParaRPr lang="en-US" altLang="ja-JP" sz="1000">
              <a:latin typeface="MS PGothic" pitchFamily="34" charset="-128"/>
              <a:ea typeface="MS PGothic" pitchFamily="34" charset="-128"/>
            </a:endParaRPr>
          </a:p>
          <a:p>
            <a:pPr>
              <a:spcBef>
                <a:spcPct val="20000"/>
              </a:spcBef>
            </a:pPr>
            <a:endParaRPr lang="en-US" altLang="ja-JP" sz="1000">
              <a:latin typeface="MS PGothic" pitchFamily="34" charset="-128"/>
              <a:ea typeface="MS PGothic" pitchFamily="34" charset="-128"/>
            </a:endParaRPr>
          </a:p>
        </p:txBody>
      </p:sp>
      <p:sp>
        <p:nvSpPr>
          <p:cNvPr id="26" name="Rectangle 30"/>
          <p:cNvSpPr>
            <a:spLocks noChangeArrowheads="1"/>
          </p:cNvSpPr>
          <p:nvPr/>
        </p:nvSpPr>
        <p:spPr bwMode="auto">
          <a:xfrm>
            <a:off x="5657850" y="1804988"/>
            <a:ext cx="928688" cy="744537"/>
          </a:xfrm>
          <a:prstGeom prst="rect">
            <a:avLst/>
          </a:prstGeom>
          <a:solidFill>
            <a:srgbClr val="FFCC00"/>
          </a:solidFill>
          <a:ln w="12700" cap="sq">
            <a:noFill/>
            <a:miter lim="800000"/>
            <a:headEnd type="none" w="sm" len="sm"/>
            <a:tailEnd type="none" w="sm" len="sm"/>
          </a:ln>
        </p:spPr>
        <p:txBody>
          <a:bodyPr/>
          <a:lstStyle/>
          <a:p>
            <a:pPr>
              <a:spcBef>
                <a:spcPct val="20000"/>
              </a:spcBef>
            </a:pPr>
            <a:endParaRPr lang="en-US" altLang="ja-JP" sz="1000">
              <a:latin typeface="MS PGothic" pitchFamily="34" charset="-128"/>
              <a:ea typeface="MS PGothic" pitchFamily="34" charset="-128"/>
            </a:endParaRPr>
          </a:p>
          <a:p>
            <a:pPr>
              <a:spcBef>
                <a:spcPct val="20000"/>
              </a:spcBef>
            </a:pPr>
            <a:endParaRPr lang="en-US" altLang="ja-JP" sz="1000">
              <a:ea typeface="MS PGothic" pitchFamily="34" charset="-128"/>
            </a:endParaRPr>
          </a:p>
        </p:txBody>
      </p:sp>
      <p:sp>
        <p:nvSpPr>
          <p:cNvPr id="27" name="Rectangle 31"/>
          <p:cNvSpPr>
            <a:spLocks noChangeArrowheads="1"/>
          </p:cNvSpPr>
          <p:nvPr/>
        </p:nvSpPr>
        <p:spPr bwMode="auto">
          <a:xfrm>
            <a:off x="5657850" y="1519238"/>
            <a:ext cx="928688" cy="285750"/>
          </a:xfrm>
          <a:prstGeom prst="rect">
            <a:avLst/>
          </a:prstGeom>
          <a:noFill/>
          <a:ln w="12700" cap="sq">
            <a:noFill/>
            <a:miter lim="800000"/>
            <a:headEnd type="none" w="sm" len="sm"/>
            <a:tailEnd type="none" w="sm" len="sm"/>
          </a:ln>
        </p:spPr>
        <p:txBody>
          <a:bodyPr/>
          <a:lstStyle/>
          <a:p>
            <a:pPr algn="ctr">
              <a:spcBef>
                <a:spcPct val="20000"/>
              </a:spcBef>
            </a:pPr>
            <a:r>
              <a:rPr lang="en-US" altLang="ja-JP" sz="1000">
                <a:ea typeface="MS PGothic" pitchFamily="34" charset="-128"/>
              </a:rPr>
              <a:t>9,10 cell</a:t>
            </a:r>
          </a:p>
        </p:txBody>
      </p:sp>
      <p:sp>
        <p:nvSpPr>
          <p:cNvPr id="28" name="Rectangle 32"/>
          <p:cNvSpPr>
            <a:spLocks noChangeArrowheads="1"/>
          </p:cNvSpPr>
          <p:nvPr/>
        </p:nvSpPr>
        <p:spPr bwMode="auto">
          <a:xfrm>
            <a:off x="6684963" y="4133850"/>
            <a:ext cx="841375" cy="455613"/>
          </a:xfrm>
          <a:prstGeom prst="rect">
            <a:avLst/>
          </a:prstGeom>
          <a:noFill/>
          <a:ln w="12700" cap="sq">
            <a:noFill/>
            <a:miter lim="800000"/>
            <a:headEnd type="none" w="sm" len="sm"/>
            <a:tailEnd type="none" w="sm" len="sm"/>
          </a:ln>
        </p:spPr>
        <p:txBody>
          <a:bodyPr/>
          <a:lstStyle/>
          <a:p>
            <a:pPr>
              <a:spcBef>
                <a:spcPct val="20000"/>
              </a:spcBef>
            </a:pPr>
            <a:endParaRPr lang="en-US" altLang="ja-JP" sz="1000">
              <a:ea typeface="MS PGothic" pitchFamily="34" charset="-128"/>
            </a:endParaRPr>
          </a:p>
        </p:txBody>
      </p:sp>
      <p:sp>
        <p:nvSpPr>
          <p:cNvPr id="29" name="Rectangle 34"/>
          <p:cNvSpPr>
            <a:spLocks noChangeArrowheads="1"/>
          </p:cNvSpPr>
          <p:nvPr/>
        </p:nvSpPr>
        <p:spPr bwMode="auto">
          <a:xfrm>
            <a:off x="6586538" y="3263900"/>
            <a:ext cx="841375" cy="706438"/>
          </a:xfrm>
          <a:prstGeom prst="rect">
            <a:avLst/>
          </a:prstGeom>
          <a:solidFill>
            <a:srgbClr val="FFFF99"/>
          </a:solidFill>
          <a:ln w="12700" cap="sq">
            <a:noFill/>
            <a:miter lim="800000"/>
            <a:headEnd type="none" w="sm" len="sm"/>
            <a:tailEnd type="none" w="sm" len="sm"/>
          </a:ln>
        </p:spPr>
        <p:txBody>
          <a:bodyPr/>
          <a:lstStyle/>
          <a:p>
            <a:pPr>
              <a:spcBef>
                <a:spcPct val="20000"/>
              </a:spcBef>
            </a:pPr>
            <a:endParaRPr lang="en-US" altLang="ja-JP" sz="1000">
              <a:latin typeface="MS PGothic" pitchFamily="34" charset="-128"/>
              <a:ea typeface="MS PGothic" pitchFamily="34" charset="-128"/>
            </a:endParaRPr>
          </a:p>
        </p:txBody>
      </p:sp>
      <p:sp>
        <p:nvSpPr>
          <p:cNvPr id="30" name="Rectangle 35"/>
          <p:cNvSpPr>
            <a:spLocks noChangeArrowheads="1"/>
          </p:cNvSpPr>
          <p:nvPr/>
        </p:nvSpPr>
        <p:spPr bwMode="auto">
          <a:xfrm>
            <a:off x="6586538" y="1804988"/>
            <a:ext cx="841375" cy="744537"/>
          </a:xfrm>
          <a:prstGeom prst="rect">
            <a:avLst/>
          </a:prstGeom>
          <a:noFill/>
          <a:ln w="12700" cap="sq">
            <a:noFill/>
            <a:miter lim="800000"/>
            <a:headEnd type="none" w="sm" len="sm"/>
            <a:tailEnd type="none" w="sm" len="sm"/>
          </a:ln>
        </p:spPr>
        <p:txBody>
          <a:bodyPr/>
          <a:lstStyle/>
          <a:p>
            <a:pPr>
              <a:spcBef>
                <a:spcPct val="20000"/>
              </a:spcBef>
            </a:pPr>
            <a:endParaRPr lang="zh-TW" altLang="zh-TW" sz="1000"/>
          </a:p>
        </p:txBody>
      </p:sp>
      <p:sp>
        <p:nvSpPr>
          <p:cNvPr id="31" name="Rectangle 36"/>
          <p:cNvSpPr>
            <a:spLocks noChangeArrowheads="1"/>
          </p:cNvSpPr>
          <p:nvPr/>
        </p:nvSpPr>
        <p:spPr bwMode="auto">
          <a:xfrm>
            <a:off x="6586538" y="1519238"/>
            <a:ext cx="841375" cy="285750"/>
          </a:xfrm>
          <a:prstGeom prst="rect">
            <a:avLst/>
          </a:prstGeom>
          <a:noFill/>
          <a:ln w="12700" cap="sq">
            <a:noFill/>
            <a:miter lim="800000"/>
            <a:headEnd type="none" w="sm" len="sm"/>
            <a:tailEnd type="none" w="sm" len="sm"/>
          </a:ln>
        </p:spPr>
        <p:txBody>
          <a:bodyPr/>
          <a:lstStyle/>
          <a:p>
            <a:pPr algn="ctr">
              <a:spcBef>
                <a:spcPct val="20000"/>
              </a:spcBef>
            </a:pPr>
            <a:r>
              <a:rPr lang="en-US" altLang="ja-JP" sz="1000">
                <a:ea typeface="MS PGothic" pitchFamily="34" charset="-128"/>
              </a:rPr>
              <a:t>12 cell</a:t>
            </a:r>
          </a:p>
        </p:txBody>
      </p:sp>
      <p:sp>
        <p:nvSpPr>
          <p:cNvPr id="32" name="Rectangle 41"/>
          <p:cNvSpPr>
            <a:spLocks noChangeArrowheads="1"/>
          </p:cNvSpPr>
          <p:nvPr/>
        </p:nvSpPr>
        <p:spPr bwMode="auto">
          <a:xfrm>
            <a:off x="8366125" y="4133850"/>
            <a:ext cx="777875" cy="455613"/>
          </a:xfrm>
          <a:prstGeom prst="rect">
            <a:avLst/>
          </a:prstGeom>
          <a:noFill/>
          <a:ln w="12700" cap="sq">
            <a:noFill/>
            <a:miter lim="800000"/>
            <a:headEnd type="none" w="sm" len="sm"/>
            <a:tailEnd type="none" w="sm" len="sm"/>
          </a:ln>
        </p:spPr>
        <p:txBody>
          <a:bodyPr/>
          <a:lstStyle/>
          <a:p>
            <a:pPr algn="ctr">
              <a:spcBef>
                <a:spcPct val="20000"/>
              </a:spcBef>
            </a:pPr>
            <a:endParaRPr lang="en-US" altLang="ja-JP" sz="1000">
              <a:latin typeface="MS PGothic" pitchFamily="34" charset="-128"/>
              <a:ea typeface="MS PGothic" pitchFamily="34" charset="-128"/>
            </a:endParaRPr>
          </a:p>
        </p:txBody>
      </p:sp>
      <p:sp>
        <p:nvSpPr>
          <p:cNvPr id="33" name="Rectangle 42"/>
          <p:cNvSpPr>
            <a:spLocks noChangeArrowheads="1"/>
          </p:cNvSpPr>
          <p:nvPr/>
        </p:nvSpPr>
        <p:spPr bwMode="auto">
          <a:xfrm>
            <a:off x="4870450" y="4133850"/>
            <a:ext cx="885825" cy="455613"/>
          </a:xfrm>
          <a:prstGeom prst="rect">
            <a:avLst/>
          </a:prstGeom>
          <a:noFill/>
          <a:ln w="12700" cap="sq">
            <a:noFill/>
            <a:miter lim="800000"/>
            <a:headEnd type="none" w="sm" len="sm"/>
            <a:tailEnd type="none" w="sm" len="sm"/>
          </a:ln>
        </p:spPr>
        <p:txBody>
          <a:bodyPr/>
          <a:lstStyle/>
          <a:p>
            <a:pPr>
              <a:spcBef>
                <a:spcPct val="20000"/>
              </a:spcBef>
            </a:pPr>
            <a:r>
              <a:rPr lang="en-US" altLang="ja-JP" sz="1000">
                <a:latin typeface="MS PGothic" pitchFamily="34" charset="-128"/>
                <a:ea typeface="MS PGothic" pitchFamily="34" charset="-128"/>
              </a:rPr>
              <a:t>✓</a:t>
            </a:r>
            <a:r>
              <a:rPr lang="en-US" altLang="ja-JP" sz="1000">
                <a:ea typeface="MS PGothic" pitchFamily="34" charset="-128"/>
              </a:rPr>
              <a:t>Vacuum</a:t>
            </a:r>
          </a:p>
        </p:txBody>
      </p:sp>
      <p:sp>
        <p:nvSpPr>
          <p:cNvPr id="34" name="Rectangle 43"/>
          <p:cNvSpPr>
            <a:spLocks noChangeArrowheads="1"/>
          </p:cNvSpPr>
          <p:nvPr/>
        </p:nvSpPr>
        <p:spPr bwMode="auto">
          <a:xfrm>
            <a:off x="2205038" y="4133850"/>
            <a:ext cx="792162" cy="455613"/>
          </a:xfrm>
          <a:prstGeom prst="rect">
            <a:avLst/>
          </a:prstGeom>
          <a:noFill/>
          <a:ln w="12700" cap="sq">
            <a:noFill/>
            <a:miter lim="800000"/>
            <a:headEnd type="none" w="sm" len="sm"/>
            <a:tailEnd type="none" w="sm" len="sm"/>
          </a:ln>
        </p:spPr>
        <p:txBody>
          <a:bodyPr/>
          <a:lstStyle/>
          <a:p>
            <a:pPr>
              <a:spcBef>
                <a:spcPct val="20000"/>
              </a:spcBef>
            </a:pPr>
            <a:r>
              <a:rPr lang="en-US" altLang="ja-JP" sz="1000">
                <a:latin typeface="MS PGothic" pitchFamily="34" charset="-128"/>
                <a:ea typeface="MS PGothic" pitchFamily="34" charset="-128"/>
              </a:rPr>
              <a:t>✓</a:t>
            </a:r>
            <a:r>
              <a:rPr lang="en-US" altLang="ja-JP" sz="1000">
                <a:ea typeface="MS PGothic" pitchFamily="34" charset="-128"/>
              </a:rPr>
              <a:t>Toy</a:t>
            </a:r>
          </a:p>
        </p:txBody>
      </p:sp>
      <p:sp>
        <p:nvSpPr>
          <p:cNvPr id="35" name="Rectangle 44"/>
          <p:cNvSpPr>
            <a:spLocks noChangeArrowheads="1"/>
          </p:cNvSpPr>
          <p:nvPr/>
        </p:nvSpPr>
        <p:spPr bwMode="auto">
          <a:xfrm>
            <a:off x="1270000" y="4133850"/>
            <a:ext cx="935038" cy="455613"/>
          </a:xfrm>
          <a:prstGeom prst="rect">
            <a:avLst/>
          </a:prstGeom>
          <a:noFill/>
          <a:ln w="12700" cap="sq">
            <a:noFill/>
            <a:miter lim="800000"/>
            <a:headEnd type="none" w="sm" len="sm"/>
            <a:tailEnd type="none" w="sm" len="sm"/>
          </a:ln>
        </p:spPr>
        <p:txBody>
          <a:bodyPr/>
          <a:lstStyle/>
          <a:p>
            <a:pPr>
              <a:spcBef>
                <a:spcPct val="20000"/>
              </a:spcBef>
            </a:pPr>
            <a:r>
              <a:rPr lang="en-US" altLang="ja-JP" sz="1000">
                <a:ea typeface="MS PGothic" pitchFamily="34" charset="-128"/>
              </a:rPr>
              <a:t>Others</a:t>
            </a:r>
          </a:p>
        </p:txBody>
      </p:sp>
      <p:sp>
        <p:nvSpPr>
          <p:cNvPr id="36" name="Rectangle 45"/>
          <p:cNvSpPr>
            <a:spLocks noChangeArrowheads="1"/>
          </p:cNvSpPr>
          <p:nvPr/>
        </p:nvSpPr>
        <p:spPr bwMode="auto">
          <a:xfrm>
            <a:off x="8270875" y="4581525"/>
            <a:ext cx="777875" cy="522288"/>
          </a:xfrm>
          <a:prstGeom prst="rect">
            <a:avLst/>
          </a:prstGeom>
          <a:solidFill>
            <a:srgbClr val="D0D4FC"/>
          </a:solidFill>
          <a:ln w="12700" cap="sq">
            <a:noFill/>
            <a:miter lim="800000"/>
            <a:headEnd type="none" w="sm" len="sm"/>
            <a:tailEnd type="none" w="sm" len="sm"/>
          </a:ln>
        </p:spPr>
        <p:txBody>
          <a:bodyPr/>
          <a:lstStyle/>
          <a:p>
            <a:pPr algn="ctr">
              <a:spcBef>
                <a:spcPct val="20000"/>
              </a:spcBef>
            </a:pPr>
            <a:endParaRPr lang="en-US" altLang="ja-JP" sz="1000">
              <a:latin typeface="MS PGothic" pitchFamily="34" charset="-128"/>
              <a:ea typeface="MS PGothic" pitchFamily="34" charset="-128"/>
            </a:endParaRPr>
          </a:p>
        </p:txBody>
      </p:sp>
      <p:sp>
        <p:nvSpPr>
          <p:cNvPr id="37" name="Rectangle 46"/>
          <p:cNvSpPr>
            <a:spLocks noChangeArrowheads="1"/>
          </p:cNvSpPr>
          <p:nvPr/>
        </p:nvSpPr>
        <p:spPr bwMode="auto">
          <a:xfrm>
            <a:off x="2205038" y="4589463"/>
            <a:ext cx="792162" cy="514350"/>
          </a:xfrm>
          <a:prstGeom prst="rect">
            <a:avLst/>
          </a:prstGeom>
          <a:noFill/>
          <a:ln w="12700" cap="sq">
            <a:noFill/>
            <a:miter lim="800000"/>
            <a:headEnd type="none" w="sm" len="sm"/>
            <a:tailEnd type="none" w="sm" len="sm"/>
          </a:ln>
        </p:spPr>
        <p:txBody>
          <a:bodyPr/>
          <a:lstStyle/>
          <a:p>
            <a:pPr>
              <a:spcBef>
                <a:spcPct val="20000"/>
              </a:spcBef>
            </a:pPr>
            <a:endParaRPr lang="zh-TW" altLang="zh-TW" sz="1000"/>
          </a:p>
        </p:txBody>
      </p:sp>
      <p:sp>
        <p:nvSpPr>
          <p:cNvPr id="38" name="Rectangle 47"/>
          <p:cNvSpPr>
            <a:spLocks noChangeArrowheads="1"/>
          </p:cNvSpPr>
          <p:nvPr/>
        </p:nvSpPr>
        <p:spPr bwMode="auto">
          <a:xfrm>
            <a:off x="1270000" y="4589463"/>
            <a:ext cx="935038" cy="514350"/>
          </a:xfrm>
          <a:prstGeom prst="rect">
            <a:avLst/>
          </a:prstGeom>
          <a:noFill/>
          <a:ln w="12700" cap="sq">
            <a:noFill/>
            <a:miter lim="800000"/>
            <a:headEnd type="none" w="sm" len="sm"/>
            <a:tailEnd type="none" w="sm" len="sm"/>
          </a:ln>
        </p:spPr>
        <p:txBody>
          <a:bodyPr/>
          <a:lstStyle/>
          <a:p>
            <a:pPr>
              <a:spcBef>
                <a:spcPct val="20000"/>
              </a:spcBef>
            </a:pPr>
            <a:r>
              <a:rPr lang="en-US" altLang="ja-JP" sz="1000">
                <a:ea typeface="MS PGothic" pitchFamily="34" charset="-128"/>
              </a:rPr>
              <a:t>EV- HEV - PHEV</a:t>
            </a:r>
          </a:p>
          <a:p>
            <a:pPr>
              <a:spcBef>
                <a:spcPct val="20000"/>
              </a:spcBef>
            </a:pPr>
            <a:endParaRPr lang="en-US" altLang="ja-JP" sz="1000">
              <a:ea typeface="MS PGothic" pitchFamily="34" charset="-128"/>
            </a:endParaRPr>
          </a:p>
        </p:txBody>
      </p:sp>
      <p:sp>
        <p:nvSpPr>
          <p:cNvPr id="39" name="Rectangle 48"/>
          <p:cNvSpPr>
            <a:spLocks noChangeArrowheads="1"/>
          </p:cNvSpPr>
          <p:nvPr/>
        </p:nvSpPr>
        <p:spPr bwMode="auto">
          <a:xfrm>
            <a:off x="8267700" y="3254375"/>
            <a:ext cx="777875" cy="706438"/>
          </a:xfrm>
          <a:prstGeom prst="rect">
            <a:avLst/>
          </a:prstGeom>
          <a:solidFill>
            <a:srgbClr val="FFFF99"/>
          </a:solidFill>
          <a:ln w="12700" cap="sq">
            <a:noFill/>
            <a:miter lim="800000"/>
            <a:headEnd type="none" w="sm" len="sm"/>
            <a:tailEnd type="none" w="sm" len="sm"/>
          </a:ln>
        </p:spPr>
        <p:txBody>
          <a:bodyPr/>
          <a:lstStyle/>
          <a:p>
            <a:pPr algn="ctr">
              <a:spcBef>
                <a:spcPct val="20000"/>
              </a:spcBef>
            </a:pPr>
            <a:endParaRPr lang="zh-TW" altLang="zh-TW" sz="1000"/>
          </a:p>
        </p:txBody>
      </p:sp>
      <p:sp>
        <p:nvSpPr>
          <p:cNvPr id="40" name="Rectangle 49"/>
          <p:cNvSpPr>
            <a:spLocks noChangeArrowheads="1"/>
          </p:cNvSpPr>
          <p:nvPr/>
        </p:nvSpPr>
        <p:spPr bwMode="auto">
          <a:xfrm>
            <a:off x="4772025" y="3254375"/>
            <a:ext cx="885825" cy="706438"/>
          </a:xfrm>
          <a:prstGeom prst="rect">
            <a:avLst/>
          </a:prstGeom>
          <a:solidFill>
            <a:srgbClr val="FFFF99"/>
          </a:solidFill>
          <a:ln w="12700" cap="sq">
            <a:noFill/>
            <a:miter lim="800000"/>
            <a:headEnd type="none" w="sm" len="sm"/>
            <a:tailEnd type="none" w="sm" len="sm"/>
          </a:ln>
        </p:spPr>
        <p:txBody>
          <a:bodyPr/>
          <a:lstStyle/>
          <a:p>
            <a:pPr>
              <a:spcBef>
                <a:spcPct val="20000"/>
              </a:spcBef>
            </a:pPr>
            <a:endParaRPr lang="zh-TW" altLang="zh-TW" sz="1000"/>
          </a:p>
        </p:txBody>
      </p:sp>
      <p:sp>
        <p:nvSpPr>
          <p:cNvPr id="41" name="Rectangle 50"/>
          <p:cNvSpPr>
            <a:spLocks noChangeArrowheads="1"/>
          </p:cNvSpPr>
          <p:nvPr/>
        </p:nvSpPr>
        <p:spPr bwMode="auto">
          <a:xfrm>
            <a:off x="2106613" y="3254375"/>
            <a:ext cx="882650" cy="706438"/>
          </a:xfrm>
          <a:prstGeom prst="rect">
            <a:avLst/>
          </a:prstGeom>
          <a:solidFill>
            <a:srgbClr val="FFFF99"/>
          </a:solidFill>
          <a:ln w="12700" cap="sq">
            <a:noFill/>
            <a:miter lim="800000"/>
            <a:headEnd type="none" w="sm" len="sm"/>
            <a:tailEnd type="none" w="sm" len="sm"/>
          </a:ln>
        </p:spPr>
        <p:txBody>
          <a:bodyPr/>
          <a:lstStyle/>
          <a:p>
            <a:pPr>
              <a:spcBef>
                <a:spcPct val="20000"/>
              </a:spcBef>
            </a:pPr>
            <a:endParaRPr lang="zh-TW" altLang="zh-TW" sz="1000"/>
          </a:p>
        </p:txBody>
      </p:sp>
      <p:sp>
        <p:nvSpPr>
          <p:cNvPr id="42" name="Rectangle 51"/>
          <p:cNvSpPr>
            <a:spLocks noChangeArrowheads="1"/>
          </p:cNvSpPr>
          <p:nvPr/>
        </p:nvSpPr>
        <p:spPr bwMode="auto">
          <a:xfrm>
            <a:off x="1171575" y="3254375"/>
            <a:ext cx="935038" cy="706438"/>
          </a:xfrm>
          <a:prstGeom prst="rect">
            <a:avLst/>
          </a:prstGeom>
          <a:noFill/>
          <a:ln w="12700" cap="sq">
            <a:noFill/>
            <a:miter lim="800000"/>
            <a:headEnd type="none" w="sm" len="sm"/>
            <a:tailEnd type="none" w="sm" len="sm"/>
          </a:ln>
        </p:spPr>
        <p:txBody>
          <a:bodyPr/>
          <a:lstStyle/>
          <a:p>
            <a:pPr>
              <a:spcBef>
                <a:spcPct val="20000"/>
              </a:spcBef>
            </a:pPr>
            <a:endParaRPr lang="en-US" altLang="ja-JP" sz="1000">
              <a:ea typeface="MS PGothic" pitchFamily="34" charset="-128"/>
            </a:endParaRPr>
          </a:p>
          <a:p>
            <a:pPr>
              <a:spcBef>
                <a:spcPct val="20000"/>
              </a:spcBef>
            </a:pPr>
            <a:r>
              <a:rPr lang="en-US" altLang="ja-JP" sz="1000">
                <a:ea typeface="MS PGothic" pitchFamily="34" charset="-128"/>
              </a:rPr>
              <a:t>UPS</a:t>
            </a:r>
          </a:p>
        </p:txBody>
      </p:sp>
      <p:sp>
        <p:nvSpPr>
          <p:cNvPr id="43" name="Rectangle 52"/>
          <p:cNvSpPr>
            <a:spLocks noChangeArrowheads="1"/>
          </p:cNvSpPr>
          <p:nvPr/>
        </p:nvSpPr>
        <p:spPr bwMode="auto">
          <a:xfrm>
            <a:off x="8267700" y="1804988"/>
            <a:ext cx="777875" cy="744537"/>
          </a:xfrm>
          <a:prstGeom prst="rect">
            <a:avLst/>
          </a:prstGeom>
          <a:noFill/>
          <a:ln w="12700" cap="sq">
            <a:noFill/>
            <a:miter lim="800000"/>
            <a:headEnd type="none" w="sm" len="sm"/>
            <a:tailEnd type="none" w="sm" len="sm"/>
          </a:ln>
        </p:spPr>
        <p:txBody>
          <a:bodyPr/>
          <a:lstStyle/>
          <a:p>
            <a:pPr algn="ctr">
              <a:spcBef>
                <a:spcPct val="20000"/>
              </a:spcBef>
            </a:pPr>
            <a:endParaRPr lang="zh-TW" altLang="zh-TW" sz="1000"/>
          </a:p>
        </p:txBody>
      </p:sp>
      <p:sp>
        <p:nvSpPr>
          <p:cNvPr id="44" name="Rectangle 53"/>
          <p:cNvSpPr>
            <a:spLocks noChangeArrowheads="1"/>
          </p:cNvSpPr>
          <p:nvPr/>
        </p:nvSpPr>
        <p:spPr bwMode="auto">
          <a:xfrm>
            <a:off x="4772025" y="1804988"/>
            <a:ext cx="885825" cy="744537"/>
          </a:xfrm>
          <a:prstGeom prst="rect">
            <a:avLst/>
          </a:prstGeom>
          <a:solidFill>
            <a:srgbClr val="FFCC00"/>
          </a:solidFill>
          <a:ln w="12700" cap="sq">
            <a:noFill/>
            <a:miter lim="800000"/>
            <a:headEnd type="none" w="sm" len="sm"/>
            <a:tailEnd type="none" w="sm" len="sm"/>
          </a:ln>
        </p:spPr>
        <p:txBody>
          <a:bodyPr/>
          <a:lstStyle/>
          <a:p>
            <a:pPr>
              <a:spcBef>
                <a:spcPct val="20000"/>
              </a:spcBef>
            </a:pPr>
            <a:endParaRPr lang="zh-TW" altLang="zh-TW" sz="1000">
              <a:latin typeface="MS PGothic" pitchFamily="34" charset="-128"/>
            </a:endParaRPr>
          </a:p>
        </p:txBody>
      </p:sp>
      <p:sp>
        <p:nvSpPr>
          <p:cNvPr id="45" name="Rectangle 54"/>
          <p:cNvSpPr>
            <a:spLocks noChangeArrowheads="1"/>
          </p:cNvSpPr>
          <p:nvPr/>
        </p:nvSpPr>
        <p:spPr bwMode="auto">
          <a:xfrm>
            <a:off x="2106613" y="1804988"/>
            <a:ext cx="792162" cy="744537"/>
          </a:xfrm>
          <a:prstGeom prst="rect">
            <a:avLst/>
          </a:prstGeom>
          <a:solidFill>
            <a:srgbClr val="FFCC00"/>
          </a:solidFill>
          <a:ln w="12700" cap="sq">
            <a:noFill/>
            <a:miter lim="800000"/>
            <a:headEnd type="none" w="sm" len="sm"/>
            <a:tailEnd type="none" w="sm" len="sm"/>
          </a:ln>
        </p:spPr>
        <p:txBody>
          <a:bodyPr/>
          <a:lstStyle/>
          <a:p>
            <a:pPr>
              <a:spcBef>
                <a:spcPct val="20000"/>
              </a:spcBef>
            </a:pPr>
            <a:endParaRPr lang="en-US" altLang="ja-JP" sz="1000">
              <a:latin typeface="MS PGothic" pitchFamily="34" charset="-128"/>
              <a:ea typeface="MS PGothic" pitchFamily="34" charset="-128"/>
            </a:endParaRPr>
          </a:p>
        </p:txBody>
      </p:sp>
      <p:sp>
        <p:nvSpPr>
          <p:cNvPr id="46" name="Rectangle 55"/>
          <p:cNvSpPr>
            <a:spLocks noChangeArrowheads="1"/>
          </p:cNvSpPr>
          <p:nvPr/>
        </p:nvSpPr>
        <p:spPr bwMode="auto">
          <a:xfrm>
            <a:off x="1171575" y="1804988"/>
            <a:ext cx="935038" cy="744537"/>
          </a:xfrm>
          <a:prstGeom prst="rect">
            <a:avLst/>
          </a:prstGeom>
          <a:noFill/>
          <a:ln w="12700" cap="sq">
            <a:noFill/>
            <a:miter lim="800000"/>
            <a:headEnd type="none" w="sm" len="sm"/>
            <a:tailEnd type="none" w="sm" len="sm"/>
          </a:ln>
        </p:spPr>
        <p:txBody>
          <a:bodyPr/>
          <a:lstStyle/>
          <a:p>
            <a:pPr>
              <a:spcBef>
                <a:spcPct val="20000"/>
              </a:spcBef>
            </a:pPr>
            <a:endParaRPr lang="en-US" altLang="ja-JP" sz="1000">
              <a:ea typeface="MS PGothic" pitchFamily="34" charset="-128"/>
            </a:endParaRPr>
          </a:p>
          <a:p>
            <a:pPr>
              <a:spcBef>
                <a:spcPct val="20000"/>
              </a:spcBef>
            </a:pPr>
            <a:r>
              <a:rPr lang="en-US" altLang="ja-JP" sz="1000">
                <a:ea typeface="MS PGothic" pitchFamily="34" charset="-128"/>
              </a:rPr>
              <a:t>Power Tools</a:t>
            </a:r>
          </a:p>
        </p:txBody>
      </p:sp>
      <p:sp>
        <p:nvSpPr>
          <p:cNvPr id="47" name="Rectangle 56"/>
          <p:cNvSpPr>
            <a:spLocks noChangeArrowheads="1"/>
          </p:cNvSpPr>
          <p:nvPr/>
        </p:nvSpPr>
        <p:spPr bwMode="auto">
          <a:xfrm>
            <a:off x="8267700" y="1519238"/>
            <a:ext cx="777875" cy="285750"/>
          </a:xfrm>
          <a:prstGeom prst="rect">
            <a:avLst/>
          </a:prstGeom>
          <a:noFill/>
          <a:ln w="12700" cap="sq">
            <a:noFill/>
            <a:miter lim="800000"/>
            <a:headEnd type="none" w="sm" len="sm"/>
            <a:tailEnd type="none" w="sm" len="sm"/>
          </a:ln>
        </p:spPr>
        <p:txBody>
          <a:bodyPr/>
          <a:lstStyle/>
          <a:p>
            <a:pPr algn="ctr">
              <a:spcBef>
                <a:spcPct val="20000"/>
              </a:spcBef>
            </a:pPr>
            <a:r>
              <a:rPr lang="en-US" altLang="ja-JP" sz="1000">
                <a:ea typeface="MS PGothic" pitchFamily="34" charset="-128"/>
              </a:rPr>
              <a:t>&gt;20 cell</a:t>
            </a:r>
          </a:p>
        </p:txBody>
      </p:sp>
      <p:sp>
        <p:nvSpPr>
          <p:cNvPr id="48" name="Rectangle 57"/>
          <p:cNvSpPr>
            <a:spLocks noChangeArrowheads="1"/>
          </p:cNvSpPr>
          <p:nvPr/>
        </p:nvSpPr>
        <p:spPr bwMode="auto">
          <a:xfrm>
            <a:off x="4772025" y="1519238"/>
            <a:ext cx="885825" cy="285750"/>
          </a:xfrm>
          <a:prstGeom prst="rect">
            <a:avLst/>
          </a:prstGeom>
          <a:noFill/>
          <a:ln w="12700" cap="sq">
            <a:noFill/>
            <a:miter lim="800000"/>
            <a:headEnd type="none" w="sm" len="sm"/>
            <a:tailEnd type="none" w="sm" len="sm"/>
          </a:ln>
        </p:spPr>
        <p:txBody>
          <a:bodyPr/>
          <a:lstStyle/>
          <a:p>
            <a:pPr algn="ctr">
              <a:spcBef>
                <a:spcPct val="20000"/>
              </a:spcBef>
            </a:pPr>
            <a:r>
              <a:rPr lang="en-US" altLang="ja-JP" sz="1000">
                <a:ea typeface="MS PGothic" pitchFamily="34" charset="-128"/>
              </a:rPr>
              <a:t>8 cell</a:t>
            </a:r>
          </a:p>
        </p:txBody>
      </p:sp>
      <p:sp>
        <p:nvSpPr>
          <p:cNvPr id="49" name="Rectangle 58"/>
          <p:cNvSpPr>
            <a:spLocks noChangeArrowheads="1"/>
          </p:cNvSpPr>
          <p:nvPr/>
        </p:nvSpPr>
        <p:spPr bwMode="auto">
          <a:xfrm>
            <a:off x="2106613" y="1519238"/>
            <a:ext cx="792162" cy="285750"/>
          </a:xfrm>
          <a:prstGeom prst="rect">
            <a:avLst/>
          </a:prstGeom>
          <a:noFill/>
          <a:ln w="12700" cap="sq">
            <a:noFill/>
            <a:miter lim="800000"/>
            <a:headEnd type="none" w="sm" len="sm"/>
            <a:tailEnd type="none" w="sm" len="sm"/>
          </a:ln>
        </p:spPr>
        <p:txBody>
          <a:bodyPr/>
          <a:lstStyle/>
          <a:p>
            <a:pPr algn="ctr">
              <a:spcBef>
                <a:spcPct val="20000"/>
              </a:spcBef>
            </a:pPr>
            <a:r>
              <a:rPr lang="en-US" altLang="ja-JP" sz="1000">
                <a:ea typeface="MS PGothic" pitchFamily="34" charset="-128"/>
              </a:rPr>
              <a:t>3, 4 cell</a:t>
            </a:r>
          </a:p>
        </p:txBody>
      </p:sp>
      <p:sp>
        <p:nvSpPr>
          <p:cNvPr id="50" name="Rectangle 59"/>
          <p:cNvSpPr>
            <a:spLocks noChangeArrowheads="1"/>
          </p:cNvSpPr>
          <p:nvPr/>
        </p:nvSpPr>
        <p:spPr bwMode="auto">
          <a:xfrm>
            <a:off x="1171575" y="1519238"/>
            <a:ext cx="935038" cy="285750"/>
          </a:xfrm>
          <a:prstGeom prst="rect">
            <a:avLst/>
          </a:prstGeom>
          <a:noFill/>
          <a:ln w="12700" cap="sq">
            <a:noFill/>
            <a:miter lim="800000"/>
            <a:headEnd type="none" w="sm" len="sm"/>
            <a:tailEnd type="none" w="sm" len="sm"/>
          </a:ln>
        </p:spPr>
        <p:txBody>
          <a:bodyPr/>
          <a:lstStyle/>
          <a:p>
            <a:pPr>
              <a:spcBef>
                <a:spcPct val="20000"/>
              </a:spcBef>
            </a:pPr>
            <a:r>
              <a:rPr lang="en-US" altLang="ja-JP" sz="1000">
                <a:ea typeface="MS PGothic" pitchFamily="34" charset="-128"/>
              </a:rPr>
              <a:t>Application</a:t>
            </a:r>
          </a:p>
        </p:txBody>
      </p:sp>
      <p:sp>
        <p:nvSpPr>
          <p:cNvPr id="51" name="Line 60"/>
          <p:cNvSpPr>
            <a:spLocks noChangeShapeType="1"/>
          </p:cNvSpPr>
          <p:nvPr/>
        </p:nvSpPr>
        <p:spPr bwMode="auto">
          <a:xfrm>
            <a:off x="1171575" y="2549525"/>
            <a:ext cx="7874000" cy="0"/>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52" name="Line 61"/>
          <p:cNvSpPr>
            <a:spLocks noChangeShapeType="1"/>
          </p:cNvSpPr>
          <p:nvPr/>
        </p:nvSpPr>
        <p:spPr bwMode="auto">
          <a:xfrm>
            <a:off x="1171575" y="3960813"/>
            <a:ext cx="7874000" cy="0"/>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53" name="Line 62"/>
          <p:cNvSpPr>
            <a:spLocks noChangeShapeType="1"/>
          </p:cNvSpPr>
          <p:nvPr/>
        </p:nvSpPr>
        <p:spPr bwMode="auto">
          <a:xfrm flipH="1">
            <a:off x="1169988" y="1519238"/>
            <a:ext cx="1587" cy="3622675"/>
          </a:xfrm>
          <a:prstGeom prst="line">
            <a:avLst/>
          </a:prstGeom>
          <a:noFill/>
          <a:ln w="28575" cap="sq">
            <a:solidFill>
              <a:schemeClr val="tx1"/>
            </a:solidFill>
            <a:round/>
            <a:headEnd type="none" w="sm" len="sm"/>
            <a:tailEnd type="none" w="sm" len="sm"/>
          </a:ln>
        </p:spPr>
        <p:txBody>
          <a:bodyPr wrap="none"/>
          <a:lstStyle/>
          <a:p>
            <a:endParaRPr lang="zh-TW" altLang="en-US"/>
          </a:p>
        </p:txBody>
      </p:sp>
      <p:sp>
        <p:nvSpPr>
          <p:cNvPr id="54" name="Line 63"/>
          <p:cNvSpPr>
            <a:spLocks noChangeShapeType="1"/>
          </p:cNvSpPr>
          <p:nvPr/>
        </p:nvSpPr>
        <p:spPr bwMode="auto">
          <a:xfrm>
            <a:off x="2106613" y="1519238"/>
            <a:ext cx="0" cy="285750"/>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55" name="Line 64"/>
          <p:cNvSpPr>
            <a:spLocks noChangeShapeType="1"/>
          </p:cNvSpPr>
          <p:nvPr/>
        </p:nvSpPr>
        <p:spPr bwMode="auto">
          <a:xfrm>
            <a:off x="1174750" y="4573588"/>
            <a:ext cx="7875588" cy="0"/>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56" name="Line 68"/>
          <p:cNvSpPr>
            <a:spLocks noChangeShapeType="1"/>
          </p:cNvSpPr>
          <p:nvPr/>
        </p:nvSpPr>
        <p:spPr bwMode="auto">
          <a:xfrm>
            <a:off x="8267700" y="1519238"/>
            <a:ext cx="0" cy="1735137"/>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57" name="Line 69"/>
          <p:cNvSpPr>
            <a:spLocks noChangeShapeType="1"/>
          </p:cNvSpPr>
          <p:nvPr/>
        </p:nvSpPr>
        <p:spPr bwMode="auto">
          <a:xfrm>
            <a:off x="1198563" y="3263900"/>
            <a:ext cx="914400" cy="0"/>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58" name="Line 70"/>
          <p:cNvSpPr>
            <a:spLocks noChangeShapeType="1"/>
          </p:cNvSpPr>
          <p:nvPr/>
        </p:nvSpPr>
        <p:spPr bwMode="auto">
          <a:xfrm>
            <a:off x="3835400" y="1519238"/>
            <a:ext cx="0" cy="285750"/>
          </a:xfrm>
          <a:prstGeom prst="line">
            <a:avLst/>
          </a:prstGeom>
          <a:noFill/>
          <a:ln w="12700" cap="rnd">
            <a:solidFill>
              <a:schemeClr val="tx1"/>
            </a:solidFill>
            <a:round/>
            <a:headEnd type="none" w="sm" len="sm"/>
            <a:tailEnd type="none" w="sm" len="sm"/>
          </a:ln>
        </p:spPr>
        <p:txBody>
          <a:bodyPr wrap="none"/>
          <a:lstStyle/>
          <a:p>
            <a:endParaRPr lang="zh-TW" altLang="en-US"/>
          </a:p>
        </p:txBody>
      </p:sp>
      <p:sp>
        <p:nvSpPr>
          <p:cNvPr id="59" name="Line 71"/>
          <p:cNvSpPr>
            <a:spLocks noChangeShapeType="1"/>
          </p:cNvSpPr>
          <p:nvPr/>
        </p:nvSpPr>
        <p:spPr bwMode="auto">
          <a:xfrm>
            <a:off x="4772025" y="1519238"/>
            <a:ext cx="0" cy="285750"/>
          </a:xfrm>
          <a:prstGeom prst="line">
            <a:avLst/>
          </a:prstGeom>
          <a:noFill/>
          <a:ln w="12700" cap="rnd">
            <a:solidFill>
              <a:schemeClr val="tx1"/>
            </a:solidFill>
            <a:round/>
            <a:headEnd type="none" w="sm" len="sm"/>
            <a:tailEnd type="none" w="sm" len="sm"/>
          </a:ln>
        </p:spPr>
        <p:txBody>
          <a:bodyPr wrap="none"/>
          <a:lstStyle/>
          <a:p>
            <a:endParaRPr lang="zh-TW" altLang="en-US"/>
          </a:p>
        </p:txBody>
      </p:sp>
      <p:sp>
        <p:nvSpPr>
          <p:cNvPr id="60" name="Line 72"/>
          <p:cNvSpPr>
            <a:spLocks noChangeShapeType="1"/>
          </p:cNvSpPr>
          <p:nvPr/>
        </p:nvSpPr>
        <p:spPr bwMode="auto">
          <a:xfrm>
            <a:off x="3835400" y="1519238"/>
            <a:ext cx="936625" cy="0"/>
          </a:xfrm>
          <a:prstGeom prst="line">
            <a:avLst/>
          </a:prstGeom>
          <a:noFill/>
          <a:ln w="28575" cap="rnd">
            <a:solidFill>
              <a:schemeClr val="tx1"/>
            </a:solidFill>
            <a:round/>
            <a:headEnd type="none" w="sm" len="sm"/>
            <a:tailEnd type="none" w="sm" len="sm"/>
          </a:ln>
        </p:spPr>
        <p:txBody>
          <a:bodyPr wrap="none"/>
          <a:lstStyle/>
          <a:p>
            <a:endParaRPr lang="zh-TW" altLang="en-US"/>
          </a:p>
        </p:txBody>
      </p:sp>
      <p:sp>
        <p:nvSpPr>
          <p:cNvPr id="61" name="Line 73"/>
          <p:cNvSpPr>
            <a:spLocks noChangeShapeType="1"/>
          </p:cNvSpPr>
          <p:nvPr/>
        </p:nvSpPr>
        <p:spPr bwMode="auto">
          <a:xfrm>
            <a:off x="1171575" y="1519238"/>
            <a:ext cx="2663825" cy="0"/>
          </a:xfrm>
          <a:prstGeom prst="line">
            <a:avLst/>
          </a:prstGeom>
          <a:noFill/>
          <a:ln w="28575" cap="sq">
            <a:solidFill>
              <a:schemeClr val="tx1"/>
            </a:solidFill>
            <a:round/>
            <a:headEnd type="none" w="sm" len="sm"/>
            <a:tailEnd type="none" w="sm" len="sm"/>
          </a:ln>
        </p:spPr>
        <p:txBody>
          <a:bodyPr wrap="none"/>
          <a:lstStyle/>
          <a:p>
            <a:endParaRPr lang="zh-TW" altLang="en-US"/>
          </a:p>
        </p:txBody>
      </p:sp>
      <p:sp>
        <p:nvSpPr>
          <p:cNvPr id="62" name="Line 74"/>
          <p:cNvSpPr>
            <a:spLocks noChangeShapeType="1"/>
          </p:cNvSpPr>
          <p:nvPr/>
        </p:nvSpPr>
        <p:spPr bwMode="auto">
          <a:xfrm>
            <a:off x="4772025" y="1519238"/>
            <a:ext cx="4273550" cy="0"/>
          </a:xfrm>
          <a:prstGeom prst="line">
            <a:avLst/>
          </a:prstGeom>
          <a:noFill/>
          <a:ln w="28575" cap="sq">
            <a:solidFill>
              <a:schemeClr val="tx1"/>
            </a:solidFill>
            <a:round/>
            <a:headEnd type="none" w="sm" len="sm"/>
            <a:tailEnd type="none" w="sm" len="sm"/>
          </a:ln>
        </p:spPr>
        <p:txBody>
          <a:bodyPr wrap="none"/>
          <a:lstStyle/>
          <a:p>
            <a:endParaRPr lang="zh-TW" altLang="en-US"/>
          </a:p>
        </p:txBody>
      </p:sp>
      <p:sp>
        <p:nvSpPr>
          <p:cNvPr id="63" name="Line 75"/>
          <p:cNvSpPr>
            <a:spLocks noChangeShapeType="1"/>
          </p:cNvSpPr>
          <p:nvPr/>
        </p:nvSpPr>
        <p:spPr bwMode="auto">
          <a:xfrm>
            <a:off x="3862388" y="5126038"/>
            <a:ext cx="5211762" cy="0"/>
          </a:xfrm>
          <a:prstGeom prst="line">
            <a:avLst/>
          </a:prstGeom>
          <a:noFill/>
          <a:ln w="28575" cap="rnd">
            <a:solidFill>
              <a:schemeClr val="tx1"/>
            </a:solidFill>
            <a:round/>
            <a:headEnd type="none" w="sm" len="sm"/>
            <a:tailEnd type="none" w="sm" len="sm"/>
          </a:ln>
        </p:spPr>
        <p:txBody>
          <a:bodyPr wrap="none"/>
          <a:lstStyle/>
          <a:p>
            <a:endParaRPr lang="zh-TW" altLang="en-US"/>
          </a:p>
        </p:txBody>
      </p:sp>
      <p:sp>
        <p:nvSpPr>
          <p:cNvPr id="64" name="Line 76"/>
          <p:cNvSpPr>
            <a:spLocks noChangeShapeType="1"/>
          </p:cNvSpPr>
          <p:nvPr/>
        </p:nvSpPr>
        <p:spPr bwMode="auto">
          <a:xfrm>
            <a:off x="1174750" y="5126038"/>
            <a:ext cx="2663825" cy="0"/>
          </a:xfrm>
          <a:prstGeom prst="line">
            <a:avLst/>
          </a:prstGeom>
          <a:noFill/>
          <a:ln w="28575" cap="sq">
            <a:solidFill>
              <a:schemeClr val="tx1"/>
            </a:solidFill>
            <a:round/>
            <a:headEnd type="none" w="sm" len="sm"/>
            <a:tailEnd type="none" w="sm" len="sm"/>
          </a:ln>
        </p:spPr>
        <p:txBody>
          <a:bodyPr wrap="none"/>
          <a:lstStyle/>
          <a:p>
            <a:endParaRPr lang="zh-TW" altLang="en-US"/>
          </a:p>
        </p:txBody>
      </p:sp>
      <p:sp>
        <p:nvSpPr>
          <p:cNvPr id="65" name="Line 77"/>
          <p:cNvSpPr>
            <a:spLocks noChangeShapeType="1"/>
          </p:cNvSpPr>
          <p:nvPr/>
        </p:nvSpPr>
        <p:spPr bwMode="auto">
          <a:xfrm>
            <a:off x="3835400" y="1804988"/>
            <a:ext cx="0" cy="3354387"/>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66" name="Line 78"/>
          <p:cNvSpPr>
            <a:spLocks noChangeShapeType="1"/>
          </p:cNvSpPr>
          <p:nvPr/>
        </p:nvSpPr>
        <p:spPr bwMode="auto">
          <a:xfrm flipH="1">
            <a:off x="4768850" y="1804988"/>
            <a:ext cx="3175" cy="3325812"/>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67" name="Line 79"/>
          <p:cNvSpPr>
            <a:spLocks noChangeShapeType="1"/>
          </p:cNvSpPr>
          <p:nvPr/>
        </p:nvSpPr>
        <p:spPr bwMode="auto">
          <a:xfrm>
            <a:off x="1160463" y="1804988"/>
            <a:ext cx="7885112" cy="0"/>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68" name="Line 83"/>
          <p:cNvSpPr>
            <a:spLocks noChangeShapeType="1"/>
          </p:cNvSpPr>
          <p:nvPr/>
        </p:nvSpPr>
        <p:spPr bwMode="auto">
          <a:xfrm flipV="1">
            <a:off x="2112963" y="3254375"/>
            <a:ext cx="6934200" cy="9525"/>
          </a:xfrm>
          <a:prstGeom prst="line">
            <a:avLst/>
          </a:prstGeom>
          <a:noFill/>
          <a:ln w="19050">
            <a:solidFill>
              <a:schemeClr val="accent2"/>
            </a:solidFill>
            <a:round/>
            <a:headEnd type="none" w="sm" len="sm"/>
            <a:tailEnd type="none" w="sm" len="sm"/>
          </a:ln>
        </p:spPr>
        <p:txBody>
          <a:bodyPr wrap="none"/>
          <a:lstStyle/>
          <a:p>
            <a:endParaRPr lang="zh-TW" altLang="en-US"/>
          </a:p>
        </p:txBody>
      </p:sp>
      <p:sp>
        <p:nvSpPr>
          <p:cNvPr id="69" name="Line 85"/>
          <p:cNvSpPr>
            <a:spLocks noChangeShapeType="1"/>
          </p:cNvSpPr>
          <p:nvPr/>
        </p:nvSpPr>
        <p:spPr bwMode="auto">
          <a:xfrm>
            <a:off x="9045575" y="1519238"/>
            <a:ext cx="0" cy="3640137"/>
          </a:xfrm>
          <a:prstGeom prst="line">
            <a:avLst/>
          </a:prstGeom>
          <a:noFill/>
          <a:ln w="28575" cap="sq">
            <a:solidFill>
              <a:schemeClr val="tx1"/>
            </a:solidFill>
            <a:round/>
            <a:headEnd type="none" w="sm" len="sm"/>
            <a:tailEnd type="none" w="sm" len="sm"/>
          </a:ln>
        </p:spPr>
        <p:txBody>
          <a:bodyPr wrap="none"/>
          <a:lstStyle/>
          <a:p>
            <a:endParaRPr lang="zh-TW" altLang="en-US"/>
          </a:p>
        </p:txBody>
      </p:sp>
      <p:sp>
        <p:nvSpPr>
          <p:cNvPr id="70" name="Line 86"/>
          <p:cNvSpPr>
            <a:spLocks noChangeShapeType="1"/>
          </p:cNvSpPr>
          <p:nvPr/>
        </p:nvSpPr>
        <p:spPr bwMode="auto">
          <a:xfrm>
            <a:off x="2106613" y="1804988"/>
            <a:ext cx="0" cy="3354387"/>
          </a:xfrm>
          <a:prstGeom prst="line">
            <a:avLst/>
          </a:prstGeom>
          <a:noFill/>
          <a:ln w="12700" cap="sq">
            <a:solidFill>
              <a:schemeClr val="tx1"/>
            </a:solidFill>
            <a:round/>
            <a:headEnd type="none" w="sm" len="sm"/>
            <a:tailEnd type="none" w="sm" len="sm"/>
          </a:ln>
        </p:spPr>
        <p:txBody>
          <a:bodyPr wrap="none"/>
          <a:lstStyle/>
          <a:p>
            <a:endParaRPr lang="zh-TW" altLang="en-US"/>
          </a:p>
        </p:txBody>
      </p:sp>
      <p:pic>
        <p:nvPicPr>
          <p:cNvPr id="71" name="Picture 87"/>
          <p:cNvPicPr>
            <a:picLocks noChangeAspect="1" noChangeArrowheads="1"/>
          </p:cNvPicPr>
          <p:nvPr/>
        </p:nvPicPr>
        <p:blipFill>
          <a:blip r:embed="rId3" cstate="print"/>
          <a:srcRect/>
          <a:stretch>
            <a:fillRect/>
          </a:stretch>
        </p:blipFill>
        <p:spPr>
          <a:xfrm>
            <a:off x="131763" y="2578100"/>
            <a:ext cx="863600" cy="539750"/>
          </a:xfrm>
          <a:prstGeom prst="rect">
            <a:avLst/>
          </a:prstGeom>
        </p:spPr>
      </p:pic>
      <p:pic>
        <p:nvPicPr>
          <p:cNvPr id="72" name="Picture 90" descr="Prius"/>
          <p:cNvPicPr>
            <a:picLocks noChangeAspect="1" noChangeArrowheads="1"/>
          </p:cNvPicPr>
          <p:nvPr/>
        </p:nvPicPr>
        <p:blipFill>
          <a:blip r:embed="rId4" cstate="print"/>
          <a:srcRect/>
          <a:stretch>
            <a:fillRect/>
          </a:stretch>
        </p:blipFill>
        <p:spPr bwMode="auto">
          <a:xfrm>
            <a:off x="168275" y="4446588"/>
            <a:ext cx="954088" cy="762000"/>
          </a:xfrm>
          <a:prstGeom prst="rect">
            <a:avLst/>
          </a:prstGeom>
          <a:noFill/>
          <a:ln w="9525">
            <a:noFill/>
            <a:miter lim="800000"/>
            <a:headEnd/>
            <a:tailEnd/>
          </a:ln>
        </p:spPr>
      </p:pic>
      <p:pic>
        <p:nvPicPr>
          <p:cNvPr id="73" name="Picture 91" descr="APC 1"/>
          <p:cNvPicPr>
            <a:picLocks noChangeAspect="1" noChangeArrowheads="1"/>
          </p:cNvPicPr>
          <p:nvPr/>
        </p:nvPicPr>
        <p:blipFill>
          <a:blip r:embed="rId5" cstate="print"/>
          <a:srcRect/>
          <a:stretch>
            <a:fillRect/>
          </a:stretch>
        </p:blipFill>
        <p:spPr bwMode="auto">
          <a:xfrm>
            <a:off x="303213" y="3281363"/>
            <a:ext cx="762000" cy="609600"/>
          </a:xfrm>
          <a:prstGeom prst="rect">
            <a:avLst/>
          </a:prstGeom>
          <a:noFill/>
          <a:ln w="9525">
            <a:noFill/>
            <a:miter lim="800000"/>
            <a:headEnd/>
            <a:tailEnd/>
          </a:ln>
        </p:spPr>
      </p:pic>
      <p:sp>
        <p:nvSpPr>
          <p:cNvPr id="74" name="Rectangle 92"/>
          <p:cNvSpPr>
            <a:spLocks noChangeArrowheads="1"/>
          </p:cNvSpPr>
          <p:nvPr/>
        </p:nvSpPr>
        <p:spPr bwMode="auto">
          <a:xfrm>
            <a:off x="5648325" y="2547938"/>
            <a:ext cx="930275" cy="704850"/>
          </a:xfrm>
          <a:prstGeom prst="rect">
            <a:avLst/>
          </a:prstGeom>
          <a:solidFill>
            <a:srgbClr val="99CC00"/>
          </a:solidFill>
          <a:ln w="12700" cap="sq">
            <a:noFill/>
            <a:miter lim="800000"/>
            <a:headEnd type="none" w="sm" len="sm"/>
            <a:tailEnd type="none" w="sm" len="sm"/>
          </a:ln>
        </p:spPr>
        <p:txBody>
          <a:bodyPr/>
          <a:lstStyle/>
          <a:p>
            <a:pPr>
              <a:spcBef>
                <a:spcPct val="20000"/>
              </a:spcBef>
            </a:pPr>
            <a:endParaRPr lang="en-US" altLang="ja-JP" sz="1000">
              <a:latin typeface="MS PGothic" pitchFamily="34" charset="-128"/>
              <a:ea typeface="MS PGothic" pitchFamily="34" charset="-128"/>
            </a:endParaRPr>
          </a:p>
          <a:p>
            <a:pPr>
              <a:spcBef>
                <a:spcPct val="20000"/>
              </a:spcBef>
            </a:pPr>
            <a:endParaRPr lang="en-US" altLang="ja-JP" sz="1000">
              <a:latin typeface="MS PGothic" pitchFamily="34" charset="-128"/>
              <a:ea typeface="MS PGothic" pitchFamily="34" charset="-128"/>
            </a:endParaRPr>
          </a:p>
        </p:txBody>
      </p:sp>
      <p:sp>
        <p:nvSpPr>
          <p:cNvPr id="75" name="Line 93"/>
          <p:cNvSpPr>
            <a:spLocks noChangeShapeType="1"/>
          </p:cNvSpPr>
          <p:nvPr/>
        </p:nvSpPr>
        <p:spPr bwMode="auto">
          <a:xfrm flipV="1">
            <a:off x="6592888" y="2881313"/>
            <a:ext cx="2390775" cy="9525"/>
          </a:xfrm>
          <a:prstGeom prst="line">
            <a:avLst/>
          </a:prstGeom>
          <a:noFill/>
          <a:ln w="28575">
            <a:solidFill>
              <a:schemeClr val="tx1"/>
            </a:solidFill>
            <a:round/>
            <a:headEnd type="triangle" w="lg" len="lg"/>
            <a:tailEnd type="triangle" w="lg" len="lg"/>
          </a:ln>
        </p:spPr>
        <p:txBody>
          <a:bodyPr/>
          <a:lstStyle/>
          <a:p>
            <a:endParaRPr lang="zh-TW" altLang="en-US"/>
          </a:p>
        </p:txBody>
      </p:sp>
      <p:sp>
        <p:nvSpPr>
          <p:cNvPr id="76" name="Line 94"/>
          <p:cNvSpPr>
            <a:spLocks noChangeShapeType="1"/>
          </p:cNvSpPr>
          <p:nvPr/>
        </p:nvSpPr>
        <p:spPr bwMode="auto">
          <a:xfrm>
            <a:off x="2212975" y="2401888"/>
            <a:ext cx="4343400" cy="0"/>
          </a:xfrm>
          <a:prstGeom prst="line">
            <a:avLst/>
          </a:prstGeom>
          <a:noFill/>
          <a:ln w="28575">
            <a:solidFill>
              <a:schemeClr val="tx1"/>
            </a:solidFill>
            <a:round/>
            <a:headEnd type="triangle" w="lg" len="lg"/>
            <a:tailEnd type="triangle" w="lg" len="lg"/>
          </a:ln>
        </p:spPr>
        <p:txBody>
          <a:bodyPr/>
          <a:lstStyle/>
          <a:p>
            <a:endParaRPr lang="zh-TW" altLang="en-US"/>
          </a:p>
        </p:txBody>
      </p:sp>
      <p:sp>
        <p:nvSpPr>
          <p:cNvPr id="77" name="Line 95"/>
          <p:cNvSpPr>
            <a:spLocks noChangeShapeType="1"/>
          </p:cNvSpPr>
          <p:nvPr/>
        </p:nvSpPr>
        <p:spPr bwMode="auto">
          <a:xfrm>
            <a:off x="6660232" y="3789040"/>
            <a:ext cx="2352675" cy="0"/>
          </a:xfrm>
          <a:prstGeom prst="line">
            <a:avLst/>
          </a:prstGeom>
          <a:noFill/>
          <a:ln w="28575">
            <a:solidFill>
              <a:schemeClr val="tx1"/>
            </a:solidFill>
            <a:round/>
            <a:headEnd type="triangle" w="lg" len="lg"/>
            <a:tailEnd type="triangle" w="lg" len="lg"/>
          </a:ln>
        </p:spPr>
        <p:txBody>
          <a:bodyPr/>
          <a:lstStyle/>
          <a:p>
            <a:endParaRPr lang="zh-TW" altLang="en-US"/>
          </a:p>
        </p:txBody>
      </p:sp>
      <p:sp>
        <p:nvSpPr>
          <p:cNvPr id="78" name="Line 96"/>
          <p:cNvSpPr>
            <a:spLocks noChangeShapeType="1"/>
          </p:cNvSpPr>
          <p:nvPr/>
        </p:nvSpPr>
        <p:spPr bwMode="auto">
          <a:xfrm>
            <a:off x="2997200" y="2776538"/>
            <a:ext cx="3535363" cy="0"/>
          </a:xfrm>
          <a:prstGeom prst="line">
            <a:avLst/>
          </a:prstGeom>
          <a:noFill/>
          <a:ln w="28575">
            <a:solidFill>
              <a:schemeClr val="tx1"/>
            </a:solidFill>
            <a:round/>
            <a:headEnd type="triangle" w="lg" len="lg"/>
            <a:tailEnd type="triangle" w="lg" len="lg"/>
          </a:ln>
        </p:spPr>
        <p:txBody>
          <a:bodyPr/>
          <a:lstStyle/>
          <a:p>
            <a:endParaRPr lang="zh-TW" altLang="en-US"/>
          </a:p>
        </p:txBody>
      </p:sp>
      <p:sp>
        <p:nvSpPr>
          <p:cNvPr id="79" name="Text Box 97"/>
          <p:cNvSpPr txBox="1">
            <a:spLocks noChangeArrowheads="1"/>
          </p:cNvSpPr>
          <p:nvPr/>
        </p:nvSpPr>
        <p:spPr bwMode="auto">
          <a:xfrm>
            <a:off x="3079750" y="2120900"/>
            <a:ext cx="2690160" cy="246221"/>
          </a:xfrm>
          <a:prstGeom prst="rect">
            <a:avLst/>
          </a:prstGeom>
          <a:noFill/>
          <a:ln w="9525">
            <a:noFill/>
            <a:miter lim="800000"/>
            <a:headEnd/>
            <a:tailEnd/>
          </a:ln>
        </p:spPr>
        <p:txBody>
          <a:bodyPr wrap="none">
            <a:spAutoFit/>
          </a:bodyPr>
          <a:lstStyle/>
          <a:p>
            <a:r>
              <a:rPr lang="en-US" altLang="zh-TW" sz="1000" dirty="0" smtClean="0">
                <a:solidFill>
                  <a:srgbClr val="FF0000"/>
                </a:solidFill>
                <a:ea typeface="MS PGothic" pitchFamily="34" charset="-128"/>
              </a:rPr>
              <a:t>bq77908A, </a:t>
            </a:r>
            <a:r>
              <a:rPr lang="en-US" altLang="ja-JP" sz="1000" dirty="0" smtClean="0">
                <a:solidFill>
                  <a:srgbClr val="FF0000"/>
                </a:solidFill>
                <a:ea typeface="MS PGothic" pitchFamily="34" charset="-128"/>
              </a:rPr>
              <a:t>bq77910A, </a:t>
            </a:r>
            <a:r>
              <a:rPr lang="en-US" altLang="zh-TW" sz="1000" dirty="0" smtClean="0">
                <a:solidFill>
                  <a:srgbClr val="FF0000"/>
                </a:solidFill>
                <a:ea typeface="MS PGothic" pitchFamily="34" charset="-128"/>
              </a:rPr>
              <a:t>bq77PL15x, bq76930</a:t>
            </a:r>
            <a:endParaRPr lang="en-US" altLang="zh-TW" sz="1000" dirty="0">
              <a:solidFill>
                <a:srgbClr val="FF0000"/>
              </a:solidFill>
              <a:ea typeface="MS PGothic" pitchFamily="34" charset="-128"/>
            </a:endParaRPr>
          </a:p>
        </p:txBody>
      </p:sp>
      <p:sp>
        <p:nvSpPr>
          <p:cNvPr id="80" name="Line 98"/>
          <p:cNvSpPr>
            <a:spLocks noChangeShapeType="1"/>
          </p:cNvSpPr>
          <p:nvPr/>
        </p:nvSpPr>
        <p:spPr bwMode="auto">
          <a:xfrm>
            <a:off x="8215313" y="4949825"/>
            <a:ext cx="800100" cy="0"/>
          </a:xfrm>
          <a:prstGeom prst="line">
            <a:avLst/>
          </a:prstGeom>
          <a:noFill/>
          <a:ln w="28575">
            <a:solidFill>
              <a:schemeClr val="tx1"/>
            </a:solidFill>
            <a:round/>
            <a:headEnd type="triangle" w="lg" len="lg"/>
            <a:tailEnd type="triangle" w="lg" len="lg"/>
          </a:ln>
        </p:spPr>
        <p:txBody>
          <a:bodyPr/>
          <a:lstStyle/>
          <a:p>
            <a:endParaRPr lang="zh-TW" altLang="en-US"/>
          </a:p>
        </p:txBody>
      </p:sp>
      <p:sp>
        <p:nvSpPr>
          <p:cNvPr id="81" name="Text Box 99"/>
          <p:cNvSpPr txBox="1">
            <a:spLocks noChangeArrowheads="1"/>
          </p:cNvSpPr>
          <p:nvPr/>
        </p:nvSpPr>
        <p:spPr bwMode="auto">
          <a:xfrm>
            <a:off x="3903663" y="2562225"/>
            <a:ext cx="2690160" cy="246221"/>
          </a:xfrm>
          <a:prstGeom prst="rect">
            <a:avLst/>
          </a:prstGeom>
          <a:noFill/>
          <a:ln w="9525">
            <a:noFill/>
            <a:miter lim="800000"/>
            <a:headEnd/>
            <a:tailEnd/>
          </a:ln>
        </p:spPr>
        <p:txBody>
          <a:bodyPr wrap="none">
            <a:spAutoFit/>
          </a:bodyPr>
          <a:lstStyle/>
          <a:p>
            <a:r>
              <a:rPr lang="en-US" altLang="zh-TW" sz="1000" dirty="0" smtClean="0">
                <a:solidFill>
                  <a:srgbClr val="FF0000"/>
                </a:solidFill>
                <a:ea typeface="MS PGothic" pitchFamily="34" charset="-128"/>
              </a:rPr>
              <a:t>bq77908A, </a:t>
            </a:r>
            <a:r>
              <a:rPr lang="en-US" altLang="ja-JP" sz="1000" dirty="0" smtClean="0">
                <a:solidFill>
                  <a:srgbClr val="FF0000"/>
                </a:solidFill>
                <a:ea typeface="MS PGothic" pitchFamily="34" charset="-128"/>
              </a:rPr>
              <a:t>bq77910A, </a:t>
            </a:r>
            <a:r>
              <a:rPr lang="en-US" altLang="zh-TW" sz="1000" dirty="0" smtClean="0">
                <a:solidFill>
                  <a:srgbClr val="FF0000"/>
                </a:solidFill>
                <a:ea typeface="MS PGothic" pitchFamily="34" charset="-128"/>
              </a:rPr>
              <a:t>bq77PL15x, bq76930</a:t>
            </a:r>
            <a:endParaRPr lang="en-US" altLang="zh-TW" sz="1000" dirty="0">
              <a:solidFill>
                <a:srgbClr val="FF0000"/>
              </a:solidFill>
              <a:ea typeface="MS PGothic" pitchFamily="34" charset="-128"/>
            </a:endParaRPr>
          </a:p>
        </p:txBody>
      </p:sp>
      <p:sp>
        <p:nvSpPr>
          <p:cNvPr id="82" name="Text Box 100"/>
          <p:cNvSpPr txBox="1">
            <a:spLocks noChangeArrowheads="1"/>
          </p:cNvSpPr>
          <p:nvPr/>
        </p:nvSpPr>
        <p:spPr bwMode="auto">
          <a:xfrm>
            <a:off x="7446963" y="2643188"/>
            <a:ext cx="918841" cy="246221"/>
          </a:xfrm>
          <a:prstGeom prst="rect">
            <a:avLst/>
          </a:prstGeom>
          <a:noFill/>
          <a:ln w="9525">
            <a:noFill/>
            <a:miter lim="800000"/>
            <a:headEnd/>
            <a:tailEnd/>
          </a:ln>
        </p:spPr>
        <p:txBody>
          <a:bodyPr wrap="none">
            <a:spAutoFit/>
          </a:bodyPr>
          <a:lstStyle/>
          <a:p>
            <a:r>
              <a:rPr lang="en-US" altLang="ja-JP" sz="1000" dirty="0" smtClean="0">
                <a:solidFill>
                  <a:srgbClr val="FF0000"/>
                </a:solidFill>
                <a:ea typeface="MS PGothic" pitchFamily="34" charset="-128"/>
              </a:rPr>
              <a:t>bq76PL536A</a:t>
            </a:r>
            <a:endParaRPr lang="en-US" altLang="zh-TW" sz="1000" dirty="0">
              <a:solidFill>
                <a:srgbClr val="FF0000"/>
              </a:solidFill>
              <a:ea typeface="新細明體" charset="-120"/>
            </a:endParaRPr>
          </a:p>
        </p:txBody>
      </p:sp>
      <p:sp>
        <p:nvSpPr>
          <p:cNvPr id="83" name="Text Box 101"/>
          <p:cNvSpPr txBox="1">
            <a:spLocks noChangeArrowheads="1"/>
          </p:cNvSpPr>
          <p:nvPr/>
        </p:nvSpPr>
        <p:spPr bwMode="auto">
          <a:xfrm>
            <a:off x="7596336" y="4622939"/>
            <a:ext cx="1409360" cy="246221"/>
          </a:xfrm>
          <a:prstGeom prst="rect">
            <a:avLst/>
          </a:prstGeom>
          <a:noFill/>
          <a:ln w="9525">
            <a:noFill/>
            <a:miter lim="800000"/>
            <a:headEnd/>
            <a:tailEnd/>
          </a:ln>
        </p:spPr>
        <p:txBody>
          <a:bodyPr wrap="none">
            <a:spAutoFit/>
          </a:bodyPr>
          <a:lstStyle/>
          <a:p>
            <a:r>
              <a:rPr lang="en-US" altLang="zh-TW" sz="1000" dirty="0" smtClean="0">
                <a:solidFill>
                  <a:srgbClr val="FF0000"/>
                </a:solidFill>
                <a:ea typeface="MS PGothic" pitchFamily="34" charset="-128"/>
              </a:rPr>
              <a:t>EMB1454, EMB1451</a:t>
            </a:r>
            <a:endParaRPr lang="en-US" altLang="zh-TW" sz="1000" dirty="0">
              <a:solidFill>
                <a:srgbClr val="FF0000"/>
              </a:solidFill>
              <a:ea typeface="新細明體" charset="-120"/>
            </a:endParaRPr>
          </a:p>
        </p:txBody>
      </p:sp>
      <p:sp>
        <p:nvSpPr>
          <p:cNvPr id="84" name="Line 103"/>
          <p:cNvSpPr>
            <a:spLocks noChangeShapeType="1"/>
          </p:cNvSpPr>
          <p:nvPr/>
        </p:nvSpPr>
        <p:spPr bwMode="auto">
          <a:xfrm flipH="1">
            <a:off x="2974975" y="1519238"/>
            <a:ext cx="14288" cy="3598862"/>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85" name="Line 104"/>
          <p:cNvSpPr>
            <a:spLocks noChangeShapeType="1"/>
          </p:cNvSpPr>
          <p:nvPr/>
        </p:nvSpPr>
        <p:spPr bwMode="auto">
          <a:xfrm>
            <a:off x="2267744" y="3140969"/>
            <a:ext cx="5976664" cy="0"/>
          </a:xfrm>
          <a:prstGeom prst="line">
            <a:avLst/>
          </a:prstGeom>
          <a:noFill/>
          <a:ln w="28575">
            <a:solidFill>
              <a:schemeClr val="tx1"/>
            </a:solidFill>
            <a:round/>
            <a:headEnd type="triangle" w="lg" len="lg"/>
            <a:tailEnd type="triangle" w="lg" len="lg"/>
          </a:ln>
        </p:spPr>
        <p:txBody>
          <a:bodyPr/>
          <a:lstStyle/>
          <a:p>
            <a:endParaRPr lang="zh-TW" altLang="en-US"/>
          </a:p>
        </p:txBody>
      </p:sp>
      <p:sp>
        <p:nvSpPr>
          <p:cNvPr id="86" name="Text Box 105"/>
          <p:cNvSpPr txBox="1">
            <a:spLocks noChangeArrowheads="1"/>
          </p:cNvSpPr>
          <p:nvPr/>
        </p:nvSpPr>
        <p:spPr bwMode="auto">
          <a:xfrm>
            <a:off x="3923928" y="2924944"/>
            <a:ext cx="3313728" cy="246221"/>
          </a:xfrm>
          <a:prstGeom prst="rect">
            <a:avLst/>
          </a:prstGeom>
          <a:noFill/>
          <a:ln w="9525">
            <a:noFill/>
            <a:miter lim="800000"/>
            <a:headEnd/>
            <a:tailEnd/>
          </a:ln>
        </p:spPr>
        <p:txBody>
          <a:bodyPr wrap="none">
            <a:spAutoFit/>
          </a:bodyPr>
          <a:lstStyle/>
          <a:p>
            <a:r>
              <a:rPr lang="en-US" altLang="zh-TW" sz="1000" dirty="0" smtClean="0">
                <a:solidFill>
                  <a:srgbClr val="FF0000"/>
                </a:solidFill>
                <a:ea typeface="MS PGothic" pitchFamily="34" charset="-128"/>
              </a:rPr>
              <a:t>bq77908A stack , bq77910A stack , bq76940 , bq76950</a:t>
            </a:r>
            <a:endParaRPr lang="en-US" altLang="zh-TW" sz="1000" dirty="0">
              <a:solidFill>
                <a:srgbClr val="FF0000"/>
              </a:solidFill>
              <a:ea typeface="MS PGothic" pitchFamily="34" charset="-128"/>
            </a:endParaRPr>
          </a:p>
        </p:txBody>
      </p:sp>
      <p:sp>
        <p:nvSpPr>
          <p:cNvPr id="87" name="Text Box 108"/>
          <p:cNvSpPr txBox="1">
            <a:spLocks noChangeArrowheads="1"/>
          </p:cNvSpPr>
          <p:nvPr/>
        </p:nvSpPr>
        <p:spPr bwMode="auto">
          <a:xfrm>
            <a:off x="7452320" y="3573016"/>
            <a:ext cx="918841" cy="246221"/>
          </a:xfrm>
          <a:prstGeom prst="rect">
            <a:avLst/>
          </a:prstGeom>
          <a:noFill/>
          <a:ln w="9525">
            <a:noFill/>
            <a:miter lim="800000"/>
            <a:headEnd/>
            <a:tailEnd/>
          </a:ln>
        </p:spPr>
        <p:txBody>
          <a:bodyPr wrap="none">
            <a:spAutoFit/>
          </a:bodyPr>
          <a:lstStyle/>
          <a:p>
            <a:r>
              <a:rPr lang="en-US" altLang="ja-JP" sz="1000" dirty="0" smtClean="0">
                <a:solidFill>
                  <a:srgbClr val="FF0000"/>
                </a:solidFill>
                <a:ea typeface="MS PGothic" pitchFamily="34" charset="-128"/>
              </a:rPr>
              <a:t>bq76PL536A</a:t>
            </a:r>
            <a:endParaRPr lang="en-US" altLang="zh-TW" sz="1000" dirty="0">
              <a:solidFill>
                <a:srgbClr val="FF0000"/>
              </a:solidFill>
              <a:ea typeface="新細明體" charset="-120"/>
            </a:endParaRPr>
          </a:p>
        </p:txBody>
      </p:sp>
      <p:sp>
        <p:nvSpPr>
          <p:cNvPr id="88" name="Line 110"/>
          <p:cNvSpPr>
            <a:spLocks noChangeShapeType="1"/>
          </p:cNvSpPr>
          <p:nvPr/>
        </p:nvSpPr>
        <p:spPr bwMode="auto">
          <a:xfrm>
            <a:off x="2189163" y="3595688"/>
            <a:ext cx="5254625" cy="0"/>
          </a:xfrm>
          <a:prstGeom prst="line">
            <a:avLst/>
          </a:prstGeom>
          <a:noFill/>
          <a:ln w="28575">
            <a:solidFill>
              <a:schemeClr val="tx1"/>
            </a:solidFill>
            <a:round/>
            <a:headEnd type="triangle" w="lg" len="lg"/>
            <a:tailEnd type="triangle" w="lg" len="lg"/>
          </a:ln>
        </p:spPr>
        <p:txBody>
          <a:bodyPr/>
          <a:lstStyle/>
          <a:p>
            <a:endParaRPr lang="zh-TW" altLang="en-US"/>
          </a:p>
        </p:txBody>
      </p:sp>
      <p:sp>
        <p:nvSpPr>
          <p:cNvPr id="89" name="Text Box 111"/>
          <p:cNvSpPr txBox="1">
            <a:spLocks noChangeArrowheads="1"/>
          </p:cNvSpPr>
          <p:nvPr/>
        </p:nvSpPr>
        <p:spPr bwMode="auto">
          <a:xfrm>
            <a:off x="3292475" y="3311525"/>
            <a:ext cx="2563813" cy="244475"/>
          </a:xfrm>
          <a:prstGeom prst="rect">
            <a:avLst/>
          </a:prstGeom>
          <a:solidFill>
            <a:srgbClr val="FFFF99"/>
          </a:solidFill>
          <a:ln w="9525">
            <a:noFill/>
            <a:miter lim="800000"/>
            <a:headEnd/>
            <a:tailEnd/>
          </a:ln>
        </p:spPr>
        <p:txBody>
          <a:bodyPr>
            <a:spAutoFit/>
          </a:bodyPr>
          <a:lstStyle/>
          <a:p>
            <a:endParaRPr lang="en-US" altLang="zh-TW" sz="1000" dirty="0">
              <a:ea typeface="新細明體" charset="-120"/>
            </a:endParaRPr>
          </a:p>
        </p:txBody>
      </p:sp>
      <p:sp>
        <p:nvSpPr>
          <p:cNvPr id="90" name="Line 94"/>
          <p:cNvSpPr>
            <a:spLocks noChangeShapeType="1"/>
          </p:cNvSpPr>
          <p:nvPr/>
        </p:nvSpPr>
        <p:spPr bwMode="auto">
          <a:xfrm flipV="1">
            <a:off x="2163763" y="2114550"/>
            <a:ext cx="1701800" cy="0"/>
          </a:xfrm>
          <a:prstGeom prst="line">
            <a:avLst/>
          </a:prstGeom>
          <a:noFill/>
          <a:ln w="28575">
            <a:solidFill>
              <a:schemeClr val="tx1"/>
            </a:solidFill>
            <a:round/>
            <a:headEnd type="triangle" w="lg" len="lg"/>
            <a:tailEnd type="triangle" w="lg" len="lg"/>
          </a:ln>
        </p:spPr>
        <p:txBody>
          <a:bodyPr/>
          <a:lstStyle/>
          <a:p>
            <a:endParaRPr lang="zh-TW" altLang="en-US"/>
          </a:p>
        </p:txBody>
      </p:sp>
      <p:sp>
        <p:nvSpPr>
          <p:cNvPr id="91" name="Text Box 97"/>
          <p:cNvSpPr txBox="1">
            <a:spLocks noChangeArrowheads="1"/>
          </p:cNvSpPr>
          <p:nvPr/>
        </p:nvSpPr>
        <p:spPr bwMode="auto">
          <a:xfrm>
            <a:off x="2392363" y="1876425"/>
            <a:ext cx="1242648" cy="246221"/>
          </a:xfrm>
          <a:prstGeom prst="rect">
            <a:avLst/>
          </a:prstGeom>
          <a:noFill/>
          <a:ln w="9525">
            <a:noFill/>
            <a:miter lim="800000"/>
            <a:headEnd/>
            <a:tailEnd/>
          </a:ln>
        </p:spPr>
        <p:txBody>
          <a:bodyPr wrap="none">
            <a:spAutoFit/>
          </a:bodyPr>
          <a:lstStyle/>
          <a:p>
            <a:r>
              <a:rPr lang="en-US" altLang="zh-TW" sz="1000" dirty="0">
                <a:solidFill>
                  <a:srgbClr val="FF0000"/>
                </a:solidFill>
                <a:ea typeface="MS PGothic" pitchFamily="34" charset="-128"/>
              </a:rPr>
              <a:t>b</a:t>
            </a:r>
            <a:r>
              <a:rPr lang="en-US" altLang="zh-TW" sz="1000" dirty="0" smtClean="0">
                <a:solidFill>
                  <a:srgbClr val="FF0000"/>
                </a:solidFill>
                <a:ea typeface="MS PGothic" pitchFamily="34" charset="-128"/>
              </a:rPr>
              <a:t>q76925, bq76920</a:t>
            </a:r>
            <a:endParaRPr lang="en-US" altLang="zh-TW" sz="1000" dirty="0">
              <a:solidFill>
                <a:srgbClr val="FF0000"/>
              </a:solidFill>
              <a:ea typeface="MS PGothic" pitchFamily="34" charset="-128"/>
            </a:endParaRPr>
          </a:p>
        </p:txBody>
      </p:sp>
      <p:sp>
        <p:nvSpPr>
          <p:cNvPr id="92" name="Line 78"/>
          <p:cNvSpPr>
            <a:spLocks noChangeShapeType="1"/>
          </p:cNvSpPr>
          <p:nvPr/>
        </p:nvSpPr>
        <p:spPr bwMode="auto">
          <a:xfrm flipH="1">
            <a:off x="6583363" y="1778000"/>
            <a:ext cx="4762" cy="3325813"/>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93" name="Line 78"/>
          <p:cNvSpPr>
            <a:spLocks noChangeShapeType="1"/>
          </p:cNvSpPr>
          <p:nvPr/>
        </p:nvSpPr>
        <p:spPr bwMode="auto">
          <a:xfrm flipH="1">
            <a:off x="7426325" y="1801813"/>
            <a:ext cx="4763" cy="3325812"/>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94" name="Line 78"/>
          <p:cNvSpPr>
            <a:spLocks noChangeShapeType="1"/>
          </p:cNvSpPr>
          <p:nvPr/>
        </p:nvSpPr>
        <p:spPr bwMode="auto">
          <a:xfrm flipH="1">
            <a:off x="8269288" y="1790700"/>
            <a:ext cx="4762" cy="3325813"/>
          </a:xfrm>
          <a:prstGeom prst="line">
            <a:avLst/>
          </a:prstGeom>
          <a:noFill/>
          <a:ln w="12700">
            <a:solidFill>
              <a:schemeClr val="tx1"/>
            </a:solidFill>
            <a:round/>
            <a:headEnd type="none" w="sm" len="sm"/>
            <a:tailEnd type="none" w="sm" len="sm"/>
          </a:ln>
        </p:spPr>
        <p:txBody>
          <a:bodyPr wrap="none"/>
          <a:lstStyle/>
          <a:p>
            <a:endParaRPr lang="zh-TW" altLang="en-US"/>
          </a:p>
        </p:txBody>
      </p:sp>
      <p:sp>
        <p:nvSpPr>
          <p:cNvPr id="95" name="Text Box 105"/>
          <p:cNvSpPr txBox="1">
            <a:spLocks noChangeArrowheads="1"/>
          </p:cNvSpPr>
          <p:nvPr/>
        </p:nvSpPr>
        <p:spPr bwMode="auto">
          <a:xfrm>
            <a:off x="3563888" y="3398803"/>
            <a:ext cx="3313728" cy="246221"/>
          </a:xfrm>
          <a:prstGeom prst="rect">
            <a:avLst/>
          </a:prstGeom>
          <a:noFill/>
          <a:ln w="9525">
            <a:noFill/>
            <a:miter lim="800000"/>
            <a:headEnd/>
            <a:tailEnd/>
          </a:ln>
        </p:spPr>
        <p:txBody>
          <a:bodyPr wrap="none">
            <a:spAutoFit/>
          </a:bodyPr>
          <a:lstStyle/>
          <a:p>
            <a:r>
              <a:rPr lang="en-US" altLang="zh-TW" sz="1000" dirty="0" smtClean="0">
                <a:solidFill>
                  <a:srgbClr val="FF0000"/>
                </a:solidFill>
                <a:ea typeface="MS PGothic" pitchFamily="34" charset="-128"/>
              </a:rPr>
              <a:t>bq77908A stack , bq77910A stack , bq76940 , bq76950</a:t>
            </a:r>
            <a:endParaRPr lang="en-US" altLang="zh-TW" sz="1000" dirty="0">
              <a:solidFill>
                <a:srgbClr val="FF0000"/>
              </a:solidFill>
              <a:ea typeface="MS PGothic" pitchFamily="34" charset="-128"/>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0" y="44624"/>
            <a:ext cx="9144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0" cap="none" spc="0" normalizeH="0" baseline="0" noProof="0" dirty="0" smtClean="0">
                <a:ln>
                  <a:noFill/>
                </a:ln>
                <a:solidFill>
                  <a:srgbClr val="6600FF"/>
                </a:solidFill>
                <a:effectLst>
                  <a:outerShdw blurRad="38100" dist="38100" dir="2700000" algn="tl">
                    <a:srgbClr val="000000">
                      <a:alpha val="43137"/>
                    </a:srgbClr>
                  </a:outerShdw>
                </a:effectLst>
                <a:uLnTx/>
                <a:uFillTx/>
                <a:latin typeface="Times New Roman" pitchFamily="18" charset="0"/>
                <a:cs typeface="Times New Roman" pitchFamily="18" charset="0"/>
              </a:rPr>
              <a:t>Monitoring – Balancing – Protecting </a:t>
            </a:r>
            <a:r>
              <a:rPr kumimoji="1" lang="en-US" altLang="zh-TW" sz="2000" b="1" i="0" u="none" strike="noStrike" kern="0" cap="none" spc="0" normalizeH="0" baseline="0" noProof="0" dirty="0" smtClean="0">
                <a:ln>
                  <a:noFill/>
                </a:ln>
                <a:solidFill>
                  <a:srgbClr val="6600FF"/>
                </a:solidFill>
                <a:effectLst>
                  <a:outerShdw blurRad="38100" dist="38100" dir="2700000" algn="tl">
                    <a:srgbClr val="000000">
                      <a:alpha val="43137"/>
                    </a:srgbClr>
                  </a:outerShdw>
                </a:effectLst>
                <a:uLnTx/>
                <a:uFillTx/>
                <a:latin typeface="Times New Roman" pitchFamily="18" charset="0"/>
                <a:cs typeface="Times New Roman" pitchFamily="18" charset="0"/>
              </a:rPr>
              <a:t>(1 /3 page ) </a:t>
            </a:r>
          </a:p>
        </p:txBody>
      </p:sp>
      <p:sp>
        <p:nvSpPr>
          <p:cNvPr id="5" name="Rectangle 3"/>
          <p:cNvSpPr>
            <a:spLocks noChangeArrowheads="1"/>
          </p:cNvSpPr>
          <p:nvPr/>
        </p:nvSpPr>
        <p:spPr bwMode="auto">
          <a:xfrm>
            <a:off x="2807842" y="836712"/>
            <a:ext cx="1751012"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6" name="Text Box 4"/>
          <p:cNvSpPr txBox="1">
            <a:spLocks noChangeArrowheads="1"/>
          </p:cNvSpPr>
          <p:nvPr/>
        </p:nvSpPr>
        <p:spPr bwMode="auto">
          <a:xfrm>
            <a:off x="2855467" y="2346473"/>
            <a:ext cx="1738312" cy="2400300"/>
          </a:xfrm>
          <a:prstGeom prst="rect">
            <a:avLst/>
          </a:prstGeom>
          <a:noFill/>
          <a:ln w="9525" algn="ctr">
            <a:noFill/>
            <a:miter lim="800000"/>
            <a:headEnd/>
            <a:tailEnd/>
          </a:ln>
        </p:spPr>
        <p:txBody>
          <a:bodyPr/>
          <a:lstStyle/>
          <a:p>
            <a:pPr marL="114300" indent="-114300" eaLnBrk="0" hangingPunct="0"/>
            <a:endParaRPr lang="en-US" altLang="zh-TW" sz="1200" dirty="0">
              <a:latin typeface="Helvetica" pitchFamily="34" charset="0"/>
              <a:ea typeface="新細明體" charset="-120"/>
            </a:endParaRPr>
          </a:p>
          <a:p>
            <a:pPr marL="114300" indent="-114300" eaLnBrk="0" hangingPunct="0"/>
            <a:endParaRPr lang="en-US" altLang="zh-TW" sz="1200" dirty="0">
              <a:latin typeface="Helvetica" pitchFamily="34" charset="0"/>
              <a:ea typeface="新細明體" charset="-120"/>
            </a:endParaRPr>
          </a:p>
        </p:txBody>
      </p:sp>
      <p:sp>
        <p:nvSpPr>
          <p:cNvPr id="7" name="Rectangle 5"/>
          <p:cNvSpPr>
            <a:spLocks noChangeArrowheads="1"/>
          </p:cNvSpPr>
          <p:nvPr/>
        </p:nvSpPr>
        <p:spPr bwMode="auto">
          <a:xfrm>
            <a:off x="4587279" y="836712"/>
            <a:ext cx="1712913"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8" name="Text Box 6"/>
          <p:cNvSpPr txBox="1">
            <a:spLocks noChangeArrowheads="1"/>
          </p:cNvSpPr>
          <p:nvPr/>
        </p:nvSpPr>
        <p:spPr bwMode="auto">
          <a:xfrm>
            <a:off x="4628704" y="2041673"/>
            <a:ext cx="1728788" cy="24765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主动保护与电池平衡</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可单机工作</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4 to 10 Li Cells</a:t>
            </a: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u="sng"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电池掉电检测</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OV, UV, OT, SC, OCD, OCC</a:t>
            </a:r>
            <a:r>
              <a:rPr lang="zh-TW" altLang="en-US" sz="1200" dirty="0" smtClean="0">
                <a:latin typeface="微軟正黑體" pitchFamily="34" charset="-120"/>
                <a:ea typeface="微軟正黑體" pitchFamily="34" charset="-120"/>
              </a:rPr>
              <a:t>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电阻式平衡</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50mA</a:t>
            </a:r>
            <a:r>
              <a:rPr lang="en-US" altLang="zh-TW" sz="1200" dirty="0" smtClean="0">
                <a:latin typeface="微軟正黑體" pitchFamily="34" charset="-120"/>
                <a:ea typeface="微軟正黑體" pitchFamily="34" charset="-120"/>
              </a:rPr>
              <a:t> </a:t>
            </a:r>
            <a:r>
              <a:rPr lang="zh-CN" altLang="en-US" sz="1200" dirty="0" smtClean="0">
                <a:latin typeface="微軟正黑體" pitchFamily="34" charset="-120"/>
                <a:ea typeface="微軟正黑體" pitchFamily="34" charset="-120"/>
              </a:rPr>
              <a:t>内部均衡电流</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NFET</a:t>
            </a:r>
            <a:r>
              <a:rPr lang="en-US" altLang="zh-TW" sz="1200" dirty="0">
                <a:latin typeface="微軟正黑體" pitchFamily="34" charset="-120"/>
                <a:ea typeface="微軟正黑體" pitchFamily="34" charset="-120"/>
              </a:rPr>
              <a:t> </a:t>
            </a:r>
            <a:r>
              <a:rPr lang="zh-TW" altLang="en-US" sz="1200" dirty="0" smtClean="0">
                <a:latin typeface="微軟正黑體" pitchFamily="34" charset="-120"/>
                <a:ea typeface="微軟正黑體" pitchFamily="34" charset="-120"/>
              </a:rPr>
              <a:t>驱动</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提供</a:t>
            </a:r>
            <a:r>
              <a:rPr lang="en-US" altLang="zh-TW" sz="1200" dirty="0" smtClean="0">
                <a:latin typeface="微軟正黑體" pitchFamily="34" charset="-120"/>
                <a:ea typeface="微軟正黑體" pitchFamily="34" charset="-120"/>
              </a:rPr>
              <a:t>3.3V</a:t>
            </a:r>
            <a:r>
              <a:rPr lang="zh-TW" altLang="en-US" sz="1200" dirty="0" smtClean="0">
                <a:latin typeface="微軟正黑體" pitchFamily="34" charset="-120"/>
                <a:ea typeface="微軟正黑體" pitchFamily="34" charset="-120"/>
              </a:rPr>
              <a:t>稳压输出</a:t>
            </a:r>
            <a:endParaRPr lang="en-US" altLang="zh-TW" sz="1200" u="sng" dirty="0">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38-pin SSOP</a:t>
            </a:r>
          </a:p>
        </p:txBody>
      </p:sp>
      <p:sp>
        <p:nvSpPr>
          <p:cNvPr id="9" name="Rectangle 7"/>
          <p:cNvSpPr>
            <a:spLocks noChangeArrowheads="1"/>
          </p:cNvSpPr>
          <p:nvPr/>
        </p:nvSpPr>
        <p:spPr bwMode="auto">
          <a:xfrm>
            <a:off x="971600" y="836712"/>
            <a:ext cx="1776412"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10" name="Text Box 8"/>
          <p:cNvSpPr txBox="1">
            <a:spLocks noChangeArrowheads="1"/>
          </p:cNvSpPr>
          <p:nvPr/>
        </p:nvSpPr>
        <p:spPr bwMode="auto">
          <a:xfrm>
            <a:off x="969517" y="2016273"/>
            <a:ext cx="1905000" cy="29718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电池过压保护</a:t>
            </a:r>
            <a:endParaRPr lang="en-US" altLang="zh-TW" sz="1200" b="1" dirty="0">
              <a:latin typeface="微軟正黑體" pitchFamily="34" charset="-120"/>
              <a:ea typeface="微軟正黑體" pitchFamily="34" charset="-120"/>
            </a:endParaRPr>
          </a:p>
          <a:p>
            <a:pPr marL="114300" indent="-114300" eaLnBrk="0" hangingPunct="0">
              <a:buFontTx/>
              <a:buChar char="•"/>
            </a:pPr>
            <a:r>
              <a:rPr lang="en-US" altLang="zh-TW" sz="1200" dirty="0">
                <a:latin typeface="微軟正黑體" pitchFamily="34" charset="-120"/>
                <a:ea typeface="微軟正黑體" pitchFamily="34" charset="-120"/>
              </a:rPr>
              <a:t>3 to 6 Li Cells</a:t>
            </a:r>
          </a:p>
          <a:p>
            <a:pPr marL="114300" indent="-114300" eaLnBrk="0" hangingPunct="0">
              <a:buFontTx/>
              <a:buChar char="•"/>
            </a:pPr>
            <a:r>
              <a:rPr lang="zh-TW" altLang="en-US" sz="1200" u="sng" dirty="0" smtClean="0">
                <a:latin typeface="微軟正黑體" pitchFamily="34" charset="-120"/>
                <a:ea typeface="微軟正黑體" pitchFamily="34" charset="-120"/>
              </a:rPr>
              <a:t>可堆栈</a:t>
            </a:r>
            <a:r>
              <a:rPr lang="en-US" altLang="zh-TW" sz="1200" u="sng" dirty="0" smtClean="0">
                <a:latin typeface="微軟正黑體" pitchFamily="34" charset="-120"/>
                <a:ea typeface="微軟正黑體" pitchFamily="34" charset="-120"/>
              </a:rPr>
              <a:t>to </a:t>
            </a:r>
            <a:r>
              <a:rPr lang="en-US" altLang="zh-TW" sz="1200" u="sng" dirty="0">
                <a:latin typeface="微軟正黑體" pitchFamily="34" charset="-120"/>
                <a:ea typeface="微軟正黑體" pitchFamily="34" charset="-120"/>
              </a:rPr>
              <a:t>18+ Cells</a:t>
            </a: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u="sng" dirty="0">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NFET</a:t>
            </a:r>
            <a:r>
              <a:rPr lang="en-US" altLang="zh-TW" sz="1200" dirty="0">
                <a:latin typeface="微軟正黑體" pitchFamily="34" charset="-120"/>
                <a:ea typeface="微軟正黑體" pitchFamily="34" charset="-120"/>
              </a:rPr>
              <a:t> </a:t>
            </a:r>
            <a:r>
              <a:rPr lang="zh-TW" altLang="en-US" sz="1200" dirty="0" smtClean="0">
                <a:latin typeface="微軟正黑體" pitchFamily="34" charset="-120"/>
                <a:ea typeface="微軟正黑體" pitchFamily="34" charset="-120"/>
              </a:rPr>
              <a:t>驱动</a:t>
            </a:r>
            <a:endParaRPr lang="en-US" altLang="zh-TW" sz="1200"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精准过压检测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电池平衡检测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可回复式或栓锁输出</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超低自耗电</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16-pin </a:t>
            </a:r>
            <a:r>
              <a:rPr lang="en-US" altLang="zh-TW" sz="1200" dirty="0">
                <a:latin typeface="微軟正黑體" pitchFamily="34" charset="-120"/>
                <a:ea typeface="微軟正黑體" pitchFamily="34" charset="-120"/>
              </a:rPr>
              <a:t>SSOP</a:t>
            </a:r>
          </a:p>
        </p:txBody>
      </p:sp>
      <p:sp>
        <p:nvSpPr>
          <p:cNvPr id="11" name="Text Box 9"/>
          <p:cNvSpPr txBox="1">
            <a:spLocks noChangeArrowheads="1"/>
          </p:cNvSpPr>
          <p:nvPr/>
        </p:nvSpPr>
        <p:spPr bwMode="auto">
          <a:xfrm>
            <a:off x="296417" y="5991373"/>
            <a:ext cx="8477001" cy="276999"/>
          </a:xfrm>
          <a:prstGeom prst="rect">
            <a:avLst/>
          </a:prstGeom>
          <a:noFill/>
          <a:ln w="9525">
            <a:noFill/>
            <a:miter lim="800000"/>
            <a:headEnd/>
            <a:tailEnd/>
          </a:ln>
        </p:spPr>
        <p:txBody>
          <a:bodyPr wrap="none">
            <a:spAutoFit/>
          </a:bodyPr>
          <a:lstStyle/>
          <a:p>
            <a:r>
              <a:rPr lang="en-US" altLang="zh-TW" sz="1200" dirty="0" smtClean="0">
                <a:ea typeface="新細明體" charset="-120"/>
              </a:rPr>
              <a:t>Notes:</a:t>
            </a:r>
            <a:r>
              <a:rPr lang="zh-TW" altLang="en-US" sz="1200" dirty="0" smtClean="0">
                <a:ea typeface="新細明體" charset="-120"/>
              </a:rPr>
              <a:t> </a:t>
            </a:r>
            <a:r>
              <a:rPr lang="en-US" altLang="zh-TW" sz="1200" dirty="0" smtClean="0">
                <a:ea typeface="新細明體" charset="-120"/>
              </a:rPr>
              <a:t>OV=</a:t>
            </a:r>
            <a:r>
              <a:rPr lang="zh-TW" altLang="en-US" sz="1200" dirty="0" smtClean="0">
                <a:ea typeface="新細明體" charset="-120"/>
              </a:rPr>
              <a:t>过压</a:t>
            </a:r>
            <a:r>
              <a:rPr lang="en-US" altLang="zh-TW" sz="1200" dirty="0" smtClean="0">
                <a:ea typeface="新細明體" charset="-120"/>
              </a:rPr>
              <a:t>, UV=</a:t>
            </a:r>
            <a:r>
              <a:rPr lang="zh-TW" altLang="en-US" sz="1200" dirty="0" smtClean="0">
                <a:ea typeface="新細明體" charset="-120"/>
              </a:rPr>
              <a:t>欠压</a:t>
            </a:r>
            <a:r>
              <a:rPr lang="en-US" altLang="zh-TW" sz="1200" dirty="0" smtClean="0">
                <a:ea typeface="新細明體" charset="-120"/>
              </a:rPr>
              <a:t>, OT=</a:t>
            </a:r>
            <a:r>
              <a:rPr lang="zh-TW" altLang="en-US" sz="1200" dirty="0" smtClean="0">
                <a:ea typeface="新細明體" charset="-120"/>
              </a:rPr>
              <a:t>过温</a:t>
            </a:r>
            <a:r>
              <a:rPr lang="en-US" altLang="zh-TW" sz="1200" dirty="0" smtClean="0">
                <a:ea typeface="新細明體" charset="-120"/>
              </a:rPr>
              <a:t>, SC=</a:t>
            </a:r>
            <a:r>
              <a:rPr lang="zh-TW" altLang="en-US" sz="1200" dirty="0" smtClean="0">
                <a:ea typeface="新細明體" charset="-120"/>
              </a:rPr>
              <a:t>短路</a:t>
            </a:r>
            <a:r>
              <a:rPr lang="en-US" altLang="zh-TW" sz="1200" dirty="0" smtClean="0">
                <a:ea typeface="新細明體" charset="-120"/>
              </a:rPr>
              <a:t>,OP=</a:t>
            </a:r>
            <a:r>
              <a:rPr lang="zh-CN" altLang="en-US" sz="1200" dirty="0" smtClean="0">
                <a:ea typeface="新細明體" charset="-120"/>
              </a:rPr>
              <a:t>电池掉电检测</a:t>
            </a:r>
            <a:r>
              <a:rPr lang="en-US" altLang="zh-TW" sz="1200" dirty="0" smtClean="0">
                <a:ea typeface="新細明體" charset="-120"/>
              </a:rPr>
              <a:t>, OCD=</a:t>
            </a:r>
            <a:r>
              <a:rPr lang="zh-TW" altLang="en-US" sz="1200" dirty="0" smtClean="0">
                <a:ea typeface="新細明體" charset="-120"/>
              </a:rPr>
              <a:t>放电过电流</a:t>
            </a:r>
            <a:r>
              <a:rPr lang="en-US" altLang="zh-TW" sz="1200" dirty="0" smtClean="0">
                <a:ea typeface="新細明體" charset="-120"/>
              </a:rPr>
              <a:t>, OCC=</a:t>
            </a:r>
            <a:r>
              <a:rPr lang="zh-TW" altLang="en-US" sz="1200" dirty="0" smtClean="0">
                <a:ea typeface="新細明體" charset="-120"/>
              </a:rPr>
              <a:t>充电过电流</a:t>
            </a:r>
            <a:r>
              <a:rPr lang="en-US" altLang="zh-TW" sz="1200" dirty="0" smtClean="0">
                <a:ea typeface="新細明體" charset="-120"/>
              </a:rPr>
              <a:t>, IT=</a:t>
            </a:r>
            <a:r>
              <a:rPr lang="zh-CN" altLang="en-US" sz="1200" dirty="0" smtClean="0">
                <a:ea typeface="新細明體" charset="-120"/>
              </a:rPr>
              <a:t>阻抗追踪技术</a:t>
            </a:r>
            <a:endParaRPr lang="en-US" altLang="zh-TW" sz="1200" dirty="0">
              <a:ea typeface="新細明體" charset="-120"/>
            </a:endParaRPr>
          </a:p>
        </p:txBody>
      </p:sp>
      <p:grpSp>
        <p:nvGrpSpPr>
          <p:cNvPr id="12" name="Group 10"/>
          <p:cNvGrpSpPr>
            <a:grpSpLocks/>
          </p:cNvGrpSpPr>
          <p:nvPr/>
        </p:nvGrpSpPr>
        <p:grpSpPr bwMode="auto">
          <a:xfrm>
            <a:off x="4908104" y="873273"/>
            <a:ext cx="1220788" cy="914400"/>
            <a:chOff x="2255" y="576"/>
            <a:chExt cx="769" cy="576"/>
          </a:xfrm>
        </p:grpSpPr>
        <p:sp>
          <p:nvSpPr>
            <p:cNvPr id="13" name="Rectangle 11"/>
            <p:cNvSpPr>
              <a:spLocks noChangeArrowheads="1"/>
            </p:cNvSpPr>
            <p:nvPr/>
          </p:nvSpPr>
          <p:spPr bwMode="auto">
            <a:xfrm>
              <a:off x="2255" y="576"/>
              <a:ext cx="768" cy="336"/>
            </a:xfrm>
            <a:prstGeom prst="rect">
              <a:avLst/>
            </a:prstGeom>
            <a:solidFill>
              <a:srgbClr val="00B05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00B050"/>
              </a:extrusionClr>
            </a:sp3d>
          </p:spPr>
          <p:txBody>
            <a:bodyPr wrap="none" anchor="ctr">
              <a:flatTx/>
            </a:bodyPr>
            <a:lstStyle/>
            <a:p>
              <a:pPr algn="ctr" eaLnBrk="0" hangingPunct="0">
                <a:lnSpc>
                  <a:spcPct val="90000"/>
                </a:lnSpc>
                <a:defRPr/>
              </a:pPr>
              <a:r>
                <a:rPr lang="en-US" sz="1600" b="1" dirty="0" smtClean="0">
                  <a:solidFill>
                    <a:schemeClr val="bg1"/>
                  </a:solidFill>
                  <a:effectLst>
                    <a:outerShdw blurRad="38100" dist="38100" dir="2700000" algn="tl">
                      <a:srgbClr val="000000"/>
                    </a:outerShdw>
                  </a:effectLst>
                  <a:latin typeface="Helvetica" pitchFamily="34" charset="0"/>
                  <a:cs typeface="+mn-cs"/>
                </a:rPr>
                <a:t>bq77910A</a:t>
              </a:r>
              <a:endParaRPr lang="en-US" sz="1600" b="1" dirty="0">
                <a:solidFill>
                  <a:schemeClr val="bg1"/>
                </a:solidFill>
                <a:effectLst>
                  <a:outerShdw blurRad="38100" dist="38100" dir="2700000" algn="tl">
                    <a:srgbClr val="000000"/>
                  </a:outerShdw>
                </a:effectLst>
                <a:latin typeface="Helvetica" pitchFamily="34" charset="0"/>
                <a:cs typeface="+mn-cs"/>
              </a:endParaRPr>
            </a:p>
            <a:p>
              <a:pPr algn="ctr" eaLnBrk="0" hangingPunct="0">
                <a:lnSpc>
                  <a:spcPct val="90000"/>
                </a:lnSpc>
                <a:defRPr/>
              </a:pPr>
              <a:r>
                <a:rPr lang="en-US" sz="1400" b="1" dirty="0">
                  <a:solidFill>
                    <a:schemeClr val="bg1"/>
                  </a:solidFill>
                  <a:effectLst>
                    <a:outerShdw blurRad="38100" dist="38100" dir="2700000" algn="tl">
                      <a:srgbClr val="000000"/>
                    </a:outerShdw>
                  </a:effectLst>
                  <a:latin typeface="Helvetica" pitchFamily="34" charset="0"/>
                  <a:cs typeface="+mn-cs"/>
                </a:rPr>
                <a:t>Protector</a:t>
              </a:r>
            </a:p>
          </p:txBody>
        </p:sp>
        <p:sp>
          <p:nvSpPr>
            <p:cNvPr id="14" name="Rectangle 12"/>
            <p:cNvSpPr>
              <a:spLocks noChangeArrowheads="1"/>
            </p:cNvSpPr>
            <p:nvPr/>
          </p:nvSpPr>
          <p:spPr bwMode="auto">
            <a:xfrm>
              <a:off x="2255"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sp>
          <p:nvSpPr>
            <p:cNvPr id="15" name="Rectangle 13"/>
            <p:cNvSpPr>
              <a:spLocks noChangeArrowheads="1"/>
            </p:cNvSpPr>
            <p:nvPr/>
          </p:nvSpPr>
          <p:spPr bwMode="auto">
            <a:xfrm>
              <a:off x="225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grpSp>
        <p:nvGrpSpPr>
          <p:cNvPr id="21" name="Group 19"/>
          <p:cNvGrpSpPr>
            <a:grpSpLocks/>
          </p:cNvGrpSpPr>
          <p:nvPr/>
        </p:nvGrpSpPr>
        <p:grpSpPr bwMode="auto">
          <a:xfrm>
            <a:off x="1337817" y="847873"/>
            <a:ext cx="1220787" cy="685800"/>
            <a:chOff x="2831" y="576"/>
            <a:chExt cx="769" cy="432"/>
          </a:xfrm>
        </p:grpSpPr>
        <p:sp>
          <p:nvSpPr>
            <p:cNvPr id="22" name="Rectangle 20"/>
            <p:cNvSpPr>
              <a:spLocks noChangeArrowheads="1"/>
            </p:cNvSpPr>
            <p:nvPr/>
          </p:nvSpPr>
          <p:spPr bwMode="auto">
            <a:xfrm>
              <a:off x="2831" y="576"/>
              <a:ext cx="768" cy="336"/>
            </a:xfrm>
            <a:prstGeom prst="rect">
              <a:avLst/>
            </a:prstGeom>
            <a:solidFill>
              <a:srgbClr val="00B05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00B050"/>
              </a:extrusionClr>
            </a:sp3d>
          </p:spPr>
          <p:txBody>
            <a:bodyPr wrap="none" anchor="ctr">
              <a:flatTx/>
            </a:bodyPr>
            <a:lstStyle/>
            <a:p>
              <a:pPr algn="ctr" eaLnBrk="0" hangingPunct="0">
                <a:lnSpc>
                  <a:spcPct val="90000"/>
                </a:lnSpc>
                <a:defRPr/>
              </a:pPr>
              <a:r>
                <a:rPr lang="en-US" sz="1600" b="1" dirty="0">
                  <a:solidFill>
                    <a:schemeClr val="bg1"/>
                  </a:solidFill>
                  <a:effectLst>
                    <a:outerShdw blurRad="38100" dist="38100" dir="2700000" algn="tl">
                      <a:srgbClr val="000000"/>
                    </a:outerShdw>
                  </a:effectLst>
                  <a:latin typeface="Helvetica" pitchFamily="34" charset="0"/>
                  <a:cs typeface="+mn-cs"/>
                </a:rPr>
                <a:t>bq77PL157</a:t>
              </a:r>
            </a:p>
            <a:p>
              <a:pPr algn="ctr" eaLnBrk="0" hangingPunct="0">
                <a:lnSpc>
                  <a:spcPct val="90000"/>
                </a:lnSpc>
                <a:defRPr/>
              </a:pPr>
              <a:r>
                <a:rPr lang="en-US" sz="1400" b="1" dirty="0">
                  <a:solidFill>
                    <a:schemeClr val="bg1"/>
                  </a:solidFill>
                  <a:effectLst>
                    <a:outerShdw blurRad="38100" dist="38100" dir="2700000" algn="tl">
                      <a:srgbClr val="000000"/>
                    </a:outerShdw>
                  </a:effectLst>
                  <a:latin typeface="Helvetica" pitchFamily="34" charset="0"/>
                  <a:cs typeface="+mn-cs"/>
                </a:rPr>
                <a:t>Protector</a:t>
              </a:r>
            </a:p>
          </p:txBody>
        </p:sp>
        <p:sp>
          <p:nvSpPr>
            <p:cNvPr id="23" name="Rectangle 21"/>
            <p:cNvSpPr>
              <a:spLocks noChangeArrowheads="1"/>
            </p:cNvSpPr>
            <p:nvPr/>
          </p:nvSpPr>
          <p:spPr bwMode="auto">
            <a:xfrm>
              <a:off x="2831"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grpSp>
      <p:sp>
        <p:nvSpPr>
          <p:cNvPr id="25" name="Rectangle 46"/>
          <p:cNvSpPr>
            <a:spLocks noChangeArrowheads="1"/>
          </p:cNvSpPr>
          <p:nvPr/>
        </p:nvSpPr>
        <p:spPr bwMode="auto">
          <a:xfrm>
            <a:off x="6372200" y="821084"/>
            <a:ext cx="1749425"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26" name="Text Box 47"/>
          <p:cNvSpPr txBox="1">
            <a:spLocks noChangeArrowheads="1"/>
          </p:cNvSpPr>
          <p:nvPr/>
        </p:nvSpPr>
        <p:spPr bwMode="auto">
          <a:xfrm>
            <a:off x="6378129" y="2054373"/>
            <a:ext cx="1752600" cy="22098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模拟前端与电池平衡</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需要主机控制</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3 to 6 Li </a:t>
            </a:r>
            <a:r>
              <a:rPr lang="en-US" altLang="zh-TW" sz="120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u="sng"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电池掉电检测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电阻式平衡</a:t>
            </a:r>
            <a:endParaRPr lang="en-US" altLang="zh-TW" sz="1200"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可读出电池电压</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可读出电流</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可读出温度</a:t>
            </a:r>
            <a:endParaRPr lang="en-US" altLang="zh-TW" sz="1200"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中断与模拟输出</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提供</a:t>
            </a:r>
            <a:r>
              <a:rPr lang="en-US" altLang="zh-TW" sz="1200" dirty="0" smtClean="0">
                <a:latin typeface="微軟正黑體" pitchFamily="34" charset="-120"/>
                <a:ea typeface="微軟正黑體" pitchFamily="34" charset="-120"/>
              </a:rPr>
              <a:t>3.3V</a:t>
            </a:r>
            <a:r>
              <a:rPr lang="zh-TW" altLang="en-US" sz="1200" dirty="0" smtClean="0">
                <a:latin typeface="微軟正黑體" pitchFamily="34" charset="-120"/>
                <a:ea typeface="微軟正黑體" pitchFamily="34" charset="-120"/>
              </a:rPr>
              <a:t>稳压输出</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Helvetica" pitchFamily="34" charset="0"/>
                <a:ea typeface="新細明體" charset="-120"/>
              </a:rPr>
              <a:t>20-pin SSOP</a:t>
            </a:r>
          </a:p>
        </p:txBody>
      </p:sp>
      <p:grpSp>
        <p:nvGrpSpPr>
          <p:cNvPr id="27" name="Group 48"/>
          <p:cNvGrpSpPr>
            <a:grpSpLocks/>
          </p:cNvGrpSpPr>
          <p:nvPr/>
        </p:nvGrpSpPr>
        <p:grpSpPr bwMode="auto">
          <a:xfrm>
            <a:off x="6679754" y="873273"/>
            <a:ext cx="1220788" cy="685800"/>
            <a:chOff x="3574" y="576"/>
            <a:chExt cx="769" cy="432"/>
          </a:xfrm>
        </p:grpSpPr>
        <p:sp>
          <p:nvSpPr>
            <p:cNvPr id="28" name="Rectangle 49"/>
            <p:cNvSpPr>
              <a:spLocks noChangeArrowheads="1"/>
            </p:cNvSpPr>
            <p:nvPr/>
          </p:nvSpPr>
          <p:spPr bwMode="auto">
            <a:xfrm>
              <a:off x="3574" y="576"/>
              <a:ext cx="768" cy="336"/>
            </a:xfrm>
            <a:prstGeom prst="rect">
              <a:avLst/>
            </a:prstGeom>
            <a:solidFill>
              <a:srgbClr val="00B05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00B050"/>
              </a:extrusionClr>
            </a:sp3d>
          </p:spPr>
          <p:txBody>
            <a:bodyPr wrap="none" anchor="ctr">
              <a:flatTx/>
            </a:bodyPr>
            <a:lstStyle/>
            <a:p>
              <a:pPr algn="ctr" eaLnBrk="0" hangingPunct="0">
                <a:lnSpc>
                  <a:spcPct val="90000"/>
                </a:lnSpc>
                <a:defRPr/>
              </a:pPr>
              <a:r>
                <a:rPr lang="en-US" sz="1600" b="1" dirty="0">
                  <a:solidFill>
                    <a:schemeClr val="bg1"/>
                  </a:solidFill>
                  <a:effectLst>
                    <a:outerShdw blurRad="38100" dist="38100" dir="2700000" algn="tl">
                      <a:srgbClr val="000000"/>
                    </a:outerShdw>
                  </a:effectLst>
                  <a:latin typeface="Helvetica" pitchFamily="34" charset="0"/>
                  <a:cs typeface="+mn-cs"/>
                </a:rPr>
                <a:t>bq76925</a:t>
              </a:r>
            </a:p>
            <a:p>
              <a:pPr algn="ctr" eaLnBrk="0" hangingPunct="0">
                <a:lnSpc>
                  <a:spcPct val="90000"/>
                </a:lnSpc>
                <a:defRPr/>
              </a:pPr>
              <a:r>
                <a:rPr lang="en-US" sz="1400" b="1" dirty="0">
                  <a:solidFill>
                    <a:schemeClr val="bg1"/>
                  </a:solidFill>
                  <a:effectLst>
                    <a:outerShdw blurRad="38100" dist="38100" dir="2700000" algn="tl">
                      <a:srgbClr val="000000"/>
                    </a:outerShdw>
                  </a:effectLst>
                  <a:latin typeface="Helvetica" pitchFamily="34" charset="0"/>
                  <a:cs typeface="+mn-cs"/>
                </a:rPr>
                <a:t>AFE</a:t>
              </a:r>
            </a:p>
          </p:txBody>
        </p:sp>
        <p:sp>
          <p:nvSpPr>
            <p:cNvPr id="29" name="Rectangle 50"/>
            <p:cNvSpPr>
              <a:spLocks noChangeArrowheads="1"/>
            </p:cNvSpPr>
            <p:nvPr/>
          </p:nvSpPr>
          <p:spPr bwMode="auto">
            <a:xfrm>
              <a:off x="3574" y="864"/>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grpSp>
        <p:nvGrpSpPr>
          <p:cNvPr id="35" name="Group 10"/>
          <p:cNvGrpSpPr>
            <a:grpSpLocks/>
          </p:cNvGrpSpPr>
          <p:nvPr/>
        </p:nvGrpSpPr>
        <p:grpSpPr bwMode="auto">
          <a:xfrm>
            <a:off x="3207196" y="858416"/>
            <a:ext cx="1220788" cy="914400"/>
            <a:chOff x="2255" y="576"/>
            <a:chExt cx="769" cy="576"/>
          </a:xfrm>
        </p:grpSpPr>
        <p:sp>
          <p:nvSpPr>
            <p:cNvPr id="36" name="Rectangle 11"/>
            <p:cNvSpPr>
              <a:spLocks noChangeArrowheads="1"/>
            </p:cNvSpPr>
            <p:nvPr/>
          </p:nvSpPr>
          <p:spPr bwMode="auto">
            <a:xfrm>
              <a:off x="2255" y="576"/>
              <a:ext cx="768" cy="336"/>
            </a:xfrm>
            <a:prstGeom prst="rect">
              <a:avLst/>
            </a:prstGeom>
            <a:solidFill>
              <a:srgbClr val="00B05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00B050"/>
              </a:extrusionClr>
            </a:sp3d>
          </p:spPr>
          <p:txBody>
            <a:bodyPr wrap="none" anchor="ctr">
              <a:flatTx/>
            </a:bodyPr>
            <a:lstStyle/>
            <a:p>
              <a:pPr algn="ctr" eaLnBrk="0" hangingPunct="0">
                <a:lnSpc>
                  <a:spcPct val="90000"/>
                </a:lnSpc>
                <a:defRPr/>
              </a:pPr>
              <a:r>
                <a:rPr lang="en-US" sz="1600" b="1" dirty="0" smtClean="0">
                  <a:solidFill>
                    <a:schemeClr val="bg1"/>
                  </a:solidFill>
                  <a:effectLst>
                    <a:outerShdw blurRad="38100" dist="38100" dir="2700000" algn="tl">
                      <a:srgbClr val="000000"/>
                    </a:outerShdw>
                  </a:effectLst>
                  <a:latin typeface="Helvetica" pitchFamily="34" charset="0"/>
                  <a:cs typeface="+mn-cs"/>
                </a:rPr>
                <a:t>bq77908A</a:t>
              </a:r>
              <a:endParaRPr lang="en-US" sz="1600" b="1" dirty="0">
                <a:solidFill>
                  <a:schemeClr val="bg1"/>
                </a:solidFill>
                <a:effectLst>
                  <a:outerShdw blurRad="38100" dist="38100" dir="2700000" algn="tl">
                    <a:srgbClr val="000000"/>
                  </a:outerShdw>
                </a:effectLst>
                <a:latin typeface="Helvetica" pitchFamily="34" charset="0"/>
                <a:cs typeface="+mn-cs"/>
              </a:endParaRPr>
            </a:p>
            <a:p>
              <a:pPr algn="ctr" eaLnBrk="0" hangingPunct="0">
                <a:lnSpc>
                  <a:spcPct val="90000"/>
                </a:lnSpc>
                <a:defRPr/>
              </a:pPr>
              <a:r>
                <a:rPr lang="en-US" sz="1400" b="1" dirty="0">
                  <a:solidFill>
                    <a:schemeClr val="bg1"/>
                  </a:solidFill>
                  <a:effectLst>
                    <a:outerShdw blurRad="38100" dist="38100" dir="2700000" algn="tl">
                      <a:srgbClr val="000000"/>
                    </a:outerShdw>
                  </a:effectLst>
                  <a:latin typeface="Helvetica" pitchFamily="34" charset="0"/>
                  <a:cs typeface="+mn-cs"/>
                </a:rPr>
                <a:t>Protector</a:t>
              </a:r>
            </a:p>
          </p:txBody>
        </p:sp>
        <p:sp>
          <p:nvSpPr>
            <p:cNvPr id="37" name="Rectangle 12"/>
            <p:cNvSpPr>
              <a:spLocks noChangeArrowheads="1"/>
            </p:cNvSpPr>
            <p:nvPr/>
          </p:nvSpPr>
          <p:spPr bwMode="auto">
            <a:xfrm>
              <a:off x="2255"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sp>
          <p:nvSpPr>
            <p:cNvPr id="38" name="Rectangle 13"/>
            <p:cNvSpPr>
              <a:spLocks noChangeArrowheads="1"/>
            </p:cNvSpPr>
            <p:nvPr/>
          </p:nvSpPr>
          <p:spPr bwMode="auto">
            <a:xfrm>
              <a:off x="225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sp>
        <p:nvSpPr>
          <p:cNvPr id="39" name="Text Box 6"/>
          <p:cNvSpPr txBox="1">
            <a:spLocks noChangeArrowheads="1"/>
          </p:cNvSpPr>
          <p:nvPr/>
        </p:nvSpPr>
        <p:spPr bwMode="auto">
          <a:xfrm>
            <a:off x="2915220" y="2032620"/>
            <a:ext cx="1728788" cy="24765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主动保护与电池平衡</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可单机工作</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4 to </a:t>
            </a:r>
            <a:r>
              <a:rPr lang="en-US" altLang="zh-TW" sz="1200" dirty="0" smtClean="0">
                <a:solidFill>
                  <a:srgbClr val="FF0000"/>
                </a:solidFill>
                <a:latin typeface="微軟正黑體" pitchFamily="34" charset="-120"/>
                <a:ea typeface="微軟正黑體" pitchFamily="34" charset="-120"/>
              </a:rPr>
              <a:t>8 </a:t>
            </a:r>
            <a:r>
              <a:rPr lang="en-US" altLang="zh-TW" sz="1200" dirty="0">
                <a:solidFill>
                  <a:srgbClr val="FF0000"/>
                </a:solidFill>
                <a:latin typeface="微軟正黑體" pitchFamily="34" charset="-120"/>
                <a:ea typeface="微軟正黑體" pitchFamily="34" charset="-120"/>
              </a:rPr>
              <a:t>Li Cells</a:t>
            </a: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u="sng"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电池掉电检测</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OV, UV, OT, SC, OCD, OCC</a:t>
            </a:r>
            <a:r>
              <a:rPr lang="zh-TW" altLang="en-US" sz="1200" dirty="0" smtClean="0">
                <a:latin typeface="微軟正黑體" pitchFamily="34" charset="-120"/>
                <a:ea typeface="微軟正黑體" pitchFamily="34" charset="-120"/>
              </a:rPr>
              <a:t>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电阻式平衡</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50mA</a:t>
            </a:r>
            <a:r>
              <a:rPr lang="en-US" altLang="zh-TW" sz="1200" dirty="0" smtClean="0">
                <a:latin typeface="微軟正黑體" pitchFamily="34" charset="-120"/>
                <a:ea typeface="微軟正黑體" pitchFamily="34" charset="-120"/>
              </a:rPr>
              <a:t> </a:t>
            </a:r>
            <a:r>
              <a:rPr lang="zh-CN" altLang="en-US" sz="1200" dirty="0" smtClean="0">
                <a:latin typeface="微軟正黑體" pitchFamily="34" charset="-120"/>
                <a:ea typeface="微軟正黑體" pitchFamily="34" charset="-120"/>
              </a:rPr>
              <a:t>内部均衡电流</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NFET</a:t>
            </a:r>
            <a:r>
              <a:rPr lang="en-US" altLang="zh-TW" sz="1200" dirty="0">
                <a:latin typeface="微軟正黑體" pitchFamily="34" charset="-120"/>
                <a:ea typeface="微軟正黑體" pitchFamily="34" charset="-120"/>
              </a:rPr>
              <a:t> </a:t>
            </a:r>
            <a:r>
              <a:rPr lang="zh-TW" altLang="en-US" sz="1200" dirty="0" smtClean="0">
                <a:latin typeface="微軟正黑體" pitchFamily="34" charset="-120"/>
                <a:ea typeface="微軟正黑體" pitchFamily="34" charset="-120"/>
              </a:rPr>
              <a:t>驱动</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提供</a:t>
            </a:r>
            <a:r>
              <a:rPr lang="en-US" altLang="zh-TW" sz="1200" dirty="0" smtClean="0">
                <a:latin typeface="微軟正黑體" pitchFamily="34" charset="-120"/>
                <a:ea typeface="微軟正黑體" pitchFamily="34" charset="-120"/>
              </a:rPr>
              <a:t>3.3V</a:t>
            </a:r>
            <a:r>
              <a:rPr lang="zh-TW" altLang="en-US" sz="1200" dirty="0" smtClean="0">
                <a:latin typeface="微軟正黑體" pitchFamily="34" charset="-120"/>
                <a:ea typeface="微軟正黑體" pitchFamily="34" charset="-120"/>
              </a:rPr>
              <a:t>稳压输出</a:t>
            </a:r>
            <a:endParaRPr lang="en-US" altLang="zh-TW" sz="1200" u="sng" dirty="0">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38-pin SSOP</a:t>
            </a:r>
          </a:p>
        </p:txBody>
      </p:sp>
      <p:grpSp>
        <p:nvGrpSpPr>
          <p:cNvPr id="30" name="Group 44"/>
          <p:cNvGrpSpPr>
            <a:grpSpLocks/>
          </p:cNvGrpSpPr>
          <p:nvPr/>
        </p:nvGrpSpPr>
        <p:grpSpPr bwMode="auto">
          <a:xfrm>
            <a:off x="35496" y="4653135"/>
            <a:ext cx="1599406" cy="1099711"/>
            <a:chOff x="731520" y="4524906"/>
            <a:chExt cx="1097280" cy="1100029"/>
          </a:xfrm>
        </p:grpSpPr>
        <p:sp>
          <p:nvSpPr>
            <p:cNvPr id="31" name="Text Box 4"/>
            <p:cNvSpPr txBox="1">
              <a:spLocks noChangeArrowheads="1"/>
            </p:cNvSpPr>
            <p:nvPr/>
          </p:nvSpPr>
          <p:spPr bwMode="auto">
            <a:xfrm>
              <a:off x="914400" y="4572000"/>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量产</a:t>
              </a:r>
              <a:endParaRPr lang="en-US" altLang="zh-CN" sz="800" b="1" dirty="0">
                <a:solidFill>
                  <a:srgbClr val="000000"/>
                </a:solidFill>
                <a:latin typeface="微軟正黑體" pitchFamily="34" charset="-120"/>
                <a:ea typeface="微軟正黑體" pitchFamily="34" charset="-120"/>
              </a:endParaRPr>
            </a:p>
          </p:txBody>
        </p:sp>
        <p:sp>
          <p:nvSpPr>
            <p:cNvPr id="32" name="Text Box 6"/>
            <p:cNvSpPr txBox="1">
              <a:spLocks noChangeArrowheads="1"/>
            </p:cNvSpPr>
            <p:nvPr/>
          </p:nvSpPr>
          <p:spPr bwMode="auto">
            <a:xfrm>
              <a:off x="914400" y="5120641"/>
              <a:ext cx="914400" cy="215506"/>
            </a:xfrm>
            <a:prstGeom prst="rect">
              <a:avLst/>
            </a:prstGeom>
            <a:noFill/>
            <a:ln w="9525">
              <a:noFill/>
              <a:miter lim="800000"/>
              <a:headEnd/>
              <a:tailEnd/>
            </a:ln>
          </p:spPr>
          <p:txBody>
            <a:bodyPr>
              <a:spAutoFit/>
            </a:bodyPr>
            <a:lstStyle/>
            <a:p>
              <a:pPr eaLnBrk="0" hangingPunct="0"/>
              <a:r>
                <a:rPr lang="zh-TW" altLang="en-US" sz="800" b="1" dirty="0" smtClean="0">
                  <a:solidFill>
                    <a:srgbClr val="000000"/>
                  </a:solidFill>
                  <a:latin typeface="微軟正黑體" pitchFamily="34" charset="-120"/>
                  <a:ea typeface="微軟正黑體" pitchFamily="34" charset="-120"/>
                </a:rPr>
                <a:t>评估</a:t>
              </a:r>
              <a:endParaRPr lang="en-US" altLang="zh-CN" sz="800" b="1" dirty="0">
                <a:solidFill>
                  <a:srgbClr val="000000"/>
                </a:solidFill>
                <a:latin typeface="微軟正黑體" pitchFamily="34" charset="-120"/>
                <a:ea typeface="微軟正黑體" pitchFamily="34" charset="-120"/>
              </a:endParaRPr>
            </a:p>
          </p:txBody>
        </p:sp>
        <p:sp>
          <p:nvSpPr>
            <p:cNvPr id="33" name="Oval 7"/>
            <p:cNvSpPr>
              <a:spLocks noChangeArrowheads="1"/>
            </p:cNvSpPr>
            <p:nvPr/>
          </p:nvSpPr>
          <p:spPr bwMode="auto">
            <a:xfrm>
              <a:off x="731520" y="4799227"/>
              <a:ext cx="182880" cy="277067"/>
            </a:xfrm>
            <a:prstGeom prst="ellipse">
              <a:avLst/>
            </a:prstGeom>
            <a:solidFill>
              <a:srgbClr val="CC000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34" name="Oval 9"/>
            <p:cNvSpPr>
              <a:spLocks noChangeArrowheads="1"/>
            </p:cNvSpPr>
            <p:nvPr/>
          </p:nvSpPr>
          <p:spPr bwMode="auto">
            <a:xfrm>
              <a:off x="731520" y="5073547"/>
              <a:ext cx="182880" cy="277067"/>
            </a:xfrm>
            <a:prstGeom prst="ellipse">
              <a:avLst/>
            </a:prstGeom>
            <a:solidFill>
              <a:srgbClr val="00008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40" name="Oval 10"/>
            <p:cNvSpPr>
              <a:spLocks noChangeArrowheads="1"/>
            </p:cNvSpPr>
            <p:nvPr/>
          </p:nvSpPr>
          <p:spPr bwMode="auto">
            <a:xfrm>
              <a:off x="731520" y="4524906"/>
              <a:ext cx="182880" cy="277067"/>
            </a:xfrm>
            <a:prstGeom prst="ellipse">
              <a:avLst/>
            </a:prstGeom>
            <a:solidFill>
              <a:srgbClr val="00800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41" name="Text Box 11"/>
            <p:cNvSpPr txBox="1">
              <a:spLocks noChangeArrowheads="1"/>
            </p:cNvSpPr>
            <p:nvPr/>
          </p:nvSpPr>
          <p:spPr bwMode="auto">
            <a:xfrm>
              <a:off x="914400" y="4846322"/>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可提供样品</a:t>
              </a:r>
              <a:endParaRPr lang="en-US" altLang="zh-CN" sz="800" b="1" dirty="0">
                <a:solidFill>
                  <a:srgbClr val="000000"/>
                </a:solidFill>
                <a:latin typeface="微軟正黑體" pitchFamily="34" charset="-120"/>
                <a:ea typeface="微軟正黑體" pitchFamily="34" charset="-120"/>
              </a:endParaRPr>
            </a:p>
          </p:txBody>
        </p:sp>
        <p:sp>
          <p:nvSpPr>
            <p:cNvPr id="42" name="Oval 12"/>
            <p:cNvSpPr>
              <a:spLocks noChangeArrowheads="1"/>
            </p:cNvSpPr>
            <p:nvPr/>
          </p:nvSpPr>
          <p:spPr bwMode="auto">
            <a:xfrm>
              <a:off x="731520" y="5347868"/>
              <a:ext cx="182880" cy="277067"/>
            </a:xfrm>
            <a:prstGeom prst="ellipse">
              <a:avLst/>
            </a:prstGeom>
            <a:solidFill>
              <a:srgbClr val="FFFF99"/>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43" name="Text Box 13"/>
            <p:cNvSpPr txBox="1">
              <a:spLocks noChangeArrowheads="1"/>
            </p:cNvSpPr>
            <p:nvPr/>
          </p:nvSpPr>
          <p:spPr bwMode="auto">
            <a:xfrm>
              <a:off x="914400" y="5394962"/>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新定义</a:t>
              </a:r>
              <a:endParaRPr lang="en-US" altLang="zh-CN" sz="800" b="1" dirty="0">
                <a:solidFill>
                  <a:srgbClr val="000000"/>
                </a:solidFill>
                <a:latin typeface="微軟正黑體" pitchFamily="34" charset="-120"/>
                <a:ea typeface="微軟正黑體" pitchFamily="34" charset="-120"/>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0" y="44624"/>
            <a:ext cx="9144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0" cap="none" spc="0" normalizeH="0" baseline="0" noProof="0" dirty="0" smtClean="0">
                <a:ln>
                  <a:noFill/>
                </a:ln>
                <a:solidFill>
                  <a:srgbClr val="6600FF"/>
                </a:solidFill>
                <a:effectLst>
                  <a:outerShdw blurRad="38100" dist="38100" dir="2700000" algn="tl">
                    <a:srgbClr val="000000">
                      <a:alpha val="43137"/>
                    </a:srgbClr>
                  </a:outerShdw>
                </a:effectLst>
                <a:uLnTx/>
                <a:uFillTx/>
                <a:latin typeface="Times New Roman" pitchFamily="18" charset="0"/>
                <a:cs typeface="Times New Roman" pitchFamily="18" charset="0"/>
              </a:rPr>
              <a:t>Monitoring – Balancing – Protecting </a:t>
            </a:r>
            <a:r>
              <a:rPr kumimoji="1" lang="en-US" altLang="zh-TW" b="1" i="0" u="none" strike="noStrike" kern="0" cap="none" spc="0" normalizeH="0" baseline="0" noProof="0" dirty="0" smtClean="0">
                <a:ln>
                  <a:noFill/>
                </a:ln>
                <a:solidFill>
                  <a:srgbClr val="6600FF"/>
                </a:solidFill>
                <a:effectLst>
                  <a:outerShdw blurRad="38100" dist="38100" dir="2700000" algn="tl">
                    <a:srgbClr val="000000">
                      <a:alpha val="43137"/>
                    </a:srgbClr>
                  </a:outerShdw>
                </a:effectLst>
                <a:uLnTx/>
                <a:uFillTx/>
                <a:latin typeface="Times New Roman" pitchFamily="18" charset="0"/>
                <a:cs typeface="Times New Roman" pitchFamily="18" charset="0"/>
              </a:rPr>
              <a:t>(2 /3 page ) </a:t>
            </a:r>
          </a:p>
        </p:txBody>
      </p:sp>
      <p:sp>
        <p:nvSpPr>
          <p:cNvPr id="5" name="Rectangle 3"/>
          <p:cNvSpPr>
            <a:spLocks noChangeArrowheads="1"/>
          </p:cNvSpPr>
          <p:nvPr/>
        </p:nvSpPr>
        <p:spPr bwMode="auto">
          <a:xfrm>
            <a:off x="2807842" y="836712"/>
            <a:ext cx="1751012"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6" name="Text Box 4"/>
          <p:cNvSpPr txBox="1">
            <a:spLocks noChangeArrowheads="1"/>
          </p:cNvSpPr>
          <p:nvPr/>
        </p:nvSpPr>
        <p:spPr bwMode="auto">
          <a:xfrm>
            <a:off x="2855467" y="2346473"/>
            <a:ext cx="1738312" cy="2400300"/>
          </a:xfrm>
          <a:prstGeom prst="rect">
            <a:avLst/>
          </a:prstGeom>
          <a:noFill/>
          <a:ln w="9525" algn="ctr">
            <a:noFill/>
            <a:miter lim="800000"/>
            <a:headEnd/>
            <a:tailEnd/>
          </a:ln>
        </p:spPr>
        <p:txBody>
          <a:bodyPr/>
          <a:lstStyle/>
          <a:p>
            <a:pPr marL="114300" indent="-114300" eaLnBrk="0" hangingPunct="0"/>
            <a:endParaRPr lang="en-US" altLang="zh-TW" sz="1200" dirty="0">
              <a:latin typeface="Helvetica" pitchFamily="34" charset="0"/>
              <a:ea typeface="新細明體" charset="-120"/>
            </a:endParaRPr>
          </a:p>
          <a:p>
            <a:pPr marL="114300" indent="-114300" eaLnBrk="0" hangingPunct="0"/>
            <a:endParaRPr lang="en-US" altLang="zh-TW" sz="1200" dirty="0">
              <a:latin typeface="Helvetica" pitchFamily="34" charset="0"/>
              <a:ea typeface="新細明體" charset="-120"/>
            </a:endParaRPr>
          </a:p>
        </p:txBody>
      </p:sp>
      <p:sp>
        <p:nvSpPr>
          <p:cNvPr id="7" name="Rectangle 5"/>
          <p:cNvSpPr>
            <a:spLocks noChangeArrowheads="1"/>
          </p:cNvSpPr>
          <p:nvPr/>
        </p:nvSpPr>
        <p:spPr bwMode="auto">
          <a:xfrm>
            <a:off x="4587279" y="836712"/>
            <a:ext cx="1712913"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9" name="Rectangle 7"/>
          <p:cNvSpPr>
            <a:spLocks noChangeArrowheads="1"/>
          </p:cNvSpPr>
          <p:nvPr/>
        </p:nvSpPr>
        <p:spPr bwMode="auto">
          <a:xfrm>
            <a:off x="971600" y="836712"/>
            <a:ext cx="1776412"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11" name="Text Box 9"/>
          <p:cNvSpPr txBox="1">
            <a:spLocks noChangeArrowheads="1"/>
          </p:cNvSpPr>
          <p:nvPr/>
        </p:nvSpPr>
        <p:spPr bwMode="auto">
          <a:xfrm>
            <a:off x="296417" y="5991373"/>
            <a:ext cx="8477001" cy="276999"/>
          </a:xfrm>
          <a:prstGeom prst="rect">
            <a:avLst/>
          </a:prstGeom>
          <a:noFill/>
          <a:ln w="9525">
            <a:noFill/>
            <a:miter lim="800000"/>
            <a:headEnd/>
            <a:tailEnd/>
          </a:ln>
        </p:spPr>
        <p:txBody>
          <a:bodyPr wrap="none">
            <a:spAutoFit/>
          </a:bodyPr>
          <a:lstStyle/>
          <a:p>
            <a:r>
              <a:rPr lang="en-US" altLang="zh-TW" sz="1200" dirty="0" smtClean="0">
                <a:ea typeface="新細明體" charset="-120"/>
              </a:rPr>
              <a:t>Notes:</a:t>
            </a:r>
            <a:r>
              <a:rPr lang="zh-TW" altLang="en-US" sz="1200" dirty="0" smtClean="0">
                <a:ea typeface="新細明體" charset="-120"/>
              </a:rPr>
              <a:t> </a:t>
            </a:r>
            <a:r>
              <a:rPr lang="en-US" altLang="zh-TW" sz="1200" dirty="0" smtClean="0">
                <a:ea typeface="新細明體" charset="-120"/>
              </a:rPr>
              <a:t>OV=</a:t>
            </a:r>
            <a:r>
              <a:rPr lang="zh-TW" altLang="en-US" sz="1200" dirty="0" smtClean="0">
                <a:ea typeface="新細明體" charset="-120"/>
              </a:rPr>
              <a:t>过压</a:t>
            </a:r>
            <a:r>
              <a:rPr lang="en-US" altLang="zh-TW" sz="1200" dirty="0" smtClean="0">
                <a:ea typeface="新細明體" charset="-120"/>
              </a:rPr>
              <a:t>, UV=</a:t>
            </a:r>
            <a:r>
              <a:rPr lang="zh-TW" altLang="en-US" sz="1200" dirty="0" smtClean="0">
                <a:ea typeface="新細明體" charset="-120"/>
              </a:rPr>
              <a:t>欠压</a:t>
            </a:r>
            <a:r>
              <a:rPr lang="en-US" altLang="zh-TW" sz="1200" dirty="0" smtClean="0">
                <a:ea typeface="新細明體" charset="-120"/>
              </a:rPr>
              <a:t>, OT=</a:t>
            </a:r>
            <a:r>
              <a:rPr lang="zh-TW" altLang="en-US" sz="1200" dirty="0" smtClean="0">
                <a:ea typeface="新細明體" charset="-120"/>
              </a:rPr>
              <a:t>过温</a:t>
            </a:r>
            <a:r>
              <a:rPr lang="en-US" altLang="zh-TW" sz="1200" dirty="0" smtClean="0">
                <a:ea typeface="新細明體" charset="-120"/>
              </a:rPr>
              <a:t>, SC=</a:t>
            </a:r>
            <a:r>
              <a:rPr lang="zh-TW" altLang="en-US" sz="1200" dirty="0" smtClean="0">
                <a:ea typeface="新細明體" charset="-120"/>
              </a:rPr>
              <a:t>短路</a:t>
            </a:r>
            <a:r>
              <a:rPr lang="en-US" altLang="zh-TW" sz="1200" dirty="0" smtClean="0">
                <a:ea typeface="新細明體" charset="-120"/>
              </a:rPr>
              <a:t>,OP=</a:t>
            </a:r>
            <a:r>
              <a:rPr lang="zh-CN" altLang="en-US" sz="1200" dirty="0" smtClean="0">
                <a:ea typeface="新細明體" charset="-120"/>
              </a:rPr>
              <a:t>电池掉电检测</a:t>
            </a:r>
            <a:r>
              <a:rPr lang="en-US" altLang="zh-TW" sz="1200" dirty="0" smtClean="0">
                <a:ea typeface="新細明體" charset="-120"/>
              </a:rPr>
              <a:t>, OCD=</a:t>
            </a:r>
            <a:r>
              <a:rPr lang="zh-TW" altLang="en-US" sz="1200" dirty="0" smtClean="0">
                <a:ea typeface="新細明體" charset="-120"/>
              </a:rPr>
              <a:t>放电过电流</a:t>
            </a:r>
            <a:r>
              <a:rPr lang="en-US" altLang="zh-TW" sz="1200" dirty="0" smtClean="0">
                <a:ea typeface="新細明體" charset="-120"/>
              </a:rPr>
              <a:t>, OCC=</a:t>
            </a:r>
            <a:r>
              <a:rPr lang="zh-TW" altLang="en-US" sz="1200" dirty="0" smtClean="0">
                <a:ea typeface="新細明體" charset="-120"/>
              </a:rPr>
              <a:t>充电过电流</a:t>
            </a:r>
            <a:r>
              <a:rPr lang="en-US" altLang="zh-TW" sz="1200" dirty="0" smtClean="0">
                <a:ea typeface="新細明體" charset="-120"/>
              </a:rPr>
              <a:t>, IT=</a:t>
            </a:r>
            <a:r>
              <a:rPr lang="zh-CN" altLang="en-US" sz="1200" dirty="0" smtClean="0">
                <a:ea typeface="新細明體" charset="-120"/>
              </a:rPr>
              <a:t>阻抗追踪技术</a:t>
            </a:r>
            <a:endParaRPr lang="en-US" altLang="zh-TW" sz="1200" dirty="0">
              <a:ea typeface="新細明體" charset="-120"/>
            </a:endParaRPr>
          </a:p>
        </p:txBody>
      </p:sp>
      <p:sp>
        <p:nvSpPr>
          <p:cNvPr id="25" name="Rectangle 46"/>
          <p:cNvSpPr>
            <a:spLocks noChangeArrowheads="1"/>
          </p:cNvSpPr>
          <p:nvPr/>
        </p:nvSpPr>
        <p:spPr bwMode="auto">
          <a:xfrm>
            <a:off x="6372200" y="821084"/>
            <a:ext cx="1749425"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26" name="Text Box 47"/>
          <p:cNvSpPr txBox="1">
            <a:spLocks noChangeArrowheads="1"/>
          </p:cNvSpPr>
          <p:nvPr/>
        </p:nvSpPr>
        <p:spPr bwMode="auto">
          <a:xfrm>
            <a:off x="6378129" y="1916832"/>
            <a:ext cx="1752600" cy="22098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模拟前端与电池平衡</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需要主机控制</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smtClean="0">
                <a:solidFill>
                  <a:srgbClr val="FF0000"/>
                </a:solidFill>
                <a:latin typeface="微軟正黑體" pitchFamily="34" charset="-120"/>
                <a:ea typeface="微軟正黑體" pitchFamily="34" charset="-120"/>
              </a:rPr>
              <a:t>16 </a:t>
            </a:r>
            <a:r>
              <a:rPr lang="en-US" altLang="zh-TW" sz="1200" dirty="0">
                <a:solidFill>
                  <a:srgbClr val="FF0000"/>
                </a:solidFill>
                <a:latin typeface="微軟正黑體" pitchFamily="34" charset="-120"/>
                <a:ea typeface="微軟正黑體" pitchFamily="34" charset="-120"/>
              </a:rPr>
              <a:t>Li </a:t>
            </a:r>
            <a:r>
              <a:rPr lang="en-US" altLang="zh-TW" sz="120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内置硬件保护</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TW" altLang="en-US" sz="1200" dirty="0" smtClean="0">
                <a:solidFill>
                  <a:srgbClr val="FF0000"/>
                </a:solidFill>
                <a:latin typeface="微軟正黑體" pitchFamily="34" charset="-120"/>
                <a:ea typeface="微軟正黑體" pitchFamily="34" charset="-120"/>
              </a:rPr>
              <a:t>纯数字接口</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可搭配</a:t>
            </a:r>
            <a:r>
              <a:rPr lang="en-US" altLang="zh-CN" sz="1200" dirty="0" err="1" smtClean="0">
                <a:solidFill>
                  <a:srgbClr val="FF0000"/>
                </a:solidFill>
                <a:latin typeface="微軟正黑體" pitchFamily="34" charset="-120"/>
                <a:ea typeface="微軟正黑體" pitchFamily="34" charset="-120"/>
              </a:rPr>
              <a:t>bqMAXIMUS</a:t>
            </a:r>
            <a:r>
              <a:rPr lang="zh-CN" altLang="en-US" sz="1200" dirty="0" smtClean="0">
                <a:solidFill>
                  <a:srgbClr val="FF0000"/>
                </a:solidFill>
                <a:latin typeface="微軟正黑體" pitchFamily="34" charset="-120"/>
                <a:ea typeface="微軟正黑體" pitchFamily="34" charset="-120"/>
              </a:rPr>
              <a:t>配套控制器（芯片组解决方案）</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u="sng"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电池掉电检测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电阻式平衡</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14</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的电池电压和温度</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15</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（库仑计数器）电流</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中断输出</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支持</a:t>
            </a:r>
            <a:r>
              <a:rPr lang="zh-TW" altLang="en-US" sz="1200" dirty="0" smtClean="0">
                <a:latin typeface="微軟正黑體" pitchFamily="34" charset="-120"/>
                <a:ea typeface="微軟正黑體" pitchFamily="34" charset="-120"/>
              </a:rPr>
              <a:t>電池</a:t>
            </a:r>
            <a:r>
              <a:rPr lang="zh-CN" altLang="en-US" sz="1200" dirty="0" smtClean="0">
                <a:latin typeface="微軟正黑體" pitchFamily="34" charset="-120"/>
                <a:ea typeface="微軟正黑體" pitchFamily="34" charset="-120"/>
              </a:rPr>
              <a:t>随机连接</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提供</a:t>
            </a:r>
            <a:r>
              <a:rPr lang="en-US" altLang="zh-TW" sz="1200" dirty="0" smtClean="0">
                <a:latin typeface="微軟正黑體" pitchFamily="34" charset="-120"/>
                <a:ea typeface="微軟正黑體" pitchFamily="34" charset="-120"/>
              </a:rPr>
              <a:t>3.3V</a:t>
            </a:r>
            <a:r>
              <a:rPr lang="zh-TW" altLang="en-US" sz="1200" dirty="0" smtClean="0">
                <a:latin typeface="微軟正黑體" pitchFamily="34" charset="-120"/>
                <a:ea typeface="微軟正黑體" pitchFamily="34" charset="-120"/>
              </a:rPr>
              <a:t>稳压输出</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30-160µA normal </a:t>
            </a:r>
          </a:p>
          <a:p>
            <a:pPr marL="114300" indent="-114300" eaLnBrk="0" hangingPunct="0">
              <a:buFontTx/>
              <a:buChar char="•"/>
            </a:pPr>
            <a:r>
              <a:rPr lang="zh-TW" altLang="en-US" sz="1200" dirty="0">
                <a:latin typeface="微軟正黑體" pitchFamily="34" charset="-120"/>
                <a:ea typeface="微軟正黑體" pitchFamily="34" charset="-120"/>
              </a:rPr>
              <a:t>關斷模是小於</a:t>
            </a:r>
            <a:r>
              <a:rPr lang="en-US" altLang="zh-TW" sz="1200" dirty="0">
                <a:latin typeface="微軟正黑體" pitchFamily="34" charset="-120"/>
                <a:ea typeface="微軟正黑體" pitchFamily="34" charset="-120"/>
              </a:rPr>
              <a:t>1uA</a:t>
            </a:r>
          </a:p>
          <a:p>
            <a:pPr marL="114300" indent="-114300" eaLnBrk="0" hangingPunct="0">
              <a:buFontTx/>
              <a:buChar char="•"/>
            </a:pPr>
            <a:r>
              <a:rPr lang="en-US" altLang="zh-TW" sz="1200" dirty="0" smtClean="0">
                <a:solidFill>
                  <a:srgbClr val="FF0000"/>
                </a:solidFill>
                <a:latin typeface="Helvetica" pitchFamily="34" charset="0"/>
              </a:rPr>
              <a:t>44</a:t>
            </a:r>
            <a:r>
              <a:rPr lang="en-US" altLang="zh-TW" sz="1200" dirty="0" smtClean="0">
                <a:solidFill>
                  <a:srgbClr val="FF0000"/>
                </a:solidFill>
                <a:latin typeface="Helvetica" pitchFamily="34" charset="0"/>
                <a:ea typeface="新細明體" charset="-120"/>
              </a:rPr>
              <a:t>-pin </a:t>
            </a:r>
            <a:r>
              <a:rPr lang="en-US" altLang="zh-TW" sz="1200" dirty="0">
                <a:solidFill>
                  <a:srgbClr val="FF0000"/>
                </a:solidFill>
                <a:latin typeface="Helvetica" pitchFamily="34" charset="0"/>
                <a:ea typeface="新細明體" charset="-120"/>
              </a:rPr>
              <a:t>SSOP</a:t>
            </a:r>
          </a:p>
        </p:txBody>
      </p:sp>
      <p:grpSp>
        <p:nvGrpSpPr>
          <p:cNvPr id="27" name="Group 10"/>
          <p:cNvGrpSpPr>
            <a:grpSpLocks/>
          </p:cNvGrpSpPr>
          <p:nvPr/>
        </p:nvGrpSpPr>
        <p:grpSpPr bwMode="auto">
          <a:xfrm>
            <a:off x="6663580" y="836712"/>
            <a:ext cx="1220788" cy="914400"/>
            <a:chOff x="2255" y="576"/>
            <a:chExt cx="769" cy="576"/>
          </a:xfrm>
        </p:grpSpPr>
        <p:sp>
          <p:nvSpPr>
            <p:cNvPr id="30" name="Rectangle 11"/>
            <p:cNvSpPr>
              <a:spLocks noChangeArrowheads="1"/>
            </p:cNvSpPr>
            <p:nvPr/>
          </p:nvSpPr>
          <p:spPr bwMode="auto">
            <a:xfrm>
              <a:off x="2255" y="576"/>
              <a:ext cx="768" cy="336"/>
            </a:xfrm>
            <a:prstGeom prst="rect">
              <a:avLst/>
            </a:prstGeom>
            <a:solidFill>
              <a:srgbClr val="FF000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FF0000"/>
              </a:extrusionClr>
            </a:sp3d>
          </p:spPr>
          <p:txBody>
            <a:bodyPr wrap="none" anchor="ctr">
              <a:flatTx/>
            </a:bodyPr>
            <a:lstStyle/>
            <a:p>
              <a:pPr algn="ctr" eaLnBrk="0" hangingPunct="0">
                <a:lnSpc>
                  <a:spcPct val="90000"/>
                </a:lnSpc>
                <a:defRPr/>
              </a:pPr>
              <a:r>
                <a:rPr lang="en-US" sz="1600" b="1" dirty="0" smtClean="0">
                  <a:solidFill>
                    <a:schemeClr val="bg1"/>
                  </a:solidFill>
                  <a:effectLst>
                    <a:outerShdw blurRad="38100" dist="38100" dir="2700000" algn="tl">
                      <a:srgbClr val="000000"/>
                    </a:outerShdw>
                  </a:effectLst>
                  <a:latin typeface="Helvetica" pitchFamily="34" charset="0"/>
                  <a:cs typeface="+mn-cs"/>
                </a:rPr>
                <a:t>bq77950</a:t>
              </a:r>
              <a:endParaRPr lang="en-US" sz="1600" b="1" dirty="0">
                <a:solidFill>
                  <a:schemeClr val="bg1"/>
                </a:solidFill>
                <a:effectLst>
                  <a:outerShdw blurRad="38100" dist="38100" dir="2700000" algn="tl">
                    <a:srgbClr val="000000"/>
                  </a:outerShdw>
                </a:effectLst>
                <a:latin typeface="Helvetica" pitchFamily="34" charset="0"/>
                <a:cs typeface="+mn-cs"/>
              </a:endParaRPr>
            </a:p>
            <a:p>
              <a:pPr algn="ctr" eaLnBrk="0" hangingPunct="0">
                <a:lnSpc>
                  <a:spcPct val="90000"/>
                </a:lnSpc>
                <a:defRPr/>
              </a:pPr>
              <a:r>
                <a:rPr lang="en-US" sz="1400" b="1" dirty="0" smtClean="0">
                  <a:solidFill>
                    <a:schemeClr val="bg1"/>
                  </a:solidFill>
                  <a:effectLst>
                    <a:outerShdw blurRad="38100" dist="38100" dir="2700000" algn="tl">
                      <a:srgbClr val="000000"/>
                    </a:outerShdw>
                  </a:effectLst>
                  <a:latin typeface="Helvetica" pitchFamily="34" charset="0"/>
                </a:rPr>
                <a:t>AFE</a:t>
              </a:r>
              <a:endParaRPr lang="en-US" sz="1400" b="1" dirty="0">
                <a:solidFill>
                  <a:schemeClr val="bg1"/>
                </a:solidFill>
                <a:effectLst>
                  <a:outerShdw blurRad="38100" dist="38100" dir="2700000" algn="tl">
                    <a:srgbClr val="000000"/>
                  </a:outerShdw>
                </a:effectLst>
                <a:latin typeface="Helvetica" pitchFamily="34" charset="0"/>
                <a:cs typeface="+mn-cs"/>
              </a:endParaRPr>
            </a:p>
          </p:txBody>
        </p:sp>
        <p:sp>
          <p:nvSpPr>
            <p:cNvPr id="31" name="Rectangle 12"/>
            <p:cNvSpPr>
              <a:spLocks noChangeArrowheads="1"/>
            </p:cNvSpPr>
            <p:nvPr/>
          </p:nvSpPr>
          <p:spPr bwMode="auto">
            <a:xfrm>
              <a:off x="2255"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sp>
          <p:nvSpPr>
            <p:cNvPr id="32" name="Rectangle 13"/>
            <p:cNvSpPr>
              <a:spLocks noChangeArrowheads="1"/>
            </p:cNvSpPr>
            <p:nvPr/>
          </p:nvSpPr>
          <p:spPr bwMode="auto">
            <a:xfrm>
              <a:off x="225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grpSp>
        <p:nvGrpSpPr>
          <p:cNvPr id="33" name="Group 10"/>
          <p:cNvGrpSpPr>
            <a:grpSpLocks/>
          </p:cNvGrpSpPr>
          <p:nvPr/>
        </p:nvGrpSpPr>
        <p:grpSpPr bwMode="auto">
          <a:xfrm>
            <a:off x="4932040" y="858416"/>
            <a:ext cx="1220788" cy="914400"/>
            <a:chOff x="2255" y="576"/>
            <a:chExt cx="769" cy="576"/>
          </a:xfrm>
        </p:grpSpPr>
        <p:sp>
          <p:nvSpPr>
            <p:cNvPr id="34" name="Rectangle 11"/>
            <p:cNvSpPr>
              <a:spLocks noChangeArrowheads="1"/>
            </p:cNvSpPr>
            <p:nvPr/>
          </p:nvSpPr>
          <p:spPr bwMode="auto">
            <a:xfrm>
              <a:off x="2255" y="576"/>
              <a:ext cx="768" cy="336"/>
            </a:xfrm>
            <a:prstGeom prst="rect">
              <a:avLst/>
            </a:prstGeom>
            <a:solidFill>
              <a:srgbClr val="FF000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FF0000"/>
              </a:extrusionClr>
            </a:sp3d>
          </p:spPr>
          <p:txBody>
            <a:bodyPr wrap="none" anchor="ctr">
              <a:flatTx/>
            </a:bodyPr>
            <a:lstStyle/>
            <a:p>
              <a:pPr algn="ctr" eaLnBrk="0" hangingPunct="0">
                <a:lnSpc>
                  <a:spcPct val="90000"/>
                </a:lnSpc>
                <a:defRPr/>
              </a:pPr>
              <a:r>
                <a:rPr lang="en-US" sz="1600" b="1" dirty="0" smtClean="0">
                  <a:solidFill>
                    <a:schemeClr val="bg1"/>
                  </a:solidFill>
                  <a:effectLst>
                    <a:outerShdw blurRad="38100" dist="38100" dir="2700000" algn="tl">
                      <a:srgbClr val="000000"/>
                    </a:outerShdw>
                  </a:effectLst>
                  <a:latin typeface="Helvetica" pitchFamily="34" charset="0"/>
                  <a:cs typeface="+mn-cs"/>
                </a:rPr>
                <a:t>bq77940</a:t>
              </a:r>
              <a:endParaRPr lang="en-US" sz="1600" b="1" dirty="0">
                <a:solidFill>
                  <a:schemeClr val="bg1"/>
                </a:solidFill>
                <a:effectLst>
                  <a:outerShdw blurRad="38100" dist="38100" dir="2700000" algn="tl">
                    <a:srgbClr val="000000"/>
                  </a:outerShdw>
                </a:effectLst>
                <a:latin typeface="Helvetica" pitchFamily="34" charset="0"/>
                <a:cs typeface="+mn-cs"/>
              </a:endParaRPr>
            </a:p>
            <a:p>
              <a:pPr algn="ctr" eaLnBrk="0" hangingPunct="0">
                <a:lnSpc>
                  <a:spcPct val="90000"/>
                </a:lnSpc>
                <a:defRPr/>
              </a:pPr>
              <a:r>
                <a:rPr lang="en-US" sz="1400" b="1" dirty="0" smtClean="0">
                  <a:solidFill>
                    <a:schemeClr val="bg1"/>
                  </a:solidFill>
                  <a:effectLst>
                    <a:outerShdw blurRad="38100" dist="38100" dir="2700000" algn="tl">
                      <a:srgbClr val="000000"/>
                    </a:outerShdw>
                  </a:effectLst>
                  <a:latin typeface="Helvetica" pitchFamily="34" charset="0"/>
                </a:rPr>
                <a:t>AFE</a:t>
              </a:r>
              <a:endParaRPr lang="en-US" sz="1400" b="1" dirty="0">
                <a:solidFill>
                  <a:schemeClr val="bg1"/>
                </a:solidFill>
                <a:effectLst>
                  <a:outerShdw blurRad="38100" dist="38100" dir="2700000" algn="tl">
                    <a:srgbClr val="000000"/>
                  </a:outerShdw>
                </a:effectLst>
                <a:latin typeface="Helvetica" pitchFamily="34" charset="0"/>
                <a:cs typeface="+mn-cs"/>
              </a:endParaRPr>
            </a:p>
          </p:txBody>
        </p:sp>
        <p:sp>
          <p:nvSpPr>
            <p:cNvPr id="35" name="Rectangle 12"/>
            <p:cNvSpPr>
              <a:spLocks noChangeArrowheads="1"/>
            </p:cNvSpPr>
            <p:nvPr/>
          </p:nvSpPr>
          <p:spPr bwMode="auto">
            <a:xfrm>
              <a:off x="2255"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sp>
          <p:nvSpPr>
            <p:cNvPr id="40" name="Rectangle 13"/>
            <p:cNvSpPr>
              <a:spLocks noChangeArrowheads="1"/>
            </p:cNvSpPr>
            <p:nvPr/>
          </p:nvSpPr>
          <p:spPr bwMode="auto">
            <a:xfrm>
              <a:off x="225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grpSp>
        <p:nvGrpSpPr>
          <p:cNvPr id="41" name="Group 10"/>
          <p:cNvGrpSpPr>
            <a:grpSpLocks/>
          </p:cNvGrpSpPr>
          <p:nvPr/>
        </p:nvGrpSpPr>
        <p:grpSpPr bwMode="auto">
          <a:xfrm>
            <a:off x="3207196" y="858416"/>
            <a:ext cx="1220788" cy="914400"/>
            <a:chOff x="2255" y="576"/>
            <a:chExt cx="769" cy="576"/>
          </a:xfrm>
        </p:grpSpPr>
        <p:sp>
          <p:nvSpPr>
            <p:cNvPr id="42" name="Rectangle 11"/>
            <p:cNvSpPr>
              <a:spLocks noChangeArrowheads="1"/>
            </p:cNvSpPr>
            <p:nvPr/>
          </p:nvSpPr>
          <p:spPr bwMode="auto">
            <a:xfrm>
              <a:off x="2255" y="576"/>
              <a:ext cx="768" cy="336"/>
            </a:xfrm>
            <a:prstGeom prst="rect">
              <a:avLst/>
            </a:prstGeom>
            <a:solidFill>
              <a:srgbClr val="FF000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FF0000"/>
              </a:extrusionClr>
            </a:sp3d>
          </p:spPr>
          <p:txBody>
            <a:bodyPr wrap="none" anchor="ctr">
              <a:flatTx/>
            </a:bodyPr>
            <a:lstStyle/>
            <a:p>
              <a:pPr algn="ctr" eaLnBrk="0" hangingPunct="0">
                <a:lnSpc>
                  <a:spcPct val="90000"/>
                </a:lnSpc>
                <a:defRPr/>
              </a:pPr>
              <a:r>
                <a:rPr lang="en-US" sz="1600" b="1" dirty="0" smtClean="0">
                  <a:solidFill>
                    <a:schemeClr val="bg1"/>
                  </a:solidFill>
                  <a:effectLst>
                    <a:outerShdw blurRad="38100" dist="38100" dir="2700000" algn="tl">
                      <a:srgbClr val="000000"/>
                    </a:outerShdw>
                  </a:effectLst>
                  <a:latin typeface="Helvetica" pitchFamily="34" charset="0"/>
                  <a:cs typeface="+mn-cs"/>
                </a:rPr>
                <a:t>bq77930</a:t>
              </a:r>
              <a:endParaRPr lang="en-US" sz="1600" b="1" dirty="0">
                <a:solidFill>
                  <a:schemeClr val="bg1"/>
                </a:solidFill>
                <a:effectLst>
                  <a:outerShdw blurRad="38100" dist="38100" dir="2700000" algn="tl">
                    <a:srgbClr val="000000"/>
                  </a:outerShdw>
                </a:effectLst>
                <a:latin typeface="Helvetica" pitchFamily="34" charset="0"/>
                <a:cs typeface="+mn-cs"/>
              </a:endParaRPr>
            </a:p>
            <a:p>
              <a:pPr algn="ctr" eaLnBrk="0" hangingPunct="0">
                <a:lnSpc>
                  <a:spcPct val="90000"/>
                </a:lnSpc>
                <a:defRPr/>
              </a:pPr>
              <a:r>
                <a:rPr lang="en-US" sz="1400" b="1" dirty="0" smtClean="0">
                  <a:solidFill>
                    <a:schemeClr val="bg1"/>
                  </a:solidFill>
                  <a:effectLst>
                    <a:outerShdw blurRad="38100" dist="38100" dir="2700000" algn="tl">
                      <a:srgbClr val="000000"/>
                    </a:outerShdw>
                  </a:effectLst>
                  <a:latin typeface="Helvetica" pitchFamily="34" charset="0"/>
                </a:rPr>
                <a:t>AFE</a:t>
              </a:r>
              <a:endParaRPr lang="en-US" sz="1400" b="1" dirty="0">
                <a:solidFill>
                  <a:schemeClr val="bg1"/>
                </a:solidFill>
                <a:effectLst>
                  <a:outerShdw blurRad="38100" dist="38100" dir="2700000" algn="tl">
                    <a:srgbClr val="000000"/>
                  </a:outerShdw>
                </a:effectLst>
                <a:latin typeface="Helvetica" pitchFamily="34" charset="0"/>
                <a:cs typeface="+mn-cs"/>
              </a:endParaRPr>
            </a:p>
          </p:txBody>
        </p:sp>
        <p:sp>
          <p:nvSpPr>
            <p:cNvPr id="43" name="Rectangle 12"/>
            <p:cNvSpPr>
              <a:spLocks noChangeArrowheads="1"/>
            </p:cNvSpPr>
            <p:nvPr/>
          </p:nvSpPr>
          <p:spPr bwMode="auto">
            <a:xfrm>
              <a:off x="2255"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sp>
          <p:nvSpPr>
            <p:cNvPr id="44" name="Rectangle 13"/>
            <p:cNvSpPr>
              <a:spLocks noChangeArrowheads="1"/>
            </p:cNvSpPr>
            <p:nvPr/>
          </p:nvSpPr>
          <p:spPr bwMode="auto">
            <a:xfrm>
              <a:off x="225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grpSp>
        <p:nvGrpSpPr>
          <p:cNvPr id="45" name="Group 10"/>
          <p:cNvGrpSpPr>
            <a:grpSpLocks/>
          </p:cNvGrpSpPr>
          <p:nvPr/>
        </p:nvGrpSpPr>
        <p:grpSpPr bwMode="auto">
          <a:xfrm>
            <a:off x="1190972" y="836712"/>
            <a:ext cx="1220788" cy="914400"/>
            <a:chOff x="2255" y="576"/>
            <a:chExt cx="769" cy="576"/>
          </a:xfrm>
        </p:grpSpPr>
        <p:sp>
          <p:nvSpPr>
            <p:cNvPr id="46" name="Rectangle 11"/>
            <p:cNvSpPr>
              <a:spLocks noChangeArrowheads="1"/>
            </p:cNvSpPr>
            <p:nvPr/>
          </p:nvSpPr>
          <p:spPr bwMode="auto">
            <a:xfrm>
              <a:off x="2255" y="576"/>
              <a:ext cx="768" cy="336"/>
            </a:xfrm>
            <a:prstGeom prst="rect">
              <a:avLst/>
            </a:prstGeom>
            <a:solidFill>
              <a:srgbClr val="FF000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FF0000"/>
              </a:extrusionClr>
            </a:sp3d>
          </p:spPr>
          <p:txBody>
            <a:bodyPr wrap="none" anchor="ctr">
              <a:flatTx/>
            </a:bodyPr>
            <a:lstStyle/>
            <a:p>
              <a:pPr algn="ctr" eaLnBrk="0" hangingPunct="0">
                <a:lnSpc>
                  <a:spcPct val="90000"/>
                </a:lnSpc>
                <a:defRPr/>
              </a:pPr>
              <a:r>
                <a:rPr lang="en-US" sz="1600" b="1" dirty="0" smtClean="0">
                  <a:solidFill>
                    <a:schemeClr val="bg1"/>
                  </a:solidFill>
                  <a:effectLst>
                    <a:outerShdw blurRad="38100" dist="38100" dir="2700000" algn="tl">
                      <a:srgbClr val="000000"/>
                    </a:outerShdw>
                  </a:effectLst>
                  <a:latin typeface="Helvetica" pitchFamily="34" charset="0"/>
                  <a:cs typeface="+mn-cs"/>
                </a:rPr>
                <a:t>bq77920</a:t>
              </a:r>
              <a:endParaRPr lang="en-US" sz="1600" b="1" dirty="0">
                <a:solidFill>
                  <a:schemeClr val="bg1"/>
                </a:solidFill>
                <a:effectLst>
                  <a:outerShdw blurRad="38100" dist="38100" dir="2700000" algn="tl">
                    <a:srgbClr val="000000"/>
                  </a:outerShdw>
                </a:effectLst>
                <a:latin typeface="Helvetica" pitchFamily="34" charset="0"/>
                <a:cs typeface="+mn-cs"/>
              </a:endParaRPr>
            </a:p>
            <a:p>
              <a:pPr algn="ctr" eaLnBrk="0" hangingPunct="0">
                <a:lnSpc>
                  <a:spcPct val="90000"/>
                </a:lnSpc>
                <a:defRPr/>
              </a:pPr>
              <a:r>
                <a:rPr lang="en-US" sz="1400" b="1" dirty="0" smtClean="0">
                  <a:solidFill>
                    <a:schemeClr val="bg1"/>
                  </a:solidFill>
                  <a:effectLst>
                    <a:outerShdw blurRad="38100" dist="38100" dir="2700000" algn="tl">
                      <a:srgbClr val="000000"/>
                    </a:outerShdw>
                  </a:effectLst>
                  <a:latin typeface="Helvetica" pitchFamily="34" charset="0"/>
                </a:rPr>
                <a:t>AFE</a:t>
              </a:r>
              <a:endParaRPr lang="en-US" sz="1400" b="1" dirty="0">
                <a:solidFill>
                  <a:schemeClr val="bg1"/>
                </a:solidFill>
                <a:effectLst>
                  <a:outerShdw blurRad="38100" dist="38100" dir="2700000" algn="tl">
                    <a:srgbClr val="000000"/>
                  </a:outerShdw>
                </a:effectLst>
                <a:latin typeface="Helvetica" pitchFamily="34" charset="0"/>
                <a:cs typeface="+mn-cs"/>
              </a:endParaRPr>
            </a:p>
          </p:txBody>
        </p:sp>
        <p:sp>
          <p:nvSpPr>
            <p:cNvPr id="47" name="Rectangle 12"/>
            <p:cNvSpPr>
              <a:spLocks noChangeArrowheads="1"/>
            </p:cNvSpPr>
            <p:nvPr/>
          </p:nvSpPr>
          <p:spPr bwMode="auto">
            <a:xfrm>
              <a:off x="2255"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sp>
          <p:nvSpPr>
            <p:cNvPr id="48" name="Rectangle 13"/>
            <p:cNvSpPr>
              <a:spLocks noChangeArrowheads="1"/>
            </p:cNvSpPr>
            <p:nvPr/>
          </p:nvSpPr>
          <p:spPr bwMode="auto">
            <a:xfrm>
              <a:off x="225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sp>
        <p:nvSpPr>
          <p:cNvPr id="50" name="Text Box 47"/>
          <p:cNvSpPr txBox="1">
            <a:spLocks noChangeArrowheads="1"/>
          </p:cNvSpPr>
          <p:nvPr/>
        </p:nvSpPr>
        <p:spPr bwMode="auto">
          <a:xfrm>
            <a:off x="4644008" y="1939280"/>
            <a:ext cx="1752600" cy="22098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模拟前端与电池平衡</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需要主机控制</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9</a:t>
            </a:r>
            <a:r>
              <a:rPr lang="en-US" altLang="zh-TW" sz="1200" dirty="0" smtClean="0">
                <a:solidFill>
                  <a:srgbClr val="FF0000"/>
                </a:solidFill>
                <a:latin typeface="微軟正黑體" pitchFamily="34" charset="-120"/>
                <a:ea typeface="微軟正黑體" pitchFamily="34" charset="-120"/>
              </a:rPr>
              <a:t> </a:t>
            </a:r>
            <a:r>
              <a:rPr lang="en-US" altLang="zh-TW" sz="1200" dirty="0">
                <a:solidFill>
                  <a:srgbClr val="FF0000"/>
                </a:solidFill>
                <a:latin typeface="微軟正黑體" pitchFamily="34" charset="-120"/>
                <a:ea typeface="微軟正黑體" pitchFamily="34" charset="-120"/>
              </a:rPr>
              <a:t>to </a:t>
            </a:r>
            <a:r>
              <a:rPr lang="en-US" altLang="zh-TW" sz="1200" dirty="0" smtClean="0">
                <a:solidFill>
                  <a:srgbClr val="FF0000"/>
                </a:solidFill>
                <a:latin typeface="微軟正黑體" pitchFamily="34" charset="-120"/>
                <a:ea typeface="微軟正黑體" pitchFamily="34" charset="-120"/>
              </a:rPr>
              <a:t>15 </a:t>
            </a:r>
            <a:r>
              <a:rPr lang="en-US" altLang="zh-TW" sz="1200" dirty="0">
                <a:solidFill>
                  <a:srgbClr val="FF0000"/>
                </a:solidFill>
                <a:latin typeface="微軟正黑體" pitchFamily="34" charset="-120"/>
                <a:ea typeface="微軟正黑體" pitchFamily="34" charset="-120"/>
              </a:rPr>
              <a:t>Li </a:t>
            </a:r>
            <a:r>
              <a:rPr lang="en-US" altLang="zh-TW" sz="120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内置硬件保护</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TW" altLang="en-US" sz="1200" dirty="0" smtClean="0">
                <a:solidFill>
                  <a:srgbClr val="FF0000"/>
                </a:solidFill>
                <a:latin typeface="微軟正黑體" pitchFamily="34" charset="-120"/>
                <a:ea typeface="微軟正黑體" pitchFamily="34" charset="-120"/>
              </a:rPr>
              <a:t>纯数字接口</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可搭配</a:t>
            </a:r>
            <a:r>
              <a:rPr lang="en-US" altLang="zh-CN" sz="1200" dirty="0" err="1" smtClean="0">
                <a:solidFill>
                  <a:srgbClr val="FF0000"/>
                </a:solidFill>
                <a:latin typeface="微軟正黑體" pitchFamily="34" charset="-120"/>
                <a:ea typeface="微軟正黑體" pitchFamily="34" charset="-120"/>
              </a:rPr>
              <a:t>bqMAXIMUS</a:t>
            </a:r>
            <a:r>
              <a:rPr lang="zh-CN" altLang="en-US" sz="1200" dirty="0" smtClean="0">
                <a:solidFill>
                  <a:srgbClr val="FF0000"/>
                </a:solidFill>
                <a:latin typeface="微軟正黑體" pitchFamily="34" charset="-120"/>
                <a:ea typeface="微軟正黑體" pitchFamily="34" charset="-120"/>
              </a:rPr>
              <a:t>配套控制器（芯片组解决方案）</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u="sng"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电池掉电检测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电阻式平衡</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14</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的电池电压和温度</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15</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（库仑计数器）电流</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中断输出</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支持</a:t>
            </a:r>
            <a:r>
              <a:rPr lang="zh-TW" altLang="en-US" sz="1200" dirty="0" smtClean="0">
                <a:latin typeface="微軟正黑體" pitchFamily="34" charset="-120"/>
                <a:ea typeface="微軟正黑體" pitchFamily="34" charset="-120"/>
              </a:rPr>
              <a:t>電池</a:t>
            </a:r>
            <a:r>
              <a:rPr lang="zh-CN" altLang="en-US" sz="1200" dirty="0" smtClean="0">
                <a:latin typeface="微軟正黑體" pitchFamily="34" charset="-120"/>
                <a:ea typeface="微軟正黑體" pitchFamily="34" charset="-120"/>
              </a:rPr>
              <a:t>随机连接</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提供</a:t>
            </a:r>
            <a:r>
              <a:rPr lang="en-US" altLang="zh-TW" sz="1200" dirty="0" smtClean="0">
                <a:latin typeface="微軟正黑體" pitchFamily="34" charset="-120"/>
                <a:ea typeface="微軟正黑體" pitchFamily="34" charset="-120"/>
              </a:rPr>
              <a:t>3.3V</a:t>
            </a:r>
            <a:r>
              <a:rPr lang="zh-TW" altLang="en-US" sz="1200" dirty="0" smtClean="0">
                <a:latin typeface="微軟正黑體" pitchFamily="34" charset="-120"/>
                <a:ea typeface="微軟正黑體" pitchFamily="34" charset="-120"/>
              </a:rPr>
              <a:t>稳压输出</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30-160µA normal </a:t>
            </a:r>
          </a:p>
          <a:p>
            <a:pPr marL="114300" indent="-114300" eaLnBrk="0" hangingPunct="0">
              <a:buFontTx/>
              <a:buChar char="•"/>
            </a:pPr>
            <a:r>
              <a:rPr lang="zh-TW" altLang="en-US" sz="1200" dirty="0">
                <a:latin typeface="微軟正黑體" pitchFamily="34" charset="-120"/>
                <a:ea typeface="微軟正黑體" pitchFamily="34" charset="-120"/>
              </a:rPr>
              <a:t>關斷模是小於</a:t>
            </a:r>
            <a:r>
              <a:rPr lang="en-US" altLang="zh-TW" sz="1200" dirty="0">
                <a:latin typeface="微軟正黑體" pitchFamily="34" charset="-120"/>
                <a:ea typeface="微軟正黑體" pitchFamily="34" charset="-120"/>
              </a:rPr>
              <a:t>1uA</a:t>
            </a:r>
          </a:p>
          <a:p>
            <a:pPr marL="114300" indent="-114300" eaLnBrk="0" hangingPunct="0">
              <a:buFontTx/>
              <a:buChar char="•"/>
            </a:pPr>
            <a:r>
              <a:rPr lang="en-US" altLang="zh-TW" sz="1200" dirty="0" smtClean="0">
                <a:solidFill>
                  <a:srgbClr val="FF0000"/>
                </a:solidFill>
                <a:latin typeface="Helvetica" pitchFamily="34" charset="0"/>
              </a:rPr>
              <a:t>44</a:t>
            </a:r>
            <a:r>
              <a:rPr lang="en-US" altLang="zh-TW" sz="1200" dirty="0" smtClean="0">
                <a:solidFill>
                  <a:srgbClr val="FF0000"/>
                </a:solidFill>
                <a:latin typeface="Helvetica" pitchFamily="34" charset="0"/>
                <a:ea typeface="新細明體" charset="-120"/>
              </a:rPr>
              <a:t>-pin </a:t>
            </a:r>
            <a:r>
              <a:rPr lang="en-US" altLang="zh-TW" sz="1200" dirty="0">
                <a:solidFill>
                  <a:srgbClr val="FF0000"/>
                </a:solidFill>
                <a:latin typeface="Helvetica" pitchFamily="34" charset="0"/>
                <a:ea typeface="新細明體" charset="-120"/>
              </a:rPr>
              <a:t>SSOP</a:t>
            </a:r>
          </a:p>
        </p:txBody>
      </p:sp>
      <p:sp>
        <p:nvSpPr>
          <p:cNvPr id="51" name="Text Box 47"/>
          <p:cNvSpPr txBox="1">
            <a:spLocks noChangeArrowheads="1"/>
          </p:cNvSpPr>
          <p:nvPr/>
        </p:nvSpPr>
        <p:spPr bwMode="auto">
          <a:xfrm>
            <a:off x="2843808" y="1939280"/>
            <a:ext cx="1752600" cy="22098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模拟前端与电池平衡</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需要主机控制</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smtClean="0">
                <a:solidFill>
                  <a:srgbClr val="FF0000"/>
                </a:solidFill>
                <a:latin typeface="微軟正黑體" pitchFamily="34" charset="-120"/>
                <a:ea typeface="微軟正黑體" pitchFamily="34" charset="-120"/>
              </a:rPr>
              <a:t>6 to</a:t>
            </a:r>
            <a:r>
              <a:rPr lang="zh-TW" altLang="en-US"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10 </a:t>
            </a:r>
            <a:r>
              <a:rPr lang="en-US" altLang="zh-TW" sz="1200" dirty="0">
                <a:solidFill>
                  <a:srgbClr val="FF0000"/>
                </a:solidFill>
                <a:latin typeface="微軟正黑體" pitchFamily="34" charset="-120"/>
                <a:ea typeface="微軟正黑體" pitchFamily="34" charset="-120"/>
              </a:rPr>
              <a:t>Li </a:t>
            </a:r>
            <a:r>
              <a:rPr lang="en-US" altLang="zh-TW" sz="120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内置硬件保护</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TW" altLang="en-US" sz="1200" dirty="0" smtClean="0">
                <a:solidFill>
                  <a:srgbClr val="FF0000"/>
                </a:solidFill>
                <a:latin typeface="微軟正黑體" pitchFamily="34" charset="-120"/>
                <a:ea typeface="微軟正黑體" pitchFamily="34" charset="-120"/>
              </a:rPr>
              <a:t>纯数字接口</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可搭配</a:t>
            </a:r>
            <a:r>
              <a:rPr lang="en-US" altLang="zh-CN" sz="1200" dirty="0" err="1" smtClean="0">
                <a:solidFill>
                  <a:srgbClr val="FF0000"/>
                </a:solidFill>
                <a:latin typeface="微軟正黑體" pitchFamily="34" charset="-120"/>
                <a:ea typeface="微軟正黑體" pitchFamily="34" charset="-120"/>
              </a:rPr>
              <a:t>bqMAXIMUS</a:t>
            </a:r>
            <a:r>
              <a:rPr lang="zh-CN" altLang="en-US" sz="1200" dirty="0" smtClean="0">
                <a:solidFill>
                  <a:srgbClr val="FF0000"/>
                </a:solidFill>
                <a:latin typeface="微軟正黑體" pitchFamily="34" charset="-120"/>
                <a:ea typeface="微軟正黑體" pitchFamily="34" charset="-120"/>
              </a:rPr>
              <a:t>配套控制器（芯片组解决方案）</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u="sng"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电池掉电检测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电阻式平衡</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14</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的电池电压和温度</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15</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（库仑计数器）电流</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中断输出</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支持</a:t>
            </a:r>
            <a:r>
              <a:rPr lang="zh-TW" altLang="en-US" sz="1200" dirty="0" smtClean="0">
                <a:latin typeface="微軟正黑體" pitchFamily="34" charset="-120"/>
                <a:ea typeface="微軟正黑體" pitchFamily="34" charset="-120"/>
              </a:rPr>
              <a:t>電池</a:t>
            </a:r>
            <a:r>
              <a:rPr lang="zh-CN" altLang="en-US" sz="1200" dirty="0" smtClean="0">
                <a:latin typeface="微軟正黑體" pitchFamily="34" charset="-120"/>
                <a:ea typeface="微軟正黑體" pitchFamily="34" charset="-120"/>
              </a:rPr>
              <a:t>随机连接</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提供</a:t>
            </a:r>
            <a:r>
              <a:rPr lang="en-US" altLang="zh-TW" sz="1200" dirty="0" smtClean="0">
                <a:latin typeface="微軟正黑體" pitchFamily="34" charset="-120"/>
                <a:ea typeface="微軟正黑體" pitchFamily="34" charset="-120"/>
              </a:rPr>
              <a:t>3.3V</a:t>
            </a:r>
            <a:r>
              <a:rPr lang="zh-TW" altLang="en-US" sz="1200" dirty="0" smtClean="0">
                <a:latin typeface="微軟正黑體" pitchFamily="34" charset="-120"/>
                <a:ea typeface="微軟正黑體" pitchFamily="34" charset="-120"/>
              </a:rPr>
              <a:t>稳压输出</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30-160µA normal </a:t>
            </a:r>
          </a:p>
          <a:p>
            <a:pPr marL="114300" indent="-114300" eaLnBrk="0" hangingPunct="0">
              <a:buFontTx/>
              <a:buChar char="•"/>
            </a:pPr>
            <a:r>
              <a:rPr lang="zh-TW" altLang="en-US" sz="1200" dirty="0">
                <a:latin typeface="微軟正黑體" pitchFamily="34" charset="-120"/>
                <a:ea typeface="微軟正黑體" pitchFamily="34" charset="-120"/>
              </a:rPr>
              <a:t>關斷模是小於</a:t>
            </a:r>
            <a:r>
              <a:rPr lang="en-US" altLang="zh-TW" sz="1200" dirty="0">
                <a:latin typeface="微軟正黑體" pitchFamily="34" charset="-120"/>
                <a:ea typeface="微軟正黑體" pitchFamily="34" charset="-120"/>
              </a:rPr>
              <a:t>1uA</a:t>
            </a:r>
          </a:p>
          <a:p>
            <a:pPr marL="114300" indent="-114300" eaLnBrk="0" hangingPunct="0">
              <a:buFontTx/>
              <a:buChar char="•"/>
            </a:pPr>
            <a:r>
              <a:rPr lang="en-US" altLang="zh-TW" sz="1200" dirty="0" smtClean="0">
                <a:solidFill>
                  <a:srgbClr val="FF0000"/>
                </a:solidFill>
                <a:latin typeface="Helvetica" pitchFamily="34" charset="0"/>
              </a:rPr>
              <a:t>30</a:t>
            </a:r>
            <a:r>
              <a:rPr lang="en-US" altLang="zh-TW" sz="1200" dirty="0" smtClean="0">
                <a:solidFill>
                  <a:srgbClr val="FF0000"/>
                </a:solidFill>
                <a:latin typeface="Helvetica" pitchFamily="34" charset="0"/>
                <a:ea typeface="新細明體" charset="-120"/>
              </a:rPr>
              <a:t>-pin </a:t>
            </a:r>
            <a:r>
              <a:rPr lang="en-US" altLang="zh-TW" sz="1200" dirty="0">
                <a:solidFill>
                  <a:srgbClr val="FF0000"/>
                </a:solidFill>
                <a:latin typeface="Helvetica" pitchFamily="34" charset="0"/>
                <a:ea typeface="新細明體" charset="-120"/>
              </a:rPr>
              <a:t>SSOP</a:t>
            </a:r>
          </a:p>
        </p:txBody>
      </p:sp>
      <p:sp>
        <p:nvSpPr>
          <p:cNvPr id="52" name="Text Box 47"/>
          <p:cNvSpPr txBox="1">
            <a:spLocks noChangeArrowheads="1"/>
          </p:cNvSpPr>
          <p:nvPr/>
        </p:nvSpPr>
        <p:spPr bwMode="auto">
          <a:xfrm>
            <a:off x="971600" y="1939280"/>
            <a:ext cx="1752600" cy="22098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模拟前端与电池平衡</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需要主机控制</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3</a:t>
            </a:r>
            <a:r>
              <a:rPr lang="en-US" altLang="zh-TW" sz="1200" dirty="0" smtClean="0">
                <a:solidFill>
                  <a:srgbClr val="FF0000"/>
                </a:solidFill>
                <a:latin typeface="微軟正黑體" pitchFamily="34" charset="-120"/>
                <a:ea typeface="微軟正黑體" pitchFamily="34" charset="-120"/>
              </a:rPr>
              <a:t> to</a:t>
            </a:r>
            <a:r>
              <a:rPr lang="zh-TW" altLang="en-US" sz="1200" dirty="0" smtClean="0">
                <a:solidFill>
                  <a:srgbClr val="FF0000"/>
                </a:solidFill>
                <a:latin typeface="微軟正黑體" pitchFamily="34" charset="-120"/>
                <a:ea typeface="微軟正黑體" pitchFamily="34" charset="-120"/>
              </a:rPr>
              <a:t> </a:t>
            </a:r>
            <a:r>
              <a:rPr lang="en-US" altLang="zh-TW" sz="1200" dirty="0">
                <a:solidFill>
                  <a:srgbClr val="FF0000"/>
                </a:solidFill>
                <a:latin typeface="微軟正黑體" pitchFamily="34" charset="-120"/>
                <a:ea typeface="微軟正黑體" pitchFamily="34" charset="-120"/>
              </a:rPr>
              <a:t>5</a:t>
            </a:r>
            <a:r>
              <a:rPr lang="en-US" altLang="zh-TW" sz="1200" dirty="0" smtClean="0">
                <a:solidFill>
                  <a:srgbClr val="FF0000"/>
                </a:solidFill>
                <a:latin typeface="微軟正黑體" pitchFamily="34" charset="-120"/>
                <a:ea typeface="微軟正黑體" pitchFamily="34" charset="-120"/>
              </a:rPr>
              <a:t> </a:t>
            </a:r>
            <a:r>
              <a:rPr lang="en-US" altLang="zh-TW" sz="1200" dirty="0">
                <a:solidFill>
                  <a:srgbClr val="FF0000"/>
                </a:solidFill>
                <a:latin typeface="微軟正黑體" pitchFamily="34" charset="-120"/>
                <a:ea typeface="微軟正黑體" pitchFamily="34" charset="-120"/>
              </a:rPr>
              <a:t>Li </a:t>
            </a:r>
            <a:r>
              <a:rPr lang="en-US" altLang="zh-TW" sz="120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内置硬件保护</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TW" altLang="en-US" sz="1200" dirty="0" smtClean="0">
                <a:solidFill>
                  <a:srgbClr val="FF0000"/>
                </a:solidFill>
                <a:latin typeface="微軟正黑體" pitchFamily="34" charset="-120"/>
                <a:ea typeface="微軟正黑體" pitchFamily="34" charset="-120"/>
              </a:rPr>
              <a:t>纯数字接口</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可搭配</a:t>
            </a:r>
            <a:r>
              <a:rPr lang="en-US" altLang="zh-CN" sz="1200" dirty="0" err="1" smtClean="0">
                <a:solidFill>
                  <a:srgbClr val="FF0000"/>
                </a:solidFill>
                <a:latin typeface="微軟正黑體" pitchFamily="34" charset="-120"/>
                <a:ea typeface="微軟正黑體" pitchFamily="34" charset="-120"/>
              </a:rPr>
              <a:t>bqMAXIMUS</a:t>
            </a:r>
            <a:r>
              <a:rPr lang="zh-CN" altLang="en-US" sz="1200" dirty="0" smtClean="0">
                <a:solidFill>
                  <a:srgbClr val="FF0000"/>
                </a:solidFill>
                <a:latin typeface="微軟正黑體" pitchFamily="34" charset="-120"/>
                <a:ea typeface="微軟正黑體" pitchFamily="34" charset="-120"/>
              </a:rPr>
              <a:t>配套控制器（芯片组解决方案）</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u="sng" dirty="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电池掉电检测</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电阻式平衡</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14</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的电池电压和温度</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15</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（库仑计数器）电流</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中断输出</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支持</a:t>
            </a:r>
            <a:r>
              <a:rPr lang="zh-TW" altLang="en-US" sz="1200" dirty="0" smtClean="0">
                <a:latin typeface="微軟正黑體" pitchFamily="34" charset="-120"/>
                <a:ea typeface="微軟正黑體" pitchFamily="34" charset="-120"/>
              </a:rPr>
              <a:t>電池</a:t>
            </a:r>
            <a:r>
              <a:rPr lang="zh-CN" altLang="en-US" sz="1200" dirty="0" smtClean="0">
                <a:latin typeface="微軟正黑體" pitchFamily="34" charset="-120"/>
                <a:ea typeface="微軟正黑體" pitchFamily="34" charset="-120"/>
              </a:rPr>
              <a:t>随机连接</a:t>
            </a:r>
            <a:endParaRPr lang="en-US" altLang="zh-TW" sz="1200" dirty="0">
              <a:latin typeface="微軟正黑體" pitchFamily="34" charset="-120"/>
              <a:ea typeface="微軟正黑體" pitchFamily="34" charset="-120"/>
            </a:endParaRPr>
          </a:p>
          <a:p>
            <a:pPr marL="114300" indent="-114300" eaLnBrk="0" hangingPunct="0">
              <a:buFontTx/>
              <a:buChar char="•"/>
            </a:pPr>
            <a:r>
              <a:rPr lang="zh-TW" altLang="en-US" sz="1200" dirty="0" smtClean="0">
                <a:latin typeface="微軟正黑體" pitchFamily="34" charset="-120"/>
                <a:ea typeface="微軟正黑體" pitchFamily="34" charset="-120"/>
              </a:rPr>
              <a:t>提供</a:t>
            </a:r>
            <a:r>
              <a:rPr lang="en-US" altLang="zh-TW" sz="1200" dirty="0" smtClean="0">
                <a:latin typeface="微軟正黑體" pitchFamily="34" charset="-120"/>
                <a:ea typeface="微軟正黑體" pitchFamily="34" charset="-120"/>
              </a:rPr>
              <a:t>3.3V</a:t>
            </a:r>
            <a:r>
              <a:rPr lang="zh-TW" altLang="en-US" sz="1200" dirty="0" smtClean="0">
                <a:latin typeface="微軟正黑體" pitchFamily="34" charset="-120"/>
                <a:ea typeface="微軟正黑體" pitchFamily="34" charset="-120"/>
              </a:rPr>
              <a:t>稳压输出</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latin typeface="微軟正黑體" pitchFamily="34" charset="-120"/>
                <a:ea typeface="微軟正黑體" pitchFamily="34" charset="-120"/>
              </a:rPr>
              <a:t>30-160µA normal </a:t>
            </a:r>
          </a:p>
          <a:p>
            <a:pPr marL="114300" indent="-114300" eaLnBrk="0" hangingPunct="0">
              <a:buFontTx/>
              <a:buChar char="•"/>
            </a:pPr>
            <a:r>
              <a:rPr lang="zh-TW" altLang="en-US" sz="1200" dirty="0">
                <a:latin typeface="微軟正黑體" pitchFamily="34" charset="-120"/>
                <a:ea typeface="微軟正黑體" pitchFamily="34" charset="-120"/>
              </a:rPr>
              <a:t>關斷模是小於</a:t>
            </a:r>
            <a:r>
              <a:rPr lang="en-US" altLang="zh-TW" sz="1200" dirty="0">
                <a:latin typeface="微軟正黑體" pitchFamily="34" charset="-120"/>
                <a:ea typeface="微軟正黑體" pitchFamily="34" charset="-120"/>
              </a:rPr>
              <a:t>1uA</a:t>
            </a:r>
          </a:p>
          <a:p>
            <a:pPr marL="114300" indent="-114300" eaLnBrk="0" hangingPunct="0">
              <a:buFontTx/>
              <a:buChar char="•"/>
            </a:pPr>
            <a:r>
              <a:rPr lang="en-US" altLang="zh-TW" sz="1200" dirty="0" smtClean="0">
                <a:solidFill>
                  <a:srgbClr val="FF0000"/>
                </a:solidFill>
                <a:latin typeface="Helvetica" pitchFamily="34" charset="0"/>
              </a:rPr>
              <a:t>20</a:t>
            </a:r>
            <a:r>
              <a:rPr lang="en-US" altLang="zh-TW" sz="1200" dirty="0" smtClean="0">
                <a:solidFill>
                  <a:srgbClr val="FF0000"/>
                </a:solidFill>
                <a:latin typeface="Helvetica" pitchFamily="34" charset="0"/>
                <a:ea typeface="新細明體" charset="-120"/>
              </a:rPr>
              <a:t>-pin </a:t>
            </a:r>
            <a:r>
              <a:rPr lang="en-US" altLang="zh-TW" sz="1200" dirty="0">
                <a:solidFill>
                  <a:srgbClr val="FF0000"/>
                </a:solidFill>
                <a:latin typeface="Helvetica" pitchFamily="34" charset="0"/>
                <a:ea typeface="新細明體" charset="-120"/>
              </a:rPr>
              <a:t>SSOP</a:t>
            </a:r>
          </a:p>
        </p:txBody>
      </p:sp>
      <p:grpSp>
        <p:nvGrpSpPr>
          <p:cNvPr id="29" name="Group 44"/>
          <p:cNvGrpSpPr>
            <a:grpSpLocks/>
          </p:cNvGrpSpPr>
          <p:nvPr/>
        </p:nvGrpSpPr>
        <p:grpSpPr bwMode="auto">
          <a:xfrm>
            <a:off x="35496" y="4653135"/>
            <a:ext cx="1599406" cy="1099711"/>
            <a:chOff x="731520" y="4524906"/>
            <a:chExt cx="1097280" cy="1100029"/>
          </a:xfrm>
        </p:grpSpPr>
        <p:sp>
          <p:nvSpPr>
            <p:cNvPr id="36" name="Text Box 4"/>
            <p:cNvSpPr txBox="1">
              <a:spLocks noChangeArrowheads="1"/>
            </p:cNvSpPr>
            <p:nvPr/>
          </p:nvSpPr>
          <p:spPr bwMode="auto">
            <a:xfrm>
              <a:off x="914400" y="4572000"/>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量产</a:t>
              </a:r>
              <a:endParaRPr lang="en-US" altLang="zh-CN" sz="800" b="1" dirty="0">
                <a:solidFill>
                  <a:srgbClr val="000000"/>
                </a:solidFill>
                <a:latin typeface="微軟正黑體" pitchFamily="34" charset="-120"/>
                <a:ea typeface="微軟正黑體" pitchFamily="34" charset="-120"/>
              </a:endParaRPr>
            </a:p>
          </p:txBody>
        </p:sp>
        <p:sp>
          <p:nvSpPr>
            <p:cNvPr id="37" name="Text Box 6"/>
            <p:cNvSpPr txBox="1">
              <a:spLocks noChangeArrowheads="1"/>
            </p:cNvSpPr>
            <p:nvPr/>
          </p:nvSpPr>
          <p:spPr bwMode="auto">
            <a:xfrm>
              <a:off x="914400" y="5120641"/>
              <a:ext cx="914400" cy="215506"/>
            </a:xfrm>
            <a:prstGeom prst="rect">
              <a:avLst/>
            </a:prstGeom>
            <a:noFill/>
            <a:ln w="9525">
              <a:noFill/>
              <a:miter lim="800000"/>
              <a:headEnd/>
              <a:tailEnd/>
            </a:ln>
          </p:spPr>
          <p:txBody>
            <a:bodyPr>
              <a:spAutoFit/>
            </a:bodyPr>
            <a:lstStyle/>
            <a:p>
              <a:pPr eaLnBrk="0" hangingPunct="0"/>
              <a:r>
                <a:rPr lang="zh-TW" altLang="en-US" sz="800" b="1" dirty="0" smtClean="0">
                  <a:solidFill>
                    <a:srgbClr val="000000"/>
                  </a:solidFill>
                  <a:latin typeface="微軟正黑體" pitchFamily="34" charset="-120"/>
                  <a:ea typeface="微軟正黑體" pitchFamily="34" charset="-120"/>
                </a:rPr>
                <a:t>评估</a:t>
              </a:r>
              <a:endParaRPr lang="en-US" altLang="zh-CN" sz="800" b="1" dirty="0">
                <a:solidFill>
                  <a:srgbClr val="000000"/>
                </a:solidFill>
                <a:latin typeface="微軟正黑體" pitchFamily="34" charset="-120"/>
                <a:ea typeface="微軟正黑體" pitchFamily="34" charset="-120"/>
              </a:endParaRPr>
            </a:p>
          </p:txBody>
        </p:sp>
        <p:sp>
          <p:nvSpPr>
            <p:cNvPr id="38" name="Oval 7"/>
            <p:cNvSpPr>
              <a:spLocks noChangeArrowheads="1"/>
            </p:cNvSpPr>
            <p:nvPr/>
          </p:nvSpPr>
          <p:spPr bwMode="auto">
            <a:xfrm>
              <a:off x="731520" y="4799227"/>
              <a:ext cx="182880" cy="277067"/>
            </a:xfrm>
            <a:prstGeom prst="ellipse">
              <a:avLst/>
            </a:prstGeom>
            <a:solidFill>
              <a:srgbClr val="CC000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39" name="Oval 9"/>
            <p:cNvSpPr>
              <a:spLocks noChangeArrowheads="1"/>
            </p:cNvSpPr>
            <p:nvPr/>
          </p:nvSpPr>
          <p:spPr bwMode="auto">
            <a:xfrm>
              <a:off x="731520" y="5073547"/>
              <a:ext cx="182880" cy="277067"/>
            </a:xfrm>
            <a:prstGeom prst="ellipse">
              <a:avLst/>
            </a:prstGeom>
            <a:solidFill>
              <a:srgbClr val="00008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49" name="Oval 10"/>
            <p:cNvSpPr>
              <a:spLocks noChangeArrowheads="1"/>
            </p:cNvSpPr>
            <p:nvPr/>
          </p:nvSpPr>
          <p:spPr bwMode="auto">
            <a:xfrm>
              <a:off x="731520" y="4524906"/>
              <a:ext cx="182880" cy="277067"/>
            </a:xfrm>
            <a:prstGeom prst="ellipse">
              <a:avLst/>
            </a:prstGeom>
            <a:solidFill>
              <a:srgbClr val="00800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53" name="Text Box 11"/>
            <p:cNvSpPr txBox="1">
              <a:spLocks noChangeArrowheads="1"/>
            </p:cNvSpPr>
            <p:nvPr/>
          </p:nvSpPr>
          <p:spPr bwMode="auto">
            <a:xfrm>
              <a:off x="914400" y="4846322"/>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可提供样品</a:t>
              </a:r>
              <a:endParaRPr lang="en-US" altLang="zh-CN" sz="800" b="1" dirty="0">
                <a:solidFill>
                  <a:srgbClr val="000000"/>
                </a:solidFill>
                <a:latin typeface="微軟正黑體" pitchFamily="34" charset="-120"/>
                <a:ea typeface="微軟正黑體" pitchFamily="34" charset="-120"/>
              </a:endParaRPr>
            </a:p>
          </p:txBody>
        </p:sp>
        <p:sp>
          <p:nvSpPr>
            <p:cNvPr id="54" name="Oval 12"/>
            <p:cNvSpPr>
              <a:spLocks noChangeArrowheads="1"/>
            </p:cNvSpPr>
            <p:nvPr/>
          </p:nvSpPr>
          <p:spPr bwMode="auto">
            <a:xfrm>
              <a:off x="731520" y="5347868"/>
              <a:ext cx="182880" cy="277067"/>
            </a:xfrm>
            <a:prstGeom prst="ellipse">
              <a:avLst/>
            </a:prstGeom>
            <a:solidFill>
              <a:srgbClr val="FFFF99"/>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55" name="Text Box 13"/>
            <p:cNvSpPr txBox="1">
              <a:spLocks noChangeArrowheads="1"/>
            </p:cNvSpPr>
            <p:nvPr/>
          </p:nvSpPr>
          <p:spPr bwMode="auto">
            <a:xfrm>
              <a:off x="914400" y="5394962"/>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新定义</a:t>
              </a:r>
              <a:endParaRPr lang="en-US" altLang="zh-CN" sz="800" b="1" dirty="0">
                <a:solidFill>
                  <a:srgbClr val="000000"/>
                </a:solidFill>
                <a:latin typeface="微軟正黑體" pitchFamily="34" charset="-120"/>
                <a:ea typeface="微軟正黑體" pitchFamily="34" charset="-120"/>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808" y="-27384"/>
            <a:ext cx="8229600" cy="1143000"/>
          </a:xfrm>
        </p:spPr>
        <p:txBody>
          <a:bodyPr/>
          <a:lstStyle/>
          <a:p>
            <a:r>
              <a:rPr lang="en-US" altLang="zh-TW" sz="2800" dirty="0" err="1" smtClean="0">
                <a:solidFill>
                  <a:srgbClr val="6600FF"/>
                </a:solidFill>
                <a:effectLst>
                  <a:outerShdw blurRad="38100" dist="38100" dir="2700000" algn="tl">
                    <a:srgbClr val="000000">
                      <a:alpha val="43137"/>
                    </a:srgbClr>
                  </a:outerShdw>
                </a:effectLst>
                <a:latin typeface="Times New Roman" pitchFamily="18" charset="0"/>
                <a:cs typeface="Times New Roman" pitchFamily="18" charset="0"/>
              </a:rPr>
              <a:t>bqMAXIMO</a:t>
            </a:r>
            <a:r>
              <a:rPr lang="en-US" altLang="zh-TW" sz="2800" dirty="0" smtClean="0">
                <a:solidFill>
                  <a:srgbClr val="6600FF"/>
                </a:solidFill>
                <a:effectLst>
                  <a:outerShdw blurRad="38100" dist="38100" dir="2700000" algn="tl">
                    <a:srgbClr val="000000">
                      <a:alpha val="43137"/>
                    </a:srgbClr>
                  </a:outerShdw>
                </a:effectLst>
                <a:latin typeface="Times New Roman" pitchFamily="18" charset="0"/>
                <a:cs typeface="Times New Roman" pitchFamily="18" charset="0"/>
              </a:rPr>
              <a:t> &amp; </a:t>
            </a:r>
            <a:r>
              <a:rPr lang="en-US" altLang="zh-TW" sz="2800" dirty="0" err="1" smtClean="0">
                <a:solidFill>
                  <a:srgbClr val="6600FF"/>
                </a:solidFill>
                <a:effectLst>
                  <a:outerShdw blurRad="38100" dist="38100" dir="2700000" algn="tl">
                    <a:srgbClr val="000000">
                      <a:alpha val="43137"/>
                    </a:srgbClr>
                  </a:outerShdw>
                </a:effectLst>
                <a:latin typeface="Times New Roman" pitchFamily="18" charset="0"/>
                <a:cs typeface="Times New Roman" pitchFamily="18" charset="0"/>
              </a:rPr>
              <a:t>bqMAXIMUS</a:t>
            </a:r>
            <a:r>
              <a:rPr lang="en-US" altLang="zh-TW" sz="2800" dirty="0" smtClean="0">
                <a:solidFill>
                  <a:srgbClr val="6600FF"/>
                </a:solidFill>
                <a:effectLst>
                  <a:outerShdw blurRad="38100" dist="38100" dir="2700000" algn="tl">
                    <a:srgbClr val="000000">
                      <a:alpha val="43137"/>
                    </a:srgbClr>
                  </a:outerShdw>
                </a:effectLst>
                <a:latin typeface="Times New Roman" pitchFamily="18" charset="0"/>
                <a:cs typeface="Times New Roman" pitchFamily="18" charset="0"/>
              </a:rPr>
              <a:t>:</a:t>
            </a:r>
            <a:r>
              <a:rPr lang="zh-CN" altLang="en-US" sz="2400" dirty="0" smtClean="0">
                <a:solidFill>
                  <a:srgbClr val="6600FF"/>
                </a:solidFill>
                <a:effectLst>
                  <a:outerShdw blurRad="38100" dist="38100" dir="2700000" algn="tl">
                    <a:srgbClr val="000000">
                      <a:alpha val="43137"/>
                    </a:srgbClr>
                  </a:outerShdw>
                </a:effectLst>
                <a:latin typeface="Times New Roman" pitchFamily="18" charset="0"/>
                <a:cs typeface="Times New Roman" pitchFamily="18" charset="0"/>
              </a:rPr>
              <a:t>拥有最大灵活性</a:t>
            </a:r>
            <a:endParaRPr lang="zh-TW" altLang="en-US" sz="2400" dirty="0">
              <a:solidFill>
                <a:srgbClr val="6600FF"/>
              </a:solidFill>
              <a:effectLst>
                <a:outerShdw blurRad="38100" dist="38100" dir="2700000" algn="tl">
                  <a:srgbClr val="000000">
                    <a:alpha val="43137"/>
                  </a:srgbClr>
                </a:outerShdw>
              </a:effectLst>
              <a:latin typeface="Times New Roman" pitchFamily="18" charset="0"/>
              <a:cs typeface="Times New Roman" pitchFamily="18" charset="0"/>
            </a:endParaRPr>
          </a:p>
        </p:txBody>
      </p:sp>
      <p:graphicFrame>
        <p:nvGraphicFramePr>
          <p:cNvPr id="4" name="內容版面配置區 3"/>
          <p:cNvGraphicFramePr>
            <a:graphicFrameLocks noGrp="1"/>
          </p:cNvGraphicFramePr>
          <p:nvPr>
            <p:ph idx="1"/>
          </p:nvPr>
        </p:nvGraphicFramePr>
        <p:xfrm>
          <a:off x="457200" y="1196752"/>
          <a:ext cx="8229600" cy="4761300"/>
        </p:xfrm>
        <a:graphic>
          <a:graphicData uri="http://schemas.openxmlformats.org/drawingml/2006/table">
            <a:tbl>
              <a:tblPr firstRow="1" bandRow="1">
                <a:tableStyleId>{37CE84F3-28C3-443E-9E96-99CF82512B78}</a:tableStyleId>
              </a:tblPr>
              <a:tblGrid>
                <a:gridCol w="658416"/>
                <a:gridCol w="1800200"/>
                <a:gridCol w="1442746"/>
                <a:gridCol w="1442746"/>
                <a:gridCol w="1442746"/>
                <a:gridCol w="1442746"/>
              </a:tblGrid>
              <a:tr h="368970">
                <a:tc>
                  <a:txBody>
                    <a:bodyPr/>
                    <a:lstStyle/>
                    <a:p>
                      <a:endParaRPr lang="zh-TW" altLang="en-US" dirty="0">
                        <a:latin typeface="微軟正黑體" pitchFamily="34" charset="-120"/>
                        <a:ea typeface="微軟正黑體" pitchFamily="34" charset="-120"/>
                      </a:endParaRPr>
                    </a:p>
                  </a:txBody>
                  <a:tcPr/>
                </a:tc>
                <a:tc>
                  <a:txBody>
                    <a:bodyPr/>
                    <a:lstStyle/>
                    <a:p>
                      <a:endParaRPr lang="zh-TW" altLang="en-US">
                        <a:latin typeface="微軟正黑體" pitchFamily="34" charset="-120"/>
                        <a:ea typeface="微軟正黑體" pitchFamily="34" charset="-120"/>
                      </a:endParaRPr>
                    </a:p>
                  </a:txBody>
                  <a:tcPr/>
                </a:tc>
                <a:tc gridSpan="4">
                  <a:txBody>
                    <a:bodyPr/>
                    <a:lstStyle/>
                    <a:p>
                      <a:pPr algn="ctr"/>
                      <a:r>
                        <a:rPr lang="en-US" altLang="zh-TW" sz="1800" dirty="0" err="1" smtClean="0">
                          <a:effectLst>
                            <a:outerShdw blurRad="38100" dist="38100" dir="2700000" algn="tl">
                              <a:srgbClr val="000000">
                                <a:alpha val="43137"/>
                              </a:srgbClr>
                            </a:outerShdw>
                          </a:effectLst>
                          <a:latin typeface="微軟正黑體" pitchFamily="34" charset="-120"/>
                          <a:ea typeface="微軟正黑體" pitchFamily="34" charset="-120"/>
                        </a:rPr>
                        <a:t>bqMAXIMO</a:t>
                      </a:r>
                      <a:r>
                        <a:rPr lang="en-US" altLang="zh-TW" sz="1800" dirty="0" smtClean="0">
                          <a:effectLst>
                            <a:outerShdw blurRad="38100" dist="38100" dir="2700000" algn="tl">
                              <a:srgbClr val="000000">
                                <a:alpha val="43137"/>
                              </a:srgbClr>
                            </a:outerShdw>
                          </a:effectLst>
                          <a:latin typeface="微軟正黑體" pitchFamily="34" charset="-120"/>
                          <a:ea typeface="微軟正黑體" pitchFamily="34" charset="-120"/>
                        </a:rPr>
                        <a:t>: </a:t>
                      </a:r>
                      <a:r>
                        <a:rPr lang="zh-TW" altLang="en-US" sz="1800" dirty="0" smtClean="0">
                          <a:effectLst>
                            <a:outerShdw blurRad="38100" dist="38100" dir="2700000" algn="tl">
                              <a:srgbClr val="000000">
                                <a:alpha val="43137"/>
                              </a:srgbClr>
                            </a:outerShdw>
                          </a:effectLst>
                          <a:latin typeface="微軟正黑體" pitchFamily="34" charset="-120"/>
                          <a:ea typeface="微軟正黑體" pitchFamily="34" charset="-120"/>
                        </a:rPr>
                        <a:t>模擬前端</a:t>
                      </a:r>
                      <a:endParaRPr lang="zh-TW" altLang="en-US" sz="1800" dirty="0">
                        <a:effectLst>
                          <a:outerShdw blurRad="38100" dist="38100" dir="2700000" algn="tl">
                            <a:srgbClr val="000000">
                              <a:alpha val="43137"/>
                            </a:srgbClr>
                          </a:outerShdw>
                        </a:effectLst>
                        <a:latin typeface="微軟正黑體" pitchFamily="34" charset="-120"/>
                        <a:ea typeface="微軟正黑體" pitchFamily="34" charset="-120"/>
                      </a:endParaRPr>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r>
              <a:tr h="368970">
                <a:tc rowSpan="5">
                  <a:txBody>
                    <a:bodyPr/>
                    <a:lstStyle/>
                    <a:p>
                      <a:endParaRPr lang="zh-TW" altLang="en-US" dirty="0">
                        <a:solidFill>
                          <a:sysClr val="windowText" lastClr="000000"/>
                        </a:solidFill>
                        <a:latin typeface="微軟正黑體" pitchFamily="34" charset="-120"/>
                        <a:ea typeface="微軟正黑體" pitchFamily="34" charset="-120"/>
                      </a:endParaRPr>
                    </a:p>
                  </a:txBody>
                  <a:tcPr/>
                </a:tc>
                <a:tc>
                  <a:txBody>
                    <a:bodyPr/>
                    <a:lstStyle/>
                    <a:p>
                      <a:endParaRPr lang="zh-TW" altLang="en-US">
                        <a:latin typeface="微軟正黑體" pitchFamily="34" charset="-120"/>
                        <a:ea typeface="微軟正黑體" pitchFamily="34" charset="-120"/>
                      </a:endParaRPr>
                    </a:p>
                  </a:txBody>
                  <a:tcPr/>
                </a:tc>
                <a:tc>
                  <a:txBody>
                    <a:bodyPr/>
                    <a:lstStyle/>
                    <a:p>
                      <a:r>
                        <a:rPr lang="en-US" altLang="zh-TW" dirty="0" smtClean="0">
                          <a:latin typeface="微軟正黑體" pitchFamily="34" charset="-120"/>
                          <a:ea typeface="微軟正黑體" pitchFamily="34" charset="-120"/>
                        </a:rPr>
                        <a:t>bq76920</a:t>
                      </a:r>
                      <a:endParaRPr lang="zh-TW" altLang="en-US" dirty="0">
                        <a:latin typeface="微軟正黑體" pitchFamily="34" charset="-120"/>
                        <a:ea typeface="微軟正黑體" pitchFamily="34" charset="-120"/>
                      </a:endParaRPr>
                    </a:p>
                  </a:txBody>
                  <a:tcPr/>
                </a:tc>
                <a:tc>
                  <a:txBody>
                    <a:bodyPr/>
                    <a:lstStyle/>
                    <a:p>
                      <a:r>
                        <a:rPr lang="en-US" altLang="zh-TW" dirty="0" smtClean="0">
                          <a:latin typeface="微軟正黑體" pitchFamily="34" charset="-120"/>
                          <a:ea typeface="微軟正黑體" pitchFamily="34" charset="-120"/>
                        </a:rPr>
                        <a:t>bq76930</a:t>
                      </a:r>
                      <a:endParaRPr lang="zh-TW" altLang="en-US" dirty="0">
                        <a:latin typeface="微軟正黑體" pitchFamily="34" charset="-120"/>
                        <a:ea typeface="微軟正黑體" pitchFamily="34" charset="-120"/>
                      </a:endParaRPr>
                    </a:p>
                  </a:txBody>
                  <a:tcPr/>
                </a:tc>
                <a:tc>
                  <a:txBody>
                    <a:bodyPr/>
                    <a:lstStyle/>
                    <a:p>
                      <a:r>
                        <a:rPr lang="en-US" altLang="zh-TW" dirty="0" smtClean="0">
                          <a:latin typeface="微軟正黑體" pitchFamily="34" charset="-120"/>
                          <a:ea typeface="微軟正黑體" pitchFamily="34" charset="-120"/>
                        </a:rPr>
                        <a:t>bq76940</a:t>
                      </a:r>
                      <a:endParaRPr lang="zh-TW" altLang="en-US" dirty="0">
                        <a:latin typeface="微軟正黑體" pitchFamily="34" charset="-120"/>
                        <a:ea typeface="微軟正黑體" pitchFamily="34" charset="-120"/>
                      </a:endParaRPr>
                    </a:p>
                  </a:txBody>
                  <a:tcPr/>
                </a:tc>
                <a:tc>
                  <a:txBody>
                    <a:bodyPr/>
                    <a:lstStyle/>
                    <a:p>
                      <a:r>
                        <a:rPr lang="en-US" altLang="zh-TW" dirty="0" smtClean="0">
                          <a:latin typeface="微軟正黑體" pitchFamily="34" charset="-120"/>
                          <a:ea typeface="微軟正黑體" pitchFamily="34" charset="-120"/>
                        </a:rPr>
                        <a:t>bq76950</a:t>
                      </a:r>
                      <a:endParaRPr lang="zh-TW" altLang="en-US" dirty="0">
                        <a:latin typeface="微軟正黑體" pitchFamily="34" charset="-120"/>
                        <a:ea typeface="微軟正黑體" pitchFamily="34" charset="-120"/>
                      </a:endParaRPr>
                    </a:p>
                  </a:txBody>
                  <a:tcPr/>
                </a:tc>
              </a:tr>
              <a:tr h="1064334">
                <a:tc vMerge="1">
                  <a:txBody>
                    <a:bodyPr/>
                    <a:lstStyle/>
                    <a:p>
                      <a:endParaRPr lang="zh-TW" altLang="en-US" dirty="0"/>
                    </a:p>
                  </a:txBody>
                  <a:tcPr/>
                </a:tc>
                <a:tc rowSpan="2">
                  <a:txBody>
                    <a:bodyPr/>
                    <a:lstStyle/>
                    <a:p>
                      <a:pPr algn="ctr"/>
                      <a:r>
                        <a:rPr lang="en-US" altLang="zh-TW" dirty="0" smtClean="0">
                          <a:latin typeface="微軟正黑體" pitchFamily="34" charset="-120"/>
                          <a:ea typeface="微軟正黑體" pitchFamily="34" charset="-120"/>
                        </a:rPr>
                        <a:t>bq78300</a:t>
                      </a:r>
                      <a:endParaRPr lang="zh-TW" altLang="en-US" dirty="0">
                        <a:latin typeface="微軟正黑體" pitchFamily="34" charset="-120"/>
                        <a:ea typeface="微軟正黑體" pitchFamily="34" charset="-12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effectLst/>
                          <a:latin typeface="微軟正黑體" pitchFamily="34" charset="-120"/>
                          <a:ea typeface="微軟正黑體" pitchFamily="34" charset="-120"/>
                        </a:rPr>
                        <a:t>3S~5S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effectLst/>
                          <a:latin typeface="微軟正黑體" pitchFamily="34" charset="-120"/>
                          <a:ea typeface="微軟正黑體" pitchFamily="34" charset="-120"/>
                        </a:rPr>
                        <a:t>主动保护与电池平衡</a:t>
                      </a:r>
                      <a:endParaRPr lang="en-US" altLang="zh-TW" sz="1600" dirty="0" smtClean="0">
                        <a:effectLst/>
                        <a:latin typeface="微軟正黑體" pitchFamily="34" charset="-120"/>
                        <a:ea typeface="微軟正黑體" pitchFamily="34" charset="-120"/>
                      </a:endParaRPr>
                    </a:p>
                    <a:p>
                      <a:pPr algn="ctr"/>
                      <a:endParaRPr lang="zh-TW" altLang="en-US" sz="1600" dirty="0">
                        <a:latin typeface="微軟正黑體" pitchFamily="34" charset="-120"/>
                        <a:ea typeface="微軟正黑體"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effectLst/>
                          <a:latin typeface="微軟正黑體" pitchFamily="34" charset="-120"/>
                          <a:ea typeface="微軟正黑體" pitchFamily="34" charset="-120"/>
                        </a:rPr>
                        <a:t>6S~10S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effectLst/>
                          <a:latin typeface="微軟正黑體" pitchFamily="34" charset="-120"/>
                          <a:ea typeface="微軟正黑體" pitchFamily="34" charset="-120"/>
                        </a:rPr>
                        <a:t>主动保护与电池平衡</a:t>
                      </a:r>
                      <a:endParaRPr lang="en-US" altLang="zh-TW" sz="1600" dirty="0" smtClean="0">
                        <a:effectLst/>
                        <a:latin typeface="微軟正黑體" pitchFamily="34" charset="-120"/>
                        <a:ea typeface="微軟正黑體" pitchFamily="34" charset="-120"/>
                      </a:endParaRPr>
                    </a:p>
                    <a:p>
                      <a:pPr algn="ctr"/>
                      <a:endParaRPr lang="zh-TW" altLang="en-US" sz="1600" dirty="0">
                        <a:latin typeface="微軟正黑體" pitchFamily="34" charset="-120"/>
                        <a:ea typeface="微軟正黑體"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effectLst/>
                          <a:latin typeface="微軟正黑體" pitchFamily="34" charset="-120"/>
                          <a:ea typeface="微軟正黑體" pitchFamily="34" charset="-120"/>
                        </a:rPr>
                        <a:t>9S~15S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effectLst/>
                          <a:latin typeface="微軟正黑體" pitchFamily="34" charset="-120"/>
                          <a:ea typeface="微軟正黑體" pitchFamily="34" charset="-120"/>
                        </a:rPr>
                        <a:t>主动保护与电池平衡</a:t>
                      </a:r>
                      <a:endParaRPr lang="en-US" altLang="zh-TW" sz="1600" dirty="0" smtClean="0">
                        <a:effectLst/>
                        <a:latin typeface="微軟正黑體" pitchFamily="34" charset="-120"/>
                        <a:ea typeface="微軟正黑體" pitchFamily="34" charset="-120"/>
                      </a:endParaRPr>
                    </a:p>
                    <a:p>
                      <a:pPr algn="ctr"/>
                      <a:endParaRPr lang="zh-TW" altLang="en-US" sz="1600" dirty="0">
                        <a:latin typeface="微軟正黑體" pitchFamily="34" charset="-120"/>
                        <a:ea typeface="微軟正黑體"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effectLst/>
                          <a:latin typeface="微軟正黑體" pitchFamily="34" charset="-120"/>
                          <a:ea typeface="微軟正黑體" pitchFamily="34" charset="-120"/>
                        </a:rPr>
                        <a:t>16S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effectLst/>
                          <a:latin typeface="微軟正黑體" pitchFamily="34" charset="-120"/>
                          <a:ea typeface="微軟正黑體" pitchFamily="34" charset="-120"/>
                        </a:rPr>
                        <a:t>主动保护与电池平衡</a:t>
                      </a:r>
                      <a:endParaRPr lang="en-US" altLang="zh-TW" sz="1600" dirty="0" smtClean="0">
                        <a:effectLst/>
                        <a:latin typeface="微軟正黑體" pitchFamily="34" charset="-120"/>
                        <a:ea typeface="微軟正黑體" pitchFamily="34" charset="-120"/>
                      </a:endParaRPr>
                    </a:p>
                    <a:p>
                      <a:pPr algn="ctr"/>
                      <a:endParaRPr lang="zh-TW" altLang="en-US" sz="1600" dirty="0">
                        <a:latin typeface="微軟正黑體" pitchFamily="34" charset="-120"/>
                        <a:ea typeface="微軟正黑體" pitchFamily="34" charset="-120"/>
                      </a:endParaRPr>
                    </a:p>
                  </a:txBody>
                  <a:tcPr/>
                </a:tc>
              </a:tr>
              <a:tr h="821058">
                <a:tc vMerge="1">
                  <a:txBody>
                    <a:bodyPr/>
                    <a:lstStyle/>
                    <a:p>
                      <a:endParaRPr lang="zh-TW" altLang="en-US"/>
                    </a:p>
                  </a:txBody>
                  <a:tcPr/>
                </a:tc>
                <a:tc vMerge="1">
                  <a:txBody>
                    <a:bodyPr/>
                    <a:lstStyle/>
                    <a:p>
                      <a:endParaRPr lang="zh-TW" altLang="en-US" dirty="0"/>
                    </a:p>
                  </a:txBody>
                  <a:tcPr/>
                </a:tc>
                <a:tc gridSpan="4">
                  <a:txBody>
                    <a:bodyPr/>
                    <a:lstStyle/>
                    <a:p>
                      <a:pPr algn="ctr"/>
                      <a:r>
                        <a:rPr lang="zh-TW" altLang="en-US" sz="1600" dirty="0" smtClean="0">
                          <a:latin typeface="微軟正黑體" pitchFamily="34" charset="-120"/>
                          <a:ea typeface="微軟正黑體" pitchFamily="34" charset="-120"/>
                        </a:rPr>
                        <a:t>包含全面的保護 </a:t>
                      </a:r>
                      <a:r>
                        <a:rPr lang="en-US" altLang="zh-TW" sz="1600" dirty="0" smtClean="0">
                          <a:solidFill>
                            <a:srgbClr val="FF0000"/>
                          </a:solidFill>
                          <a:latin typeface="微軟正黑體" pitchFamily="34" charset="-120"/>
                          <a:ea typeface="微軟正黑體" pitchFamily="34" charset="-120"/>
                        </a:rPr>
                        <a:t>:</a:t>
                      </a:r>
                      <a:r>
                        <a:rPr lang="zh-TW" altLang="en-US" sz="1600" baseline="0" dirty="0" smtClean="0">
                          <a:solidFill>
                            <a:srgbClr val="FF0000"/>
                          </a:solidFill>
                          <a:latin typeface="微軟正黑體" pitchFamily="34" charset="-120"/>
                          <a:ea typeface="微軟正黑體" pitchFamily="34" charset="-120"/>
                        </a:rPr>
                        <a:t> </a:t>
                      </a:r>
                      <a:r>
                        <a:rPr lang="en-US" altLang="zh-TW" sz="1600" b="1" baseline="0" dirty="0" smtClean="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rPr>
                        <a:t>OV, UV, OCD, SCD, OCC, OT-D, OT-C,  UT.</a:t>
                      </a:r>
                    </a:p>
                    <a:p>
                      <a:pPr algn="ctr"/>
                      <a:r>
                        <a:rPr lang="zh-TW" altLang="en-US" sz="1600" baseline="0" dirty="0" smtClean="0">
                          <a:latin typeface="微軟正黑體" pitchFamily="34" charset="-120"/>
                          <a:ea typeface="微軟正黑體" pitchFamily="34" charset="-120"/>
                        </a:rPr>
                        <a:t>低端</a:t>
                      </a:r>
                      <a:r>
                        <a:rPr lang="en-US" altLang="zh-TW" sz="1600" baseline="0" dirty="0" smtClean="0">
                          <a:latin typeface="微軟正黑體" pitchFamily="34" charset="-120"/>
                          <a:ea typeface="微軟正黑體" pitchFamily="34" charset="-120"/>
                        </a:rPr>
                        <a:t> </a:t>
                      </a:r>
                      <a:r>
                        <a:rPr lang="en-US" altLang="zh-TW" sz="1600" b="1" baseline="0" dirty="0" smtClean="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rPr>
                        <a:t>N-Mosfet</a:t>
                      </a:r>
                      <a:r>
                        <a:rPr lang="en-US" altLang="zh-TW" sz="1600" b="1" baseline="0" dirty="0" smtClean="0">
                          <a:effectLst>
                            <a:outerShdw blurRad="38100" dist="38100" dir="2700000" algn="tl">
                              <a:srgbClr val="000000">
                                <a:alpha val="43137"/>
                              </a:srgbClr>
                            </a:outerShdw>
                          </a:effectLst>
                          <a:latin typeface="微軟正黑體" pitchFamily="34" charset="-120"/>
                          <a:ea typeface="微軟正黑體" pitchFamily="34" charset="-120"/>
                        </a:rPr>
                        <a:t> , </a:t>
                      </a:r>
                      <a:r>
                        <a:rPr lang="en-US" altLang="zh-TW" sz="1600" b="1" baseline="0" dirty="0" err="1" smtClean="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rPr>
                        <a:t>SMBus</a:t>
                      </a:r>
                      <a:r>
                        <a:rPr lang="zh-TW" altLang="en-US" sz="1600" b="1" baseline="0" dirty="0" smtClean="0">
                          <a:effectLst>
                            <a:outerShdw blurRad="38100" dist="38100" dir="2700000" algn="tl">
                              <a:srgbClr val="000000">
                                <a:alpha val="43137"/>
                              </a:srgbClr>
                            </a:outerShdw>
                          </a:effectLst>
                          <a:latin typeface="微軟正黑體" pitchFamily="34" charset="-120"/>
                          <a:ea typeface="微軟正黑體" pitchFamily="34" charset="-120"/>
                        </a:rPr>
                        <a:t> </a:t>
                      </a:r>
                      <a:r>
                        <a:rPr lang="zh-TW" altLang="en-US" sz="1600" baseline="0" dirty="0" smtClean="0">
                          <a:latin typeface="微軟正黑體" pitchFamily="34" charset="-120"/>
                          <a:ea typeface="微軟正黑體" pitchFamily="34" charset="-120"/>
                        </a:rPr>
                        <a:t>通訊協定並且可讀取電池電壓、溫度、電流。 支援</a:t>
                      </a:r>
                      <a:r>
                        <a:rPr lang="zh-TW" altLang="en-US" sz="1600" b="1" baseline="0" dirty="0" smtClean="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rPr>
                        <a:t>黑盒子記錄功能</a:t>
                      </a:r>
                      <a:r>
                        <a:rPr lang="zh-TW" altLang="en-US" sz="1600" baseline="0" dirty="0" smtClean="0">
                          <a:latin typeface="微軟正黑體" pitchFamily="34" charset="-120"/>
                          <a:ea typeface="微軟正黑體" pitchFamily="34" charset="-120"/>
                        </a:rPr>
                        <a:t>。</a:t>
                      </a:r>
                      <a:endParaRPr lang="zh-TW" altLang="en-US" sz="1600" dirty="0">
                        <a:latin typeface="微軟正黑體" pitchFamily="34" charset="-120"/>
                        <a:ea typeface="微軟正黑體" pitchFamily="34" charset="-120"/>
                      </a:endParaRPr>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r>
              <a:tr h="1550887">
                <a:tc vMerge="1">
                  <a:txBody>
                    <a:bodyPr/>
                    <a:lstStyle/>
                    <a:p>
                      <a:endParaRPr lang="zh-TW" altLang="en-US"/>
                    </a:p>
                  </a:txBody>
                  <a:tcPr/>
                </a:tc>
                <a:tc rowSpan="2">
                  <a:txBody>
                    <a:bodyPr/>
                    <a:lstStyle/>
                    <a:p>
                      <a:pPr algn="ctr"/>
                      <a:r>
                        <a:rPr lang="en-US" altLang="zh-TW" dirty="0" smtClean="0">
                          <a:latin typeface="微軟正黑體" pitchFamily="34" charset="-120"/>
                          <a:ea typeface="微軟正黑體" pitchFamily="34" charset="-120"/>
                        </a:rPr>
                        <a:t>bq78350</a:t>
                      </a:r>
                      <a:endParaRPr lang="zh-TW" altLang="en-US" dirty="0">
                        <a:latin typeface="微軟正黑體" pitchFamily="34" charset="-120"/>
                        <a:ea typeface="微軟正黑體" pitchFamily="34" charset="-12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effectLst/>
                          <a:latin typeface="微軟正黑體" pitchFamily="34" charset="-120"/>
                          <a:ea typeface="微軟正黑體" pitchFamily="34" charset="-120"/>
                        </a:rPr>
                        <a:t>3S~5S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effectLst/>
                          <a:latin typeface="微軟正黑體" pitchFamily="34" charset="-120"/>
                          <a:ea typeface="微軟正黑體" pitchFamily="34" charset="-120"/>
                        </a:rPr>
                        <a:t>主动保护与电池平衡</a:t>
                      </a:r>
                      <a:r>
                        <a:rPr lang="zh-TW" altLang="en-US" sz="1600" dirty="0" smtClean="0">
                          <a:effectLst/>
                          <a:latin typeface="微軟正黑體" pitchFamily="34" charset="-120"/>
                          <a:ea typeface="微軟正黑體" pitchFamily="34" charset="-120"/>
                        </a:rPr>
                        <a:t>與阻抗追蹤技術電量計</a:t>
                      </a:r>
                      <a:endParaRPr lang="en-US" altLang="zh-TW" sz="1600" dirty="0" smtClean="0">
                        <a:effectLst/>
                        <a:latin typeface="微軟正黑體" pitchFamily="34" charset="-120"/>
                        <a:ea typeface="微軟正黑體" pitchFamily="34" charset="-120"/>
                      </a:endParaRPr>
                    </a:p>
                    <a:p>
                      <a:endParaRPr lang="zh-TW" altLang="en-US" sz="1600" dirty="0">
                        <a:latin typeface="微軟正黑體" pitchFamily="34" charset="-120"/>
                        <a:ea typeface="微軟正黑體"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effectLst/>
                          <a:latin typeface="微軟正黑體" pitchFamily="34" charset="-120"/>
                          <a:ea typeface="微軟正黑體" pitchFamily="34" charset="-120"/>
                        </a:rPr>
                        <a:t>6S~10S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effectLst/>
                          <a:latin typeface="微軟正黑體" pitchFamily="34" charset="-120"/>
                          <a:ea typeface="微軟正黑體" pitchFamily="34" charset="-120"/>
                        </a:rPr>
                        <a:t>主动保护与电池平衡</a:t>
                      </a:r>
                      <a:r>
                        <a:rPr lang="zh-TW" altLang="en-US" sz="1600" dirty="0" smtClean="0">
                          <a:effectLst/>
                          <a:latin typeface="微軟正黑體" pitchFamily="34" charset="-120"/>
                          <a:ea typeface="微軟正黑體" pitchFamily="34" charset="-120"/>
                        </a:rPr>
                        <a:t>與阻抗追蹤技術電量計</a:t>
                      </a:r>
                      <a:endParaRPr lang="en-US" altLang="zh-TW" sz="1600" dirty="0" smtClean="0">
                        <a:effectLst/>
                        <a:latin typeface="微軟正黑體" pitchFamily="34" charset="-120"/>
                        <a:ea typeface="微軟正黑體" pitchFamily="34" charset="-120"/>
                      </a:endParaRPr>
                    </a:p>
                    <a:p>
                      <a:endParaRPr lang="zh-TW" altLang="en-US" sz="1600" dirty="0">
                        <a:latin typeface="微軟正黑體" pitchFamily="34" charset="-120"/>
                        <a:ea typeface="微軟正黑體"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effectLst/>
                          <a:latin typeface="微軟正黑體" pitchFamily="34" charset="-120"/>
                          <a:ea typeface="微軟正黑體" pitchFamily="34" charset="-120"/>
                        </a:rPr>
                        <a:t>9S~15S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effectLst/>
                          <a:latin typeface="微軟正黑體" pitchFamily="34" charset="-120"/>
                          <a:ea typeface="微軟正黑體" pitchFamily="34" charset="-120"/>
                        </a:rPr>
                        <a:t>主动保护与电池平衡</a:t>
                      </a:r>
                      <a:r>
                        <a:rPr lang="zh-TW" altLang="en-US" sz="1600" dirty="0" smtClean="0">
                          <a:effectLst/>
                          <a:latin typeface="微軟正黑體" pitchFamily="34" charset="-120"/>
                          <a:ea typeface="微軟正黑體" pitchFamily="34" charset="-120"/>
                        </a:rPr>
                        <a:t>與阻抗追蹤技術電量計</a:t>
                      </a:r>
                      <a:endParaRPr lang="en-US" altLang="zh-TW" sz="1600" dirty="0" smtClean="0">
                        <a:effectLst/>
                        <a:latin typeface="微軟正黑體" pitchFamily="34" charset="-120"/>
                        <a:ea typeface="微軟正黑體" pitchFamily="34" charset="-120"/>
                      </a:endParaRPr>
                    </a:p>
                    <a:p>
                      <a:endParaRPr lang="zh-TW" altLang="en-US" sz="1600" dirty="0">
                        <a:latin typeface="微軟正黑體" pitchFamily="34" charset="-120"/>
                        <a:ea typeface="微軟正黑體"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effectLst/>
                          <a:latin typeface="微軟正黑體" pitchFamily="34" charset="-120"/>
                          <a:ea typeface="微軟正黑體" pitchFamily="34" charset="-120"/>
                        </a:rPr>
                        <a:t>16S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effectLst/>
                          <a:latin typeface="微軟正黑體" pitchFamily="34" charset="-120"/>
                          <a:ea typeface="微軟正黑體" pitchFamily="34" charset="-120"/>
                        </a:rPr>
                        <a:t>主动保护与电池平衡</a:t>
                      </a:r>
                      <a:r>
                        <a:rPr lang="zh-TW" altLang="en-US" sz="1600" dirty="0" smtClean="0">
                          <a:effectLst/>
                          <a:latin typeface="微軟正黑體" pitchFamily="34" charset="-120"/>
                          <a:ea typeface="微軟正黑體" pitchFamily="34" charset="-120"/>
                        </a:rPr>
                        <a:t>與阻抗追蹤技術電量計</a:t>
                      </a:r>
                      <a:endParaRPr lang="en-US" altLang="zh-TW" sz="1600" dirty="0" smtClean="0">
                        <a:effectLst/>
                        <a:latin typeface="微軟正黑體" pitchFamily="34" charset="-120"/>
                        <a:ea typeface="微軟正黑體" pitchFamily="34" charset="-120"/>
                      </a:endParaRPr>
                    </a:p>
                    <a:p>
                      <a:endParaRPr lang="zh-TW" altLang="en-US" sz="1600" dirty="0">
                        <a:latin typeface="微軟正黑體" pitchFamily="34" charset="-120"/>
                        <a:ea typeface="微軟正黑體" pitchFamily="34" charset="-120"/>
                      </a:endParaRPr>
                    </a:p>
                  </a:txBody>
                  <a:tcPr/>
                </a:tc>
              </a:tr>
              <a:tr h="577781">
                <a:tc vMerge="1">
                  <a:txBody>
                    <a:bodyPr/>
                    <a:lstStyle/>
                    <a:p>
                      <a:endParaRPr lang="zh-TW" altLang="en-US" dirty="0"/>
                    </a:p>
                  </a:txBody>
                  <a:tcPr/>
                </a:tc>
                <a:tc vMerge="1">
                  <a:txBody>
                    <a:bodyPr/>
                    <a:lstStyle/>
                    <a:p>
                      <a:endParaRPr lang="zh-TW" altLang="en-US" dirty="0">
                        <a:latin typeface="微軟正黑體" pitchFamily="34" charset="-120"/>
                        <a:ea typeface="微軟正黑體" pitchFamily="34" charset="-120"/>
                      </a:endParaRPr>
                    </a:p>
                  </a:txBody>
                  <a:tcPr/>
                </a:tc>
                <a:tc gridSpan="4">
                  <a:txBody>
                    <a:bodyPr/>
                    <a:lstStyle/>
                    <a:p>
                      <a:pPr algn="ctr"/>
                      <a:r>
                        <a:rPr lang="zh-TW" altLang="en-US" sz="1600" dirty="0" smtClean="0">
                          <a:latin typeface="微軟正黑體" pitchFamily="34" charset="-120"/>
                          <a:ea typeface="微軟正黑體" pitchFamily="34" charset="-120"/>
                        </a:rPr>
                        <a:t>增加 </a:t>
                      </a:r>
                      <a:r>
                        <a:rPr lang="en-US" altLang="zh-TW" sz="1600" b="1" dirty="0" smtClean="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rPr>
                        <a:t>TI</a:t>
                      </a:r>
                      <a:r>
                        <a:rPr lang="zh-TW" altLang="en-US" sz="1600" b="1" dirty="0" smtClean="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rPr>
                        <a:t>阻抗追蹤技術電量計功能</a:t>
                      </a:r>
                      <a:endParaRPr lang="en-US" altLang="zh-TW" sz="1600" b="1" dirty="0" smtClean="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endParaRPr>
                    </a:p>
                    <a:p>
                      <a:pPr algn="ctr"/>
                      <a:r>
                        <a:rPr lang="zh-TW" altLang="en-US" sz="1600" dirty="0" smtClean="0">
                          <a:latin typeface="微軟正黑體" pitchFamily="34" charset="-120"/>
                          <a:ea typeface="微軟正黑體" pitchFamily="34" charset="-120"/>
                        </a:rPr>
                        <a:t>包括所有功能的</a:t>
                      </a:r>
                      <a:r>
                        <a:rPr lang="en-US" altLang="zh-TW" sz="1600" dirty="0" smtClean="0">
                          <a:latin typeface="微軟正黑體" pitchFamily="34" charset="-120"/>
                          <a:ea typeface="微軟正黑體" pitchFamily="34" charset="-120"/>
                        </a:rPr>
                        <a:t>bq78300</a:t>
                      </a:r>
                      <a:endParaRPr lang="zh-TW" altLang="en-US" sz="1600" dirty="0">
                        <a:latin typeface="微軟正黑體" pitchFamily="34" charset="-120"/>
                        <a:ea typeface="微軟正黑體" pitchFamily="34" charset="-120"/>
                      </a:endParaRPr>
                    </a:p>
                  </a:txBody>
                  <a:tcPr/>
                </a:tc>
                <a:tc hMerge="1">
                  <a:txBody>
                    <a:bodyPr/>
                    <a:lstStyle/>
                    <a:p>
                      <a:endParaRPr lang="zh-TW" altLang="en-US" dirty="0">
                        <a:latin typeface="微軟正黑體" pitchFamily="34" charset="-120"/>
                        <a:ea typeface="微軟正黑體" pitchFamily="34" charset="-120"/>
                      </a:endParaRPr>
                    </a:p>
                  </a:txBody>
                  <a:tcPr/>
                </a:tc>
                <a:tc hMerge="1">
                  <a:txBody>
                    <a:bodyPr/>
                    <a:lstStyle/>
                    <a:p>
                      <a:endParaRPr lang="zh-TW" altLang="en-US" dirty="0">
                        <a:latin typeface="微軟正黑體" pitchFamily="34" charset="-120"/>
                        <a:ea typeface="微軟正黑體" pitchFamily="34" charset="-120"/>
                      </a:endParaRPr>
                    </a:p>
                  </a:txBody>
                  <a:tcPr/>
                </a:tc>
                <a:tc hMerge="1">
                  <a:txBody>
                    <a:bodyPr/>
                    <a:lstStyle/>
                    <a:p>
                      <a:endParaRPr lang="zh-TW" altLang="en-US" dirty="0">
                        <a:latin typeface="微軟正黑體" pitchFamily="34" charset="-120"/>
                        <a:ea typeface="微軟正黑體" pitchFamily="34" charset="-120"/>
                      </a:endParaRPr>
                    </a:p>
                  </a:txBody>
                  <a:tcPr/>
                </a:tc>
              </a:tr>
            </a:tbl>
          </a:graphicData>
        </a:graphic>
      </p:graphicFrame>
      <p:sp>
        <p:nvSpPr>
          <p:cNvPr id="5" name="矩形 4"/>
          <p:cNvSpPr/>
          <p:nvPr/>
        </p:nvSpPr>
        <p:spPr>
          <a:xfrm rot="16200000">
            <a:off x="-1080628" y="3640378"/>
            <a:ext cx="3672408" cy="369332"/>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altLang="zh-TW" b="1" dirty="0" err="1" smtClean="0">
                <a:ln w="11430"/>
                <a:solidFill>
                  <a:schemeClr val="bg1"/>
                </a:solidFill>
                <a:effectLst>
                  <a:outerShdw blurRad="80000" dist="40000" dir="5040000" algn="tl">
                    <a:srgbClr val="000000">
                      <a:alpha val="30000"/>
                    </a:srgbClr>
                  </a:outerShdw>
                </a:effectLst>
                <a:latin typeface="微軟正黑體" pitchFamily="34" charset="-120"/>
                <a:ea typeface="微軟正黑體" pitchFamily="34" charset="-120"/>
              </a:rPr>
              <a:t>bqMAXIMUS</a:t>
            </a:r>
            <a:r>
              <a:rPr lang="en-US" altLang="zh-TW" b="1" dirty="0" smtClean="0">
                <a:ln w="11430"/>
                <a:solidFill>
                  <a:schemeClr val="bg1"/>
                </a:solidFill>
                <a:effectLst>
                  <a:outerShdw blurRad="80000" dist="40000" dir="5040000" algn="tl">
                    <a:srgbClr val="000000">
                      <a:alpha val="30000"/>
                    </a:srgbClr>
                  </a:outerShdw>
                </a:effectLst>
                <a:latin typeface="微軟正黑體" pitchFamily="34" charset="-120"/>
                <a:ea typeface="微軟正黑體" pitchFamily="34" charset="-120"/>
              </a:rPr>
              <a:t>:</a:t>
            </a:r>
            <a:r>
              <a:rPr lang="zh-TW" altLang="en-US" b="1" dirty="0" smtClean="0">
                <a:ln w="11430"/>
                <a:solidFill>
                  <a:schemeClr val="bg1"/>
                </a:solidFill>
                <a:effectLst>
                  <a:outerShdw blurRad="80000" dist="40000" dir="5040000" algn="tl">
                    <a:srgbClr val="000000">
                      <a:alpha val="30000"/>
                    </a:srgbClr>
                  </a:outerShdw>
                </a:effectLst>
                <a:latin typeface="微軟正黑體" pitchFamily="34" charset="-120"/>
                <a:ea typeface="微軟正黑體" pitchFamily="34" charset="-120"/>
              </a:rPr>
              <a:t>配套控制器</a:t>
            </a:r>
            <a:endParaRPr lang="zh-TW" altLang="en-US" b="1" cap="none" spc="0" dirty="0">
              <a:ln w="11430"/>
              <a:solidFill>
                <a:schemeClr val="bg1"/>
              </a:solidFill>
              <a:effectLst>
                <a:outerShdw blurRad="80000" dist="40000" dir="5040000" algn="tl">
                  <a:srgbClr val="000000">
                    <a:alpha val="30000"/>
                  </a:srgbClr>
                </a:outerShdw>
              </a:effectLst>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sz="2800" dirty="0" smtClean="0">
                <a:solidFill>
                  <a:srgbClr val="6600FF"/>
                </a:solidFill>
                <a:effectLst>
                  <a:outerShdw blurRad="38100" dist="38100" dir="2700000" algn="tl">
                    <a:srgbClr val="000000">
                      <a:alpha val="43137"/>
                    </a:srgbClr>
                  </a:outerShdw>
                </a:effectLst>
                <a:latin typeface="Times New Roman" pitchFamily="18" charset="0"/>
                <a:ea typeface="Verdana" pitchFamily="34" charset="0"/>
                <a:cs typeface="Times New Roman" pitchFamily="18" charset="0"/>
              </a:rPr>
              <a:t>Bq76920+ </a:t>
            </a:r>
            <a:r>
              <a:rPr lang="en-US" altLang="zh-TW" sz="2800" dirty="0" err="1" smtClean="0">
                <a:solidFill>
                  <a:srgbClr val="6600FF"/>
                </a:solidFill>
                <a:effectLst>
                  <a:outerShdw blurRad="38100" dist="38100" dir="2700000" algn="tl">
                    <a:srgbClr val="000000">
                      <a:alpha val="43137"/>
                    </a:srgbClr>
                  </a:outerShdw>
                </a:effectLst>
                <a:latin typeface="Times New Roman" pitchFamily="18" charset="0"/>
                <a:ea typeface="Verdana" pitchFamily="34" charset="0"/>
                <a:cs typeface="Times New Roman" pitchFamily="18" charset="0"/>
              </a:rPr>
              <a:t>bqMAXIMUS</a:t>
            </a:r>
            <a:endParaRPr lang="zh-TW" altLang="en-US" sz="2800" dirty="0">
              <a:solidFill>
                <a:srgbClr val="6600FF"/>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251520" y="1196752"/>
            <a:ext cx="8534709" cy="38884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sz="2800" dirty="0" smtClean="0">
                <a:solidFill>
                  <a:srgbClr val="6600FF"/>
                </a:solidFill>
                <a:effectLst>
                  <a:outerShdw blurRad="38100" dist="38100" dir="2700000" algn="tl">
                    <a:srgbClr val="000000">
                      <a:alpha val="43137"/>
                    </a:srgbClr>
                  </a:outerShdw>
                </a:effectLst>
                <a:latin typeface="Times New Roman" pitchFamily="18" charset="0"/>
                <a:ea typeface="Verdana" pitchFamily="34" charset="0"/>
                <a:cs typeface="Times New Roman" pitchFamily="18" charset="0"/>
              </a:rPr>
              <a:t>Bq76930</a:t>
            </a:r>
            <a:r>
              <a:rPr lang="en-US" altLang="zh-TW" sz="2800" dirty="0" smtClean="0">
                <a:solidFill>
                  <a:srgbClr val="6600FF"/>
                </a:solidFill>
                <a:effectLst>
                  <a:outerShdw blurRad="38100" dist="38100" dir="2700000" algn="tl">
                    <a:srgbClr val="000000">
                      <a:alpha val="43137"/>
                    </a:srgbClr>
                  </a:outerShdw>
                </a:effectLst>
                <a:latin typeface="Times New Roman" pitchFamily="18" charset="0"/>
                <a:ea typeface="Verdana" pitchFamily="34" charset="0"/>
                <a:cs typeface="Times New Roman" pitchFamily="18" charset="0"/>
              </a:rPr>
              <a:t>+ </a:t>
            </a:r>
            <a:r>
              <a:rPr lang="en-US" altLang="zh-TW" sz="2800" dirty="0" err="1" smtClean="0">
                <a:solidFill>
                  <a:srgbClr val="6600FF"/>
                </a:solidFill>
                <a:effectLst>
                  <a:outerShdw blurRad="38100" dist="38100" dir="2700000" algn="tl">
                    <a:srgbClr val="000000">
                      <a:alpha val="43137"/>
                    </a:srgbClr>
                  </a:outerShdw>
                </a:effectLst>
                <a:latin typeface="Times New Roman" pitchFamily="18" charset="0"/>
                <a:ea typeface="Verdana" pitchFamily="34" charset="0"/>
                <a:cs typeface="Times New Roman" pitchFamily="18" charset="0"/>
              </a:rPr>
              <a:t>bqMAXIMUS</a:t>
            </a:r>
            <a:endParaRPr lang="zh-TW" altLang="en-US" sz="2800" dirty="0">
              <a:solidFill>
                <a:srgbClr val="6600FF"/>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8" name="Picture 4"/>
          <p:cNvPicPr>
            <a:picLocks noGrp="1" noChangeAspect="1" noChangeArrowheads="1"/>
          </p:cNvPicPr>
          <p:nvPr>
            <p:ph idx="1"/>
          </p:nvPr>
        </p:nvPicPr>
        <p:blipFill>
          <a:blip r:embed="rId2" cstate="print"/>
          <a:srcRect/>
          <a:stretch>
            <a:fillRect/>
          </a:stretch>
        </p:blipFill>
        <p:spPr bwMode="auto">
          <a:xfrm>
            <a:off x="467544" y="1196752"/>
            <a:ext cx="7398060" cy="448395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sz="2800" dirty="0" smtClean="0">
                <a:solidFill>
                  <a:srgbClr val="6600FF"/>
                </a:solidFill>
                <a:effectLst>
                  <a:outerShdw blurRad="38100" dist="38100" dir="2700000" algn="tl">
                    <a:srgbClr val="000000">
                      <a:alpha val="43137"/>
                    </a:srgbClr>
                  </a:outerShdw>
                </a:effectLst>
                <a:latin typeface="Times New Roman" pitchFamily="18" charset="0"/>
                <a:ea typeface="Verdana" pitchFamily="34" charset="0"/>
                <a:cs typeface="Times New Roman" pitchFamily="18" charset="0"/>
              </a:rPr>
              <a:t>Bq76940</a:t>
            </a:r>
            <a:r>
              <a:rPr lang="en-US" altLang="zh-TW" sz="2800" dirty="0" smtClean="0">
                <a:solidFill>
                  <a:srgbClr val="6600FF"/>
                </a:solidFill>
                <a:effectLst>
                  <a:outerShdw blurRad="38100" dist="38100" dir="2700000" algn="tl">
                    <a:srgbClr val="000000">
                      <a:alpha val="43137"/>
                    </a:srgbClr>
                  </a:outerShdw>
                </a:effectLst>
                <a:latin typeface="Times New Roman" pitchFamily="18" charset="0"/>
                <a:ea typeface="Verdana" pitchFamily="34" charset="0"/>
                <a:cs typeface="Times New Roman" pitchFamily="18" charset="0"/>
              </a:rPr>
              <a:t>+ </a:t>
            </a:r>
            <a:r>
              <a:rPr lang="en-US" altLang="zh-TW" sz="2800" dirty="0" err="1" smtClean="0">
                <a:solidFill>
                  <a:srgbClr val="6600FF"/>
                </a:solidFill>
                <a:effectLst>
                  <a:outerShdw blurRad="38100" dist="38100" dir="2700000" algn="tl">
                    <a:srgbClr val="000000">
                      <a:alpha val="43137"/>
                    </a:srgbClr>
                  </a:outerShdw>
                </a:effectLst>
                <a:latin typeface="Times New Roman" pitchFamily="18" charset="0"/>
                <a:ea typeface="Verdana" pitchFamily="34" charset="0"/>
                <a:cs typeface="Times New Roman" pitchFamily="18" charset="0"/>
              </a:rPr>
              <a:t>bqMAXIMUS</a:t>
            </a:r>
            <a:endParaRPr lang="zh-TW" altLang="en-US" sz="2800" dirty="0">
              <a:solidFill>
                <a:srgbClr val="6600FF"/>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467544" y="966386"/>
            <a:ext cx="6984776" cy="515977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0" y="44624"/>
            <a:ext cx="9144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0" cap="none" spc="0" normalizeH="0" baseline="0" noProof="0" dirty="0" smtClean="0">
                <a:ln>
                  <a:noFill/>
                </a:ln>
                <a:solidFill>
                  <a:srgbClr val="6600FF"/>
                </a:solidFill>
                <a:effectLst>
                  <a:outerShdw blurRad="38100" dist="38100" dir="2700000" algn="tl">
                    <a:srgbClr val="000000">
                      <a:alpha val="43137"/>
                    </a:srgbClr>
                  </a:outerShdw>
                </a:effectLst>
                <a:uLnTx/>
                <a:uFillTx/>
                <a:latin typeface="Times New Roman" pitchFamily="18" charset="0"/>
                <a:cs typeface="Times New Roman" pitchFamily="18" charset="0"/>
              </a:rPr>
              <a:t>Monitoring – Balancing – Protecting</a:t>
            </a:r>
            <a:r>
              <a:rPr kumimoji="1" lang="en-US" altLang="zh-TW" b="1" i="0" u="none" strike="noStrike" kern="0" cap="none" spc="0" normalizeH="0" baseline="0" noProof="0" dirty="0" smtClean="0">
                <a:ln>
                  <a:noFill/>
                </a:ln>
                <a:solidFill>
                  <a:srgbClr val="6600FF"/>
                </a:solidFill>
                <a:effectLst>
                  <a:outerShdw blurRad="38100" dist="38100" dir="2700000" algn="tl">
                    <a:srgbClr val="000000">
                      <a:alpha val="43137"/>
                    </a:srgbClr>
                  </a:outerShdw>
                </a:effectLst>
                <a:uLnTx/>
                <a:uFillTx/>
                <a:latin typeface="Times New Roman" pitchFamily="18" charset="0"/>
                <a:cs typeface="Times New Roman" pitchFamily="18" charset="0"/>
              </a:rPr>
              <a:t>(3 /3 page )</a:t>
            </a:r>
          </a:p>
        </p:txBody>
      </p:sp>
      <p:sp>
        <p:nvSpPr>
          <p:cNvPr id="5" name="Rectangle 3"/>
          <p:cNvSpPr>
            <a:spLocks noChangeArrowheads="1"/>
          </p:cNvSpPr>
          <p:nvPr/>
        </p:nvSpPr>
        <p:spPr bwMode="auto">
          <a:xfrm>
            <a:off x="3095874" y="836712"/>
            <a:ext cx="1751012"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6" name="Text Box 4"/>
          <p:cNvSpPr txBox="1">
            <a:spLocks noChangeArrowheads="1"/>
          </p:cNvSpPr>
          <p:nvPr/>
        </p:nvSpPr>
        <p:spPr bwMode="auto">
          <a:xfrm>
            <a:off x="3071491" y="2346473"/>
            <a:ext cx="1738312" cy="2400300"/>
          </a:xfrm>
          <a:prstGeom prst="rect">
            <a:avLst/>
          </a:prstGeom>
          <a:noFill/>
          <a:ln w="9525" algn="ctr">
            <a:noFill/>
            <a:miter lim="800000"/>
            <a:headEnd/>
            <a:tailEnd/>
          </a:ln>
        </p:spPr>
        <p:txBody>
          <a:bodyPr/>
          <a:lstStyle/>
          <a:p>
            <a:pPr marL="114300" indent="-114300" eaLnBrk="0" hangingPunct="0"/>
            <a:endParaRPr lang="en-US" altLang="zh-TW" sz="1200" dirty="0">
              <a:latin typeface="Helvetica" pitchFamily="34" charset="0"/>
              <a:ea typeface="新細明體" charset="-120"/>
            </a:endParaRPr>
          </a:p>
          <a:p>
            <a:pPr marL="114300" indent="-114300" eaLnBrk="0" hangingPunct="0"/>
            <a:endParaRPr lang="en-US" altLang="zh-TW" sz="1200" dirty="0">
              <a:latin typeface="Helvetica" pitchFamily="34" charset="0"/>
              <a:ea typeface="新細明體" charset="-120"/>
            </a:endParaRPr>
          </a:p>
        </p:txBody>
      </p:sp>
      <p:sp>
        <p:nvSpPr>
          <p:cNvPr id="9" name="Rectangle 7"/>
          <p:cNvSpPr>
            <a:spLocks noChangeArrowheads="1"/>
          </p:cNvSpPr>
          <p:nvPr/>
        </p:nvSpPr>
        <p:spPr bwMode="auto">
          <a:xfrm>
            <a:off x="1259632" y="836712"/>
            <a:ext cx="1776412"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11" name="Text Box 9"/>
          <p:cNvSpPr txBox="1">
            <a:spLocks noChangeArrowheads="1"/>
          </p:cNvSpPr>
          <p:nvPr/>
        </p:nvSpPr>
        <p:spPr bwMode="auto">
          <a:xfrm>
            <a:off x="296417" y="5991373"/>
            <a:ext cx="8477001" cy="276999"/>
          </a:xfrm>
          <a:prstGeom prst="rect">
            <a:avLst/>
          </a:prstGeom>
          <a:noFill/>
          <a:ln w="9525">
            <a:noFill/>
            <a:miter lim="800000"/>
            <a:headEnd/>
            <a:tailEnd/>
          </a:ln>
        </p:spPr>
        <p:txBody>
          <a:bodyPr wrap="none">
            <a:spAutoFit/>
          </a:bodyPr>
          <a:lstStyle/>
          <a:p>
            <a:r>
              <a:rPr lang="en-US" altLang="zh-TW" sz="1200" dirty="0" smtClean="0">
                <a:ea typeface="新細明體" charset="-120"/>
              </a:rPr>
              <a:t>Notes:</a:t>
            </a:r>
            <a:r>
              <a:rPr lang="zh-TW" altLang="en-US" sz="1200" dirty="0" smtClean="0">
                <a:ea typeface="新細明體" charset="-120"/>
              </a:rPr>
              <a:t> </a:t>
            </a:r>
            <a:r>
              <a:rPr lang="en-US" altLang="zh-TW" sz="1200" dirty="0" smtClean="0">
                <a:ea typeface="新細明體" charset="-120"/>
              </a:rPr>
              <a:t>OV=</a:t>
            </a:r>
            <a:r>
              <a:rPr lang="zh-TW" altLang="en-US" sz="1200" dirty="0" smtClean="0">
                <a:ea typeface="新細明體" charset="-120"/>
              </a:rPr>
              <a:t>过压</a:t>
            </a:r>
            <a:r>
              <a:rPr lang="en-US" altLang="zh-TW" sz="1200" dirty="0" smtClean="0">
                <a:ea typeface="新細明體" charset="-120"/>
              </a:rPr>
              <a:t>, UV=</a:t>
            </a:r>
            <a:r>
              <a:rPr lang="zh-TW" altLang="en-US" sz="1200" dirty="0" smtClean="0">
                <a:ea typeface="新細明體" charset="-120"/>
              </a:rPr>
              <a:t>欠压</a:t>
            </a:r>
            <a:r>
              <a:rPr lang="en-US" altLang="zh-TW" sz="1200" dirty="0" smtClean="0">
                <a:ea typeface="新細明體" charset="-120"/>
              </a:rPr>
              <a:t>, OT=</a:t>
            </a:r>
            <a:r>
              <a:rPr lang="zh-TW" altLang="en-US" sz="1200" dirty="0" smtClean="0">
                <a:ea typeface="新細明體" charset="-120"/>
              </a:rPr>
              <a:t>过温</a:t>
            </a:r>
            <a:r>
              <a:rPr lang="en-US" altLang="zh-TW" sz="1200" dirty="0" smtClean="0">
                <a:ea typeface="新細明體" charset="-120"/>
              </a:rPr>
              <a:t>, SC=</a:t>
            </a:r>
            <a:r>
              <a:rPr lang="zh-TW" altLang="en-US" sz="1200" dirty="0" smtClean="0">
                <a:ea typeface="新細明體" charset="-120"/>
              </a:rPr>
              <a:t>短路</a:t>
            </a:r>
            <a:r>
              <a:rPr lang="en-US" altLang="zh-TW" sz="1200" dirty="0" smtClean="0">
                <a:ea typeface="新細明體" charset="-120"/>
              </a:rPr>
              <a:t>,OP=</a:t>
            </a:r>
            <a:r>
              <a:rPr lang="zh-CN" altLang="en-US" sz="1200" dirty="0" smtClean="0">
                <a:ea typeface="新細明體" charset="-120"/>
              </a:rPr>
              <a:t>电池掉电检测</a:t>
            </a:r>
            <a:r>
              <a:rPr lang="en-US" altLang="zh-TW" sz="1200" dirty="0" smtClean="0">
                <a:ea typeface="新細明體" charset="-120"/>
              </a:rPr>
              <a:t>, OCD=</a:t>
            </a:r>
            <a:r>
              <a:rPr lang="zh-TW" altLang="en-US" sz="1200" dirty="0" smtClean="0">
                <a:ea typeface="新細明體" charset="-120"/>
              </a:rPr>
              <a:t>放电过电流</a:t>
            </a:r>
            <a:r>
              <a:rPr lang="en-US" altLang="zh-TW" sz="1200" dirty="0" smtClean="0">
                <a:ea typeface="新細明體" charset="-120"/>
              </a:rPr>
              <a:t>, OCC=</a:t>
            </a:r>
            <a:r>
              <a:rPr lang="zh-TW" altLang="en-US" sz="1200" dirty="0" smtClean="0">
                <a:ea typeface="新細明體" charset="-120"/>
              </a:rPr>
              <a:t>充电过电流</a:t>
            </a:r>
            <a:r>
              <a:rPr lang="en-US" altLang="zh-TW" sz="1200" dirty="0" smtClean="0">
                <a:ea typeface="新細明體" charset="-120"/>
              </a:rPr>
              <a:t>, IT=</a:t>
            </a:r>
            <a:r>
              <a:rPr lang="zh-CN" altLang="en-US" sz="1200" dirty="0" smtClean="0">
                <a:ea typeface="新細明體" charset="-120"/>
              </a:rPr>
              <a:t>阻抗追踪技术</a:t>
            </a:r>
            <a:endParaRPr lang="en-US" altLang="zh-TW" sz="1200" dirty="0">
              <a:ea typeface="新細明體" charset="-120"/>
            </a:endParaRPr>
          </a:p>
        </p:txBody>
      </p:sp>
      <p:sp>
        <p:nvSpPr>
          <p:cNvPr id="42" name="Rectangle 11"/>
          <p:cNvSpPr>
            <a:spLocks noChangeArrowheads="1"/>
          </p:cNvSpPr>
          <p:nvPr/>
        </p:nvSpPr>
        <p:spPr bwMode="auto">
          <a:xfrm>
            <a:off x="3423220" y="858416"/>
            <a:ext cx="1219200" cy="533400"/>
          </a:xfrm>
          <a:prstGeom prst="rect">
            <a:avLst/>
          </a:prstGeom>
          <a:solidFill>
            <a:srgbClr val="00B050"/>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00B050"/>
            </a:extrusionClr>
          </a:sp3d>
        </p:spPr>
        <p:txBody>
          <a:bodyPr wrap="none" anchor="ctr">
            <a:flatTx/>
          </a:bodyPr>
          <a:lstStyle/>
          <a:p>
            <a:pPr algn="ctr" eaLnBrk="0" hangingPunct="0">
              <a:lnSpc>
                <a:spcPct val="90000"/>
              </a:lnSpc>
              <a:defRPr/>
            </a:pPr>
            <a:r>
              <a:rPr lang="en-US" sz="1600" dirty="0" smtClean="0">
                <a:solidFill>
                  <a:schemeClr val="bg1"/>
                </a:solidFill>
                <a:latin typeface="Helvetica" pitchFamily="34" charset="0"/>
                <a:cs typeface="+mn-cs"/>
              </a:rPr>
              <a:t>Bq34z100</a:t>
            </a:r>
          </a:p>
          <a:p>
            <a:pPr algn="ctr" eaLnBrk="0" hangingPunct="0">
              <a:lnSpc>
                <a:spcPct val="90000"/>
              </a:lnSpc>
              <a:defRPr/>
            </a:pPr>
            <a:r>
              <a:rPr lang="en-US" sz="1600" dirty="0" smtClean="0">
                <a:solidFill>
                  <a:schemeClr val="bg1"/>
                </a:solidFill>
                <a:latin typeface="Helvetica" pitchFamily="34" charset="0"/>
              </a:rPr>
              <a:t>Gas Gauge</a:t>
            </a:r>
            <a:endParaRPr lang="en-US" sz="1400" dirty="0">
              <a:solidFill>
                <a:schemeClr val="bg1"/>
              </a:solidFill>
              <a:latin typeface="Helvetica" pitchFamily="34" charset="0"/>
              <a:cs typeface="+mn-cs"/>
            </a:endParaRPr>
          </a:p>
        </p:txBody>
      </p:sp>
      <p:sp>
        <p:nvSpPr>
          <p:cNvPr id="51" name="Text Box 47"/>
          <p:cNvSpPr txBox="1">
            <a:spLocks noChangeArrowheads="1"/>
          </p:cNvSpPr>
          <p:nvPr/>
        </p:nvSpPr>
        <p:spPr bwMode="auto">
          <a:xfrm>
            <a:off x="3059832" y="1700808"/>
            <a:ext cx="1752600" cy="2209800"/>
          </a:xfrm>
          <a:prstGeom prst="rect">
            <a:avLst/>
          </a:prstGeom>
          <a:noFill/>
          <a:ln w="9525" algn="ctr">
            <a:noFill/>
            <a:miter lim="800000"/>
            <a:headEnd/>
            <a:tailEnd/>
          </a:ln>
        </p:spPr>
        <p:txBody>
          <a:bodyPr/>
          <a:lstStyle/>
          <a:p>
            <a:pPr marL="114300" indent="-114300" eaLnBrk="0" hangingPunct="0"/>
            <a:r>
              <a:rPr lang="zh-TW" altLang="en-US" sz="1200" b="1" smtClean="0">
                <a:latin typeface="微軟正黑體" pitchFamily="34" charset="-120"/>
                <a:ea typeface="微軟正黑體" pitchFamily="34" charset="-120"/>
              </a:rPr>
              <a:t>电池电量计</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smtClean="0">
                <a:solidFill>
                  <a:srgbClr val="FF0000"/>
                </a:solidFill>
                <a:latin typeface="微軟正黑體" pitchFamily="34" charset="-120"/>
                <a:ea typeface="微軟正黑體" pitchFamily="34" charset="-120"/>
              </a:rPr>
              <a:t>1 to</a:t>
            </a:r>
            <a:r>
              <a:rPr lang="zh-TW" altLang="en-US"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16 </a:t>
            </a:r>
            <a:r>
              <a:rPr lang="en-US" altLang="zh-TW" sz="1200" dirty="0">
                <a:solidFill>
                  <a:srgbClr val="FF0000"/>
                </a:solidFill>
                <a:latin typeface="微軟正黑體" pitchFamily="34" charset="-120"/>
                <a:ea typeface="微軟正黑體" pitchFamily="34" charset="-120"/>
              </a:rPr>
              <a:t>Li </a:t>
            </a:r>
            <a:r>
              <a:rPr lang="en-US" altLang="zh-TW" sz="120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200" smtClean="0">
                <a:solidFill>
                  <a:srgbClr val="FF0000"/>
                </a:solidFill>
                <a:latin typeface="微軟正黑體" pitchFamily="34" charset="-120"/>
                <a:ea typeface="微軟正黑體" pitchFamily="34" charset="-120"/>
              </a:rPr>
              <a:t>电量计算法为</a:t>
            </a:r>
            <a:r>
              <a:rPr lang="en-US" altLang="zh-TW" sz="1200" smtClean="0">
                <a:solidFill>
                  <a:srgbClr val="FF0000"/>
                </a:solidFill>
                <a:latin typeface="微軟正黑體" pitchFamily="34" charset="-120"/>
                <a:ea typeface="微軟正黑體" pitchFamily="34" charset="-120"/>
              </a:rPr>
              <a:t>IT</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smtClean="0">
                <a:solidFill>
                  <a:srgbClr val="FF0000"/>
                </a:solidFill>
                <a:latin typeface="微軟正黑體" pitchFamily="34" charset="-120"/>
                <a:ea typeface="微軟正黑體" pitchFamily="34" charset="-120"/>
              </a:rPr>
              <a:t>I2C and HDQ</a:t>
            </a:r>
            <a:r>
              <a:rPr lang="zh-TW" altLang="en-US" sz="1200" smtClean="0">
                <a:solidFill>
                  <a:srgbClr val="FF0000"/>
                </a:solidFill>
                <a:latin typeface="微軟正黑體" pitchFamily="34" charset="-120"/>
                <a:ea typeface="微軟正黑體" pitchFamily="34" charset="-120"/>
              </a:rPr>
              <a:t>接</a:t>
            </a:r>
            <a:r>
              <a:rPr lang="zh-TW" altLang="en-US" sz="1200" dirty="0" smtClean="0">
                <a:solidFill>
                  <a:srgbClr val="FF0000"/>
                </a:solidFill>
                <a:latin typeface="微軟正黑體" pitchFamily="34" charset="-120"/>
                <a:ea typeface="微軟正黑體" pitchFamily="34" charset="-120"/>
              </a:rPr>
              <a:t>口</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自动老化赔偿</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smtClean="0">
                <a:solidFill>
                  <a:srgbClr val="FF0000"/>
                </a:solidFill>
                <a:latin typeface="微軟正黑體" pitchFamily="34" charset="-120"/>
                <a:ea typeface="微軟正黑體" pitchFamily="34" charset="-120"/>
              </a:rPr>
              <a:t>电池自耗电补偿</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大容量电池支持（</a:t>
            </a:r>
            <a:r>
              <a:rPr lang="en-US" altLang="zh-CN" sz="1200" dirty="0" smtClean="0">
                <a:solidFill>
                  <a:srgbClr val="FF0000"/>
                </a:solidFill>
                <a:latin typeface="微軟正黑體" pitchFamily="34" charset="-120"/>
                <a:ea typeface="微軟正黑體" pitchFamily="34" charset="-120"/>
              </a:rPr>
              <a:t>&gt;65Ahr</a:t>
            </a:r>
            <a:r>
              <a:rPr lang="zh-CN" altLang="en-US" sz="1200" dirty="0" smtClean="0">
                <a:solidFill>
                  <a:srgbClr val="FF0000"/>
                </a:solidFill>
                <a:latin typeface="微軟正黑體" pitchFamily="34" charset="-120"/>
                <a:ea typeface="微軟正黑體" pitchFamily="34" charset="-120"/>
              </a:rPr>
              <a:t>）</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支持高电流应用（</a:t>
            </a:r>
            <a:r>
              <a:rPr lang="en-US" altLang="zh-CN" sz="1200" dirty="0" smtClean="0">
                <a:solidFill>
                  <a:srgbClr val="FF0000"/>
                </a:solidFill>
                <a:latin typeface="微軟正黑體" pitchFamily="34" charset="-120"/>
                <a:ea typeface="微軟正黑體" pitchFamily="34" charset="-120"/>
              </a:rPr>
              <a:t>&gt;32A</a:t>
            </a:r>
            <a:r>
              <a:rPr lang="zh-CN" altLang="en-US" sz="1200" dirty="0" smtClean="0">
                <a:solidFill>
                  <a:srgbClr val="FF0000"/>
                </a:solidFill>
                <a:latin typeface="微軟正黑體" pitchFamily="34" charset="-120"/>
                <a:ea typeface="微軟正黑體" pitchFamily="34" charset="-120"/>
              </a:rPr>
              <a:t>）</a:t>
            </a:r>
            <a:endParaRPr lang="en-US" altLang="zh-CN"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14</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的电池电压和温度</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15</a:t>
            </a:r>
            <a:r>
              <a:rPr lang="zh-CN" altLang="en-US" sz="1200" dirty="0" smtClean="0">
                <a:latin typeface="微軟正黑體" pitchFamily="34" charset="-120"/>
                <a:ea typeface="微軟正黑體" pitchFamily="34" charset="-120"/>
              </a:rPr>
              <a:t>位</a:t>
            </a:r>
            <a:r>
              <a:rPr lang="en-US" altLang="zh-CN" sz="1200" dirty="0" smtClean="0">
                <a:latin typeface="微軟正黑體" pitchFamily="34" charset="-120"/>
                <a:ea typeface="微軟正黑體" pitchFamily="34" charset="-120"/>
              </a:rPr>
              <a:t>ADC</a:t>
            </a:r>
            <a:r>
              <a:rPr lang="zh-CN" altLang="en-US" sz="1200" dirty="0" smtClean="0">
                <a:latin typeface="微軟正黑體" pitchFamily="34" charset="-120"/>
                <a:ea typeface="微軟正黑體" pitchFamily="34" charset="-120"/>
              </a:rPr>
              <a:t>（库仑计数器）电流</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latin typeface="微軟正黑體" pitchFamily="34" charset="-120"/>
                <a:ea typeface="微軟正黑體" pitchFamily="34" charset="-120"/>
              </a:rPr>
              <a:t>中断输出</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en-US" altLang="zh-CN" sz="1200" dirty="0" smtClean="0">
                <a:latin typeface="微軟正黑體" pitchFamily="34" charset="-120"/>
                <a:ea typeface="微軟正黑體" pitchFamily="34" charset="-120"/>
              </a:rPr>
              <a:t>1</a:t>
            </a:r>
            <a:r>
              <a:rPr lang="zh-CN" altLang="en-US" sz="1200" dirty="0" smtClean="0">
                <a:latin typeface="微軟正黑體" pitchFamily="34" charset="-120"/>
                <a:ea typeface="微軟正黑體" pitchFamily="34" charset="-120"/>
              </a:rPr>
              <a:t>或</a:t>
            </a:r>
            <a:r>
              <a:rPr lang="en-US" altLang="zh-CN" sz="1200" dirty="0" smtClean="0">
                <a:latin typeface="微軟正黑體" pitchFamily="34" charset="-120"/>
                <a:ea typeface="微軟正黑體" pitchFamily="34" charset="-120"/>
              </a:rPr>
              <a:t>4</a:t>
            </a:r>
            <a:r>
              <a:rPr lang="zh-CN" altLang="en-US" sz="1200" smtClean="0">
                <a:latin typeface="微軟正黑體" pitchFamily="34" charset="-120"/>
                <a:ea typeface="微軟正黑體" pitchFamily="34" charset="-120"/>
              </a:rPr>
              <a:t>个</a:t>
            </a:r>
            <a:r>
              <a:rPr lang="en-US" altLang="zh-CN" sz="1200" smtClean="0">
                <a:latin typeface="微軟正黑體" pitchFamily="34" charset="-120"/>
                <a:ea typeface="微軟正黑體" pitchFamily="34" charset="-120"/>
              </a:rPr>
              <a:t>LED</a:t>
            </a:r>
            <a:r>
              <a:rPr lang="zh-CN" altLang="en-US" sz="1200" smtClean="0">
                <a:latin typeface="微軟正黑體" pitchFamily="34" charset="-120"/>
                <a:ea typeface="微軟正黑體" pitchFamily="34" charset="-120"/>
              </a:rPr>
              <a:t>显示屏</a:t>
            </a:r>
            <a:r>
              <a:rPr lang="en-US" altLang="zh-CN" sz="1200" smtClean="0">
                <a:latin typeface="微軟正黑體" pitchFamily="34" charset="-120"/>
                <a:ea typeface="微軟正黑體" pitchFamily="34" charset="-120"/>
              </a:rPr>
              <a:t>-</a:t>
            </a:r>
            <a:r>
              <a:rPr lang="zh-CN" altLang="en-US" sz="1200" smtClean="0">
                <a:latin typeface="微軟正黑體" pitchFamily="34" charset="-120"/>
                <a:ea typeface="微軟正黑體" pitchFamily="34" charset="-120"/>
              </a:rPr>
              <a:t>更</a:t>
            </a:r>
            <a:r>
              <a:rPr lang="zh-CN" altLang="en-US" sz="1200" dirty="0" smtClean="0">
                <a:latin typeface="微軟正黑體" pitchFamily="34" charset="-120"/>
                <a:ea typeface="微軟正黑體" pitchFamily="34" charset="-120"/>
              </a:rPr>
              <a:t>多的扩展芯片</a:t>
            </a:r>
            <a:endParaRPr lang="en-US" altLang="zh-CN" sz="1200" dirty="0" smtClean="0">
              <a:latin typeface="微軟正黑體" pitchFamily="34" charset="-120"/>
              <a:ea typeface="微軟正黑體" pitchFamily="34" charset="-120"/>
            </a:endParaRPr>
          </a:p>
          <a:p>
            <a:pPr marL="114300" indent="-114300" eaLnBrk="0" hangingPunct="0">
              <a:buFontTx/>
              <a:buChar char="•"/>
            </a:pPr>
            <a:r>
              <a:rPr lang="en-US" altLang="zh-TW" sz="1200" dirty="0" smtClean="0">
                <a:solidFill>
                  <a:srgbClr val="FF0000"/>
                </a:solidFill>
                <a:latin typeface="Helvetica" pitchFamily="34" charset="0"/>
                <a:ea typeface="新細明體" charset="-120"/>
              </a:rPr>
              <a:t>14-pin </a:t>
            </a:r>
            <a:r>
              <a:rPr lang="en-US" altLang="zh-TW" sz="1200" dirty="0">
                <a:solidFill>
                  <a:srgbClr val="FF0000"/>
                </a:solidFill>
                <a:latin typeface="Helvetica" pitchFamily="34" charset="0"/>
                <a:ea typeface="新細明體" charset="-120"/>
              </a:rPr>
              <a:t>SSOP</a:t>
            </a:r>
          </a:p>
        </p:txBody>
      </p:sp>
      <p:sp>
        <p:nvSpPr>
          <p:cNvPr id="52" name="Text Box 47"/>
          <p:cNvSpPr txBox="1">
            <a:spLocks noChangeArrowheads="1"/>
          </p:cNvSpPr>
          <p:nvPr/>
        </p:nvSpPr>
        <p:spPr bwMode="auto">
          <a:xfrm>
            <a:off x="1307232" y="2204864"/>
            <a:ext cx="1752600" cy="2209800"/>
          </a:xfrm>
          <a:prstGeom prst="rect">
            <a:avLst/>
          </a:prstGeom>
          <a:noFill/>
          <a:ln w="9525" algn="ctr">
            <a:noFill/>
            <a:miter lim="800000"/>
            <a:headEnd/>
            <a:tailEnd/>
          </a:ln>
        </p:spPr>
        <p:txBody>
          <a:bodyPr/>
          <a:lstStyle/>
          <a:p>
            <a:pPr marL="114300" indent="-114300" eaLnBrk="0" hangingPunct="0"/>
            <a:r>
              <a:rPr lang="zh-CN" altLang="en-US" sz="1050" b="1" dirty="0" smtClean="0">
                <a:latin typeface="微軟正黑體" pitchFamily="34" charset="-120"/>
                <a:ea typeface="微軟正黑體" pitchFamily="34" charset="-120"/>
              </a:rPr>
              <a:t>模拟前端与电池平衡</a:t>
            </a:r>
            <a:endParaRPr lang="en-US" altLang="zh-TW" sz="1050" b="1" dirty="0">
              <a:latin typeface="微軟正黑體" pitchFamily="34" charset="-120"/>
              <a:ea typeface="微軟正黑體" pitchFamily="34" charset="-120"/>
            </a:endParaRPr>
          </a:p>
          <a:p>
            <a:pPr marL="114300" indent="-114300" eaLnBrk="0" hangingPunct="0">
              <a:buFontTx/>
              <a:buChar char="•"/>
            </a:pPr>
            <a:r>
              <a:rPr lang="zh-TW" altLang="en-US" sz="1050" u="sng" dirty="0" smtClean="0">
                <a:solidFill>
                  <a:srgbClr val="FF0000"/>
                </a:solidFill>
                <a:latin typeface="微軟正黑體" pitchFamily="34" charset="-120"/>
                <a:ea typeface="微軟正黑體" pitchFamily="34" charset="-120"/>
              </a:rPr>
              <a:t>需要主机控制</a:t>
            </a:r>
            <a:endParaRPr lang="en-US" altLang="zh-TW" sz="105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050" dirty="0">
                <a:solidFill>
                  <a:srgbClr val="FF0000"/>
                </a:solidFill>
                <a:latin typeface="微軟正黑體" pitchFamily="34" charset="-120"/>
                <a:ea typeface="微軟正黑體" pitchFamily="34" charset="-120"/>
              </a:rPr>
              <a:t>3</a:t>
            </a:r>
            <a:r>
              <a:rPr lang="en-US" altLang="zh-TW" sz="1050" dirty="0" smtClean="0">
                <a:solidFill>
                  <a:srgbClr val="FF0000"/>
                </a:solidFill>
                <a:latin typeface="微軟正黑體" pitchFamily="34" charset="-120"/>
                <a:ea typeface="微軟正黑體" pitchFamily="34" charset="-120"/>
              </a:rPr>
              <a:t> to</a:t>
            </a:r>
            <a:r>
              <a:rPr lang="zh-TW" altLang="en-US" sz="1050" dirty="0" smtClean="0">
                <a:solidFill>
                  <a:srgbClr val="FF0000"/>
                </a:solidFill>
                <a:latin typeface="微軟正黑體" pitchFamily="34" charset="-120"/>
                <a:ea typeface="微軟正黑體" pitchFamily="34" charset="-120"/>
              </a:rPr>
              <a:t> </a:t>
            </a:r>
            <a:r>
              <a:rPr lang="en-US" altLang="zh-TW" sz="1050" dirty="0" smtClean="0">
                <a:solidFill>
                  <a:srgbClr val="FF0000"/>
                </a:solidFill>
                <a:latin typeface="微軟正黑體" pitchFamily="34" charset="-120"/>
                <a:ea typeface="微軟正黑體" pitchFamily="34" charset="-120"/>
              </a:rPr>
              <a:t>6 </a:t>
            </a:r>
            <a:r>
              <a:rPr lang="en-US" altLang="zh-TW" sz="1050" dirty="0">
                <a:solidFill>
                  <a:srgbClr val="FF0000"/>
                </a:solidFill>
                <a:latin typeface="微軟正黑體" pitchFamily="34" charset="-120"/>
                <a:ea typeface="微軟正黑體" pitchFamily="34" charset="-120"/>
              </a:rPr>
              <a:t>Li </a:t>
            </a:r>
            <a:r>
              <a:rPr lang="en-US" altLang="zh-TW" sz="105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050" dirty="0" smtClean="0">
                <a:solidFill>
                  <a:srgbClr val="FF0000"/>
                </a:solidFill>
                <a:latin typeface="微軟正黑體" pitchFamily="34" charset="-120"/>
                <a:ea typeface="微軟正黑體" pitchFamily="34" charset="-120"/>
              </a:rPr>
              <a:t>内置硬件保护</a:t>
            </a:r>
            <a:endParaRPr lang="en-US" altLang="zh-CN" sz="105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050" dirty="0" smtClean="0">
                <a:solidFill>
                  <a:srgbClr val="FF0000"/>
                </a:solidFill>
                <a:latin typeface="微軟正黑體" pitchFamily="34" charset="-120"/>
                <a:ea typeface="微軟正黑體" pitchFamily="34" charset="-120"/>
              </a:rPr>
              <a:t>适合数据通信的</a:t>
            </a:r>
            <a:r>
              <a:rPr lang="en-US" altLang="zh-CN" sz="1050" dirty="0" smtClean="0">
                <a:solidFill>
                  <a:srgbClr val="FF0000"/>
                </a:solidFill>
                <a:latin typeface="微軟正黑體" pitchFamily="34" charset="-120"/>
                <a:ea typeface="微軟正黑體" pitchFamily="34" charset="-120"/>
              </a:rPr>
              <a:t>SPI</a:t>
            </a:r>
            <a:r>
              <a:rPr lang="zh-CN" altLang="en-US" sz="1050" dirty="0" smtClean="0">
                <a:solidFill>
                  <a:srgbClr val="FF0000"/>
                </a:solidFill>
                <a:latin typeface="微軟正黑體" pitchFamily="34" charset="-120"/>
                <a:ea typeface="微軟正黑體" pitchFamily="34" charset="-120"/>
              </a:rPr>
              <a:t>接口</a:t>
            </a:r>
            <a:endParaRPr lang="en-US" altLang="zh-CN" sz="105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050" dirty="0" smtClean="0">
                <a:solidFill>
                  <a:srgbClr val="FF0000"/>
                </a:solidFill>
                <a:latin typeface="微軟正黑體" pitchFamily="34" charset="-120"/>
                <a:ea typeface="微軟正黑體" pitchFamily="34" charset="-120"/>
              </a:rPr>
              <a:t>可热插拔</a:t>
            </a:r>
            <a:endParaRPr lang="en-US" altLang="zh-CN" sz="105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050" dirty="0" smtClean="0">
                <a:solidFill>
                  <a:srgbClr val="FF0000"/>
                </a:solidFill>
                <a:latin typeface="微軟正黑體" pitchFamily="34" charset="-120"/>
                <a:ea typeface="微軟正黑體" pitchFamily="34" charset="-120"/>
              </a:rPr>
              <a:t> 可堆叠式垂直接口</a:t>
            </a:r>
            <a:endParaRPr lang="en-US" altLang="zh-CN" sz="105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050" dirty="0" smtClean="0">
                <a:solidFill>
                  <a:srgbClr val="FF0000"/>
                </a:solidFill>
                <a:latin typeface="微軟正黑體" pitchFamily="34" charset="-120"/>
                <a:ea typeface="微軟正黑體" pitchFamily="34" charset="-120"/>
              </a:rPr>
              <a:t>在</a:t>
            </a:r>
            <a:r>
              <a:rPr lang="en-US" altLang="zh-CN" sz="1050" dirty="0" smtClean="0">
                <a:solidFill>
                  <a:srgbClr val="FF0000"/>
                </a:solidFill>
                <a:latin typeface="微軟正黑體" pitchFamily="34" charset="-120"/>
                <a:ea typeface="微軟正黑體" pitchFamily="34" charset="-120"/>
              </a:rPr>
              <a:t>IC</a:t>
            </a:r>
            <a:r>
              <a:rPr lang="zh-CN" altLang="en-US" sz="1050" dirty="0" smtClean="0">
                <a:solidFill>
                  <a:srgbClr val="FF0000"/>
                </a:solidFill>
                <a:latin typeface="微軟正黑體" pitchFamily="34" charset="-120"/>
                <a:ea typeface="微軟正黑體" pitchFamily="34" charset="-120"/>
              </a:rPr>
              <a:t>之间无需布设隔离组件（在</a:t>
            </a:r>
            <a:r>
              <a:rPr lang="en-US" altLang="zh-CN" sz="1050" dirty="0" smtClean="0">
                <a:solidFill>
                  <a:srgbClr val="FF0000"/>
                </a:solidFill>
                <a:latin typeface="微軟正黑體" pitchFamily="34" charset="-120"/>
                <a:ea typeface="微軟正黑體" pitchFamily="34" charset="-120"/>
              </a:rPr>
              <a:t>IC</a:t>
            </a:r>
            <a:r>
              <a:rPr lang="zh-CN" altLang="en-US" sz="1050" dirty="0" smtClean="0">
                <a:solidFill>
                  <a:srgbClr val="FF0000"/>
                </a:solidFill>
                <a:latin typeface="微軟正黑體" pitchFamily="34" charset="-120"/>
                <a:ea typeface="微軟正黑體" pitchFamily="34" charset="-120"/>
              </a:rPr>
              <a:t>之间不需要隔离组件器件）</a:t>
            </a:r>
            <a:endParaRPr lang="en-US" altLang="zh-CN" sz="105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050" u="sng" dirty="0" smtClean="0">
                <a:latin typeface="微軟正黑體" pitchFamily="34" charset="-120"/>
                <a:ea typeface="微軟正黑體" pitchFamily="34" charset="-120"/>
              </a:rPr>
              <a:t>包含磷酸铁锂电池</a:t>
            </a:r>
            <a:endParaRPr lang="en-US" altLang="zh-TW" sz="1050" u="sng" dirty="0">
              <a:latin typeface="微軟正黑體" pitchFamily="34" charset="-120"/>
              <a:ea typeface="微軟正黑體" pitchFamily="34" charset="-120"/>
            </a:endParaRPr>
          </a:p>
          <a:p>
            <a:pPr marL="114300" indent="-114300" eaLnBrk="0" hangingPunct="0">
              <a:buFontTx/>
              <a:buChar char="•"/>
            </a:pPr>
            <a:r>
              <a:rPr lang="zh-CN" altLang="en-US" sz="1050" dirty="0" smtClean="0">
                <a:latin typeface="微軟正黑體" pitchFamily="34" charset="-120"/>
                <a:ea typeface="微軟正黑體" pitchFamily="34" charset="-120"/>
              </a:rPr>
              <a:t>电池掉电检测</a:t>
            </a:r>
            <a:endParaRPr lang="en-US" altLang="zh-TW" sz="1050" dirty="0">
              <a:latin typeface="微軟正黑體" pitchFamily="34" charset="-120"/>
              <a:ea typeface="微軟正黑體" pitchFamily="34" charset="-120"/>
            </a:endParaRPr>
          </a:p>
          <a:p>
            <a:pPr marL="114300" indent="-114300" eaLnBrk="0" hangingPunct="0">
              <a:buFontTx/>
              <a:buChar char="•"/>
            </a:pPr>
            <a:r>
              <a:rPr lang="zh-TW" altLang="en-US" sz="1050" dirty="0" smtClean="0">
                <a:latin typeface="微軟正黑體" pitchFamily="34" charset="-120"/>
                <a:ea typeface="微軟正黑體" pitchFamily="34" charset="-120"/>
              </a:rPr>
              <a:t>电阻式平衡</a:t>
            </a:r>
            <a:endParaRPr lang="en-US" altLang="zh-TW" sz="1050" dirty="0">
              <a:latin typeface="微軟正黑體" pitchFamily="34" charset="-120"/>
              <a:ea typeface="微軟正黑體" pitchFamily="34" charset="-120"/>
            </a:endParaRPr>
          </a:p>
          <a:p>
            <a:pPr marL="114300" indent="-114300" eaLnBrk="0" hangingPunct="0">
              <a:buFontTx/>
              <a:buChar char="•"/>
            </a:pPr>
            <a:r>
              <a:rPr lang="en-US" altLang="zh-CN" sz="1050" dirty="0" smtClean="0">
                <a:latin typeface="微軟正黑體" pitchFamily="34" charset="-120"/>
                <a:ea typeface="微軟正黑體" pitchFamily="34" charset="-120"/>
              </a:rPr>
              <a:t>14</a:t>
            </a:r>
            <a:r>
              <a:rPr lang="zh-CN" altLang="en-US" sz="1050" dirty="0" smtClean="0">
                <a:latin typeface="微軟正黑體" pitchFamily="34" charset="-120"/>
                <a:ea typeface="微軟正黑體" pitchFamily="34" charset="-120"/>
              </a:rPr>
              <a:t>位</a:t>
            </a:r>
            <a:r>
              <a:rPr lang="en-US" altLang="zh-CN" sz="1050" dirty="0" smtClean="0">
                <a:latin typeface="微軟正黑體" pitchFamily="34" charset="-120"/>
                <a:ea typeface="微軟正黑體" pitchFamily="34" charset="-120"/>
              </a:rPr>
              <a:t>ADC</a:t>
            </a:r>
            <a:r>
              <a:rPr lang="zh-CN" altLang="en-US" sz="1050" dirty="0" smtClean="0">
                <a:latin typeface="微軟正黑體" pitchFamily="34" charset="-120"/>
                <a:ea typeface="微軟正黑體" pitchFamily="34" charset="-120"/>
              </a:rPr>
              <a:t>的电池电压和温度</a:t>
            </a:r>
            <a:endParaRPr lang="en-US" altLang="zh-CN" sz="1050" dirty="0" smtClean="0">
              <a:latin typeface="微軟正黑體" pitchFamily="34" charset="-120"/>
              <a:ea typeface="微軟正黑體" pitchFamily="34" charset="-120"/>
            </a:endParaRPr>
          </a:p>
          <a:p>
            <a:pPr marL="114300" indent="-114300" eaLnBrk="0" hangingPunct="0">
              <a:buFontTx/>
              <a:buChar char="•"/>
            </a:pPr>
            <a:r>
              <a:rPr lang="zh-CN" altLang="en-US" sz="1050" dirty="0" smtClean="0">
                <a:latin typeface="微軟正黑體" pitchFamily="34" charset="-120"/>
                <a:ea typeface="微軟正黑體" pitchFamily="34" charset="-120"/>
              </a:rPr>
              <a:t>配置数据存储于</a:t>
            </a:r>
            <a:r>
              <a:rPr lang="en-US" altLang="zh-CN" sz="1050" dirty="0" smtClean="0">
                <a:latin typeface="微軟正黑體" pitchFamily="34" charset="-120"/>
                <a:ea typeface="微軟正黑體" pitchFamily="34" charset="-120"/>
              </a:rPr>
              <a:t>ECC-OTP</a:t>
            </a:r>
            <a:r>
              <a:rPr lang="zh-CN" altLang="en-US" sz="1050" dirty="0" smtClean="0">
                <a:latin typeface="微軟正黑體" pitchFamily="34" charset="-120"/>
                <a:ea typeface="微軟正黑體" pitchFamily="34" charset="-120"/>
              </a:rPr>
              <a:t>寄存器中中断与模拟输出</a:t>
            </a:r>
            <a:endParaRPr lang="en-US" altLang="zh-CN" sz="1050" dirty="0" smtClean="0">
              <a:latin typeface="微軟正黑體" pitchFamily="34" charset="-120"/>
              <a:ea typeface="微軟正黑體" pitchFamily="34" charset="-120"/>
            </a:endParaRPr>
          </a:p>
          <a:p>
            <a:pPr marL="114300" indent="-114300" eaLnBrk="0" hangingPunct="0">
              <a:buFontTx/>
              <a:buChar char="•"/>
            </a:pPr>
            <a:r>
              <a:rPr lang="zh-CN" altLang="en-US" sz="1050" smtClean="0">
                <a:latin typeface="微軟正黑體" pitchFamily="34" charset="-120"/>
                <a:ea typeface="微軟正黑體" pitchFamily="34" charset="-120"/>
              </a:rPr>
              <a:t>支持</a:t>
            </a:r>
            <a:r>
              <a:rPr lang="zh-TW" altLang="en-US" sz="1050" smtClean="0">
                <a:latin typeface="微軟正黑體" pitchFamily="34" charset="-120"/>
                <a:ea typeface="微軟正黑體" pitchFamily="34" charset="-120"/>
              </a:rPr>
              <a:t>电池</a:t>
            </a:r>
            <a:r>
              <a:rPr lang="zh-CN" altLang="en-US" sz="1050" smtClean="0">
                <a:latin typeface="微軟正黑體" pitchFamily="34" charset="-120"/>
                <a:ea typeface="微軟正黑體" pitchFamily="34" charset="-120"/>
              </a:rPr>
              <a:t>随</a:t>
            </a:r>
            <a:r>
              <a:rPr lang="zh-CN" altLang="en-US" sz="1050" dirty="0" smtClean="0">
                <a:latin typeface="微軟正黑體" pitchFamily="34" charset="-120"/>
                <a:ea typeface="微軟正黑體" pitchFamily="34" charset="-120"/>
              </a:rPr>
              <a:t>机连接</a:t>
            </a:r>
            <a:endParaRPr lang="en-US" altLang="zh-TW" sz="1050" dirty="0">
              <a:latin typeface="微軟正黑體" pitchFamily="34" charset="-120"/>
              <a:ea typeface="微軟正黑體" pitchFamily="34" charset="-120"/>
            </a:endParaRPr>
          </a:p>
          <a:p>
            <a:pPr marL="114300" indent="-114300" eaLnBrk="0" hangingPunct="0">
              <a:buFontTx/>
              <a:buChar char="•"/>
            </a:pPr>
            <a:r>
              <a:rPr lang="zh-TW" altLang="en-US" sz="1050" dirty="0" smtClean="0">
                <a:latin typeface="微軟正黑體" pitchFamily="34" charset="-120"/>
                <a:ea typeface="微軟正黑體" pitchFamily="34" charset="-120"/>
              </a:rPr>
              <a:t>提供</a:t>
            </a:r>
            <a:r>
              <a:rPr lang="en-US" altLang="zh-TW" sz="1050" dirty="0" smtClean="0">
                <a:latin typeface="微軟正黑體" pitchFamily="34" charset="-120"/>
                <a:ea typeface="微軟正黑體" pitchFamily="34" charset="-120"/>
              </a:rPr>
              <a:t>3.3V</a:t>
            </a:r>
            <a:r>
              <a:rPr lang="zh-TW" altLang="en-US" sz="1050" dirty="0" smtClean="0">
                <a:latin typeface="微軟正黑體" pitchFamily="34" charset="-120"/>
                <a:ea typeface="微軟正黑體" pitchFamily="34" charset="-120"/>
              </a:rPr>
              <a:t>稳压输出</a:t>
            </a:r>
            <a:endParaRPr lang="en-US" altLang="zh-TW" sz="1050" dirty="0" smtClean="0">
              <a:latin typeface="微軟正黑體" pitchFamily="34" charset="-120"/>
              <a:ea typeface="微軟正黑體" pitchFamily="34" charset="-120"/>
            </a:endParaRPr>
          </a:p>
          <a:p>
            <a:pPr marL="114300" indent="-114300" eaLnBrk="0" hangingPunct="0">
              <a:buFontTx/>
              <a:buChar char="•"/>
            </a:pPr>
            <a:r>
              <a:rPr lang="en-US" altLang="zh-TW" sz="1050" smtClean="0">
                <a:latin typeface="微軟正黑體" pitchFamily="34" charset="-120"/>
                <a:ea typeface="微軟正黑體" pitchFamily="34" charset="-120"/>
              </a:rPr>
              <a:t>12~42µA normal</a:t>
            </a:r>
            <a:endParaRPr lang="en-US" altLang="zh-TW" sz="1050" dirty="0" smtClean="0">
              <a:latin typeface="微軟正黑體" pitchFamily="34" charset="-120"/>
              <a:ea typeface="微軟正黑體" pitchFamily="34" charset="-120"/>
            </a:endParaRPr>
          </a:p>
          <a:p>
            <a:pPr marL="114300" indent="-114300" eaLnBrk="0" hangingPunct="0">
              <a:buFontTx/>
              <a:buChar char="•"/>
            </a:pPr>
            <a:r>
              <a:rPr lang="zh-CN" altLang="en-US" sz="1050" smtClean="0">
                <a:latin typeface="微軟正黑體" pitchFamily="34" charset="-120"/>
                <a:ea typeface="微軟正黑體" pitchFamily="34" charset="-120"/>
              </a:rPr>
              <a:t>关断模是小于</a:t>
            </a:r>
            <a:r>
              <a:rPr lang="en-US" altLang="zh-TW" sz="1050" smtClean="0">
                <a:latin typeface="微軟正黑體" pitchFamily="34" charset="-120"/>
                <a:ea typeface="微軟正黑體" pitchFamily="34" charset="-120"/>
              </a:rPr>
              <a:t>1uA</a:t>
            </a:r>
            <a:endParaRPr lang="en-US" altLang="zh-TW" sz="1050" dirty="0">
              <a:latin typeface="微軟正黑體" pitchFamily="34" charset="-120"/>
              <a:ea typeface="微軟正黑體" pitchFamily="34" charset="-120"/>
            </a:endParaRPr>
          </a:p>
          <a:p>
            <a:pPr marL="114300" indent="-114300" eaLnBrk="0" hangingPunct="0">
              <a:buFontTx/>
              <a:buChar char="•"/>
            </a:pPr>
            <a:r>
              <a:rPr lang="en-US" altLang="zh-TW" sz="1050" dirty="0" smtClean="0">
                <a:solidFill>
                  <a:srgbClr val="FF0000"/>
                </a:solidFill>
                <a:latin typeface="Helvetica" pitchFamily="34" charset="0"/>
              </a:rPr>
              <a:t>TQFP-64 pin</a:t>
            </a:r>
            <a:endParaRPr lang="en-US" altLang="zh-TW" sz="1050" dirty="0">
              <a:solidFill>
                <a:srgbClr val="FF0000"/>
              </a:solidFill>
              <a:latin typeface="Helvetica" pitchFamily="34" charset="0"/>
              <a:ea typeface="新細明體" charset="-120"/>
            </a:endParaRPr>
          </a:p>
        </p:txBody>
      </p:sp>
      <p:grpSp>
        <p:nvGrpSpPr>
          <p:cNvPr id="29" name="Group 17"/>
          <p:cNvGrpSpPr>
            <a:grpSpLocks/>
          </p:cNvGrpSpPr>
          <p:nvPr/>
        </p:nvGrpSpPr>
        <p:grpSpPr bwMode="auto">
          <a:xfrm>
            <a:off x="1475656" y="887413"/>
            <a:ext cx="1308100" cy="1147762"/>
            <a:chOff x="4775" y="639"/>
            <a:chExt cx="769" cy="657"/>
          </a:xfrm>
        </p:grpSpPr>
        <p:sp>
          <p:nvSpPr>
            <p:cNvPr id="33" name="Rectangle 18"/>
            <p:cNvSpPr>
              <a:spLocks noChangeArrowheads="1"/>
            </p:cNvSpPr>
            <p:nvPr/>
          </p:nvSpPr>
          <p:spPr bwMode="auto">
            <a:xfrm>
              <a:off x="4775" y="639"/>
              <a:ext cx="768" cy="417"/>
            </a:xfrm>
            <a:prstGeom prst="rect">
              <a:avLst/>
            </a:prstGeom>
            <a:solidFill>
              <a:srgbClr val="00B05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B050"/>
              </a:extrusionClr>
            </a:sp3d>
          </p:spPr>
          <p:txBody>
            <a:bodyPr wrap="none" anchor="ctr">
              <a:flatTx/>
            </a:bodyPr>
            <a:lstStyle/>
            <a:p>
              <a:pPr algn="ctr" eaLnBrk="0" hangingPunct="0"/>
              <a:r>
                <a:rPr lang="en-US" altLang="zh-TW" sz="1600" dirty="0" smtClean="0">
                  <a:solidFill>
                    <a:schemeClr val="bg1"/>
                  </a:solidFill>
                  <a:latin typeface="Helvetica" pitchFamily="34" charset="0"/>
                  <a:ea typeface="新細明體" charset="-120"/>
                </a:rPr>
                <a:t>bqy76PL536A</a:t>
              </a:r>
              <a:endParaRPr lang="en-US" altLang="zh-TW" sz="1600" dirty="0">
                <a:solidFill>
                  <a:schemeClr val="bg1"/>
                </a:solidFill>
                <a:latin typeface="Helvetica" pitchFamily="34" charset="0"/>
                <a:ea typeface="新細明體" charset="-120"/>
              </a:endParaRPr>
            </a:p>
            <a:p>
              <a:pPr algn="ctr" eaLnBrk="0" hangingPunct="0"/>
              <a:r>
                <a:rPr lang="en-US" altLang="zh-TW" sz="1600" dirty="0">
                  <a:solidFill>
                    <a:schemeClr val="bg1"/>
                  </a:solidFill>
                  <a:latin typeface="Helvetica" pitchFamily="34" charset="0"/>
                  <a:ea typeface="新細明體" charset="-120"/>
                </a:rPr>
                <a:t>Monitor</a:t>
              </a:r>
            </a:p>
          </p:txBody>
        </p:sp>
        <p:sp>
          <p:nvSpPr>
            <p:cNvPr id="36" name="Rectangle 19"/>
            <p:cNvSpPr>
              <a:spLocks noChangeArrowheads="1"/>
            </p:cNvSpPr>
            <p:nvPr/>
          </p:nvSpPr>
          <p:spPr bwMode="auto">
            <a:xfrm>
              <a:off x="477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a:solidFill>
                    <a:schemeClr val="bg1"/>
                  </a:solidFill>
                  <a:latin typeface="Helvetica" pitchFamily="34" charset="0"/>
                  <a:ea typeface="新細明體" charset="-120"/>
                </a:rPr>
                <a:t>Balancing</a:t>
              </a:r>
            </a:p>
          </p:txBody>
        </p:sp>
        <p:sp>
          <p:nvSpPr>
            <p:cNvPr id="37" name="Rectangle 20"/>
            <p:cNvSpPr>
              <a:spLocks noChangeArrowheads="1"/>
            </p:cNvSpPr>
            <p:nvPr/>
          </p:nvSpPr>
          <p:spPr bwMode="auto">
            <a:xfrm>
              <a:off x="4776" y="1152"/>
              <a:ext cx="768"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a:solidFill>
                    <a:schemeClr val="bg1"/>
                  </a:solidFill>
                  <a:latin typeface="Helvetica" pitchFamily="34" charset="0"/>
                  <a:ea typeface="新細明體" charset="-120"/>
                </a:rPr>
                <a:t>2</a:t>
              </a:r>
              <a:r>
                <a:rPr lang="en-US" altLang="zh-TW" sz="1400" baseline="30000">
                  <a:solidFill>
                    <a:schemeClr val="bg1"/>
                  </a:solidFill>
                  <a:latin typeface="Helvetica" pitchFamily="34" charset="0"/>
                  <a:ea typeface="新細明體" charset="-120"/>
                </a:rPr>
                <a:t>nd</a:t>
              </a:r>
              <a:r>
                <a:rPr lang="en-US" altLang="zh-TW" sz="1400">
                  <a:solidFill>
                    <a:schemeClr val="bg1"/>
                  </a:solidFill>
                  <a:latin typeface="Helvetica" pitchFamily="34" charset="0"/>
                  <a:ea typeface="新細明體" charset="-120"/>
                </a:rPr>
                <a:t> Protector</a:t>
              </a:r>
            </a:p>
          </p:txBody>
        </p:sp>
      </p:grpSp>
      <p:grpSp>
        <p:nvGrpSpPr>
          <p:cNvPr id="14" name="Group 44"/>
          <p:cNvGrpSpPr>
            <a:grpSpLocks/>
          </p:cNvGrpSpPr>
          <p:nvPr/>
        </p:nvGrpSpPr>
        <p:grpSpPr bwMode="auto">
          <a:xfrm>
            <a:off x="35496" y="4653135"/>
            <a:ext cx="1599406" cy="1099711"/>
            <a:chOff x="731520" y="4524906"/>
            <a:chExt cx="1097280" cy="1100029"/>
          </a:xfrm>
        </p:grpSpPr>
        <p:sp>
          <p:nvSpPr>
            <p:cNvPr id="15" name="Text Box 4"/>
            <p:cNvSpPr txBox="1">
              <a:spLocks noChangeArrowheads="1"/>
            </p:cNvSpPr>
            <p:nvPr/>
          </p:nvSpPr>
          <p:spPr bwMode="auto">
            <a:xfrm>
              <a:off x="914400" y="4572000"/>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量产</a:t>
              </a:r>
              <a:endParaRPr lang="en-US" altLang="zh-CN" sz="800" b="1" dirty="0">
                <a:solidFill>
                  <a:srgbClr val="000000"/>
                </a:solidFill>
                <a:latin typeface="微軟正黑體" pitchFamily="34" charset="-120"/>
                <a:ea typeface="微軟正黑體" pitchFamily="34" charset="-120"/>
              </a:endParaRPr>
            </a:p>
          </p:txBody>
        </p:sp>
        <p:sp>
          <p:nvSpPr>
            <p:cNvPr id="16" name="Text Box 6"/>
            <p:cNvSpPr txBox="1">
              <a:spLocks noChangeArrowheads="1"/>
            </p:cNvSpPr>
            <p:nvPr/>
          </p:nvSpPr>
          <p:spPr bwMode="auto">
            <a:xfrm>
              <a:off x="914400" y="5120641"/>
              <a:ext cx="914400" cy="215506"/>
            </a:xfrm>
            <a:prstGeom prst="rect">
              <a:avLst/>
            </a:prstGeom>
            <a:noFill/>
            <a:ln w="9525">
              <a:noFill/>
              <a:miter lim="800000"/>
              <a:headEnd/>
              <a:tailEnd/>
            </a:ln>
          </p:spPr>
          <p:txBody>
            <a:bodyPr>
              <a:spAutoFit/>
            </a:bodyPr>
            <a:lstStyle/>
            <a:p>
              <a:pPr eaLnBrk="0" hangingPunct="0"/>
              <a:r>
                <a:rPr lang="zh-TW" altLang="en-US" sz="800" b="1" dirty="0" smtClean="0">
                  <a:solidFill>
                    <a:srgbClr val="000000"/>
                  </a:solidFill>
                  <a:latin typeface="微軟正黑體" pitchFamily="34" charset="-120"/>
                  <a:ea typeface="微軟正黑體" pitchFamily="34" charset="-120"/>
                </a:rPr>
                <a:t>评估</a:t>
              </a:r>
              <a:endParaRPr lang="en-US" altLang="zh-CN" sz="800" b="1" dirty="0">
                <a:solidFill>
                  <a:srgbClr val="000000"/>
                </a:solidFill>
                <a:latin typeface="微軟正黑體" pitchFamily="34" charset="-120"/>
                <a:ea typeface="微軟正黑體" pitchFamily="34" charset="-120"/>
              </a:endParaRPr>
            </a:p>
          </p:txBody>
        </p:sp>
        <p:sp>
          <p:nvSpPr>
            <p:cNvPr id="17" name="Oval 7"/>
            <p:cNvSpPr>
              <a:spLocks noChangeArrowheads="1"/>
            </p:cNvSpPr>
            <p:nvPr/>
          </p:nvSpPr>
          <p:spPr bwMode="auto">
            <a:xfrm>
              <a:off x="731520" y="4799227"/>
              <a:ext cx="182880" cy="277067"/>
            </a:xfrm>
            <a:prstGeom prst="ellipse">
              <a:avLst/>
            </a:prstGeom>
            <a:solidFill>
              <a:srgbClr val="CC000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18" name="Oval 9"/>
            <p:cNvSpPr>
              <a:spLocks noChangeArrowheads="1"/>
            </p:cNvSpPr>
            <p:nvPr/>
          </p:nvSpPr>
          <p:spPr bwMode="auto">
            <a:xfrm>
              <a:off x="731520" y="5073547"/>
              <a:ext cx="182880" cy="277067"/>
            </a:xfrm>
            <a:prstGeom prst="ellipse">
              <a:avLst/>
            </a:prstGeom>
            <a:solidFill>
              <a:srgbClr val="00008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19" name="Oval 10"/>
            <p:cNvSpPr>
              <a:spLocks noChangeArrowheads="1"/>
            </p:cNvSpPr>
            <p:nvPr/>
          </p:nvSpPr>
          <p:spPr bwMode="auto">
            <a:xfrm>
              <a:off x="731520" y="4524906"/>
              <a:ext cx="182880" cy="277067"/>
            </a:xfrm>
            <a:prstGeom prst="ellipse">
              <a:avLst/>
            </a:prstGeom>
            <a:solidFill>
              <a:srgbClr val="008000"/>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20" name="Text Box 11"/>
            <p:cNvSpPr txBox="1">
              <a:spLocks noChangeArrowheads="1"/>
            </p:cNvSpPr>
            <p:nvPr/>
          </p:nvSpPr>
          <p:spPr bwMode="auto">
            <a:xfrm>
              <a:off x="914400" y="4846322"/>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可提供样品</a:t>
              </a:r>
              <a:endParaRPr lang="en-US" altLang="zh-CN" sz="800" b="1" dirty="0">
                <a:solidFill>
                  <a:srgbClr val="000000"/>
                </a:solidFill>
                <a:latin typeface="微軟正黑體" pitchFamily="34" charset="-120"/>
                <a:ea typeface="微軟正黑體" pitchFamily="34" charset="-120"/>
              </a:endParaRPr>
            </a:p>
          </p:txBody>
        </p:sp>
        <p:sp>
          <p:nvSpPr>
            <p:cNvPr id="21" name="Oval 12"/>
            <p:cNvSpPr>
              <a:spLocks noChangeArrowheads="1"/>
            </p:cNvSpPr>
            <p:nvPr/>
          </p:nvSpPr>
          <p:spPr bwMode="auto">
            <a:xfrm>
              <a:off x="731520" y="5347868"/>
              <a:ext cx="182880" cy="277067"/>
            </a:xfrm>
            <a:prstGeom prst="ellipse">
              <a:avLst/>
            </a:prstGeom>
            <a:solidFill>
              <a:srgbClr val="FFFF99"/>
            </a:solidFill>
            <a:ln w="28575" algn="ctr">
              <a:solidFill>
                <a:schemeClr val="bg2"/>
              </a:solidFill>
              <a:round/>
              <a:headEnd/>
              <a:tailEnd/>
            </a:ln>
          </p:spPr>
          <p:txBody>
            <a:bodyPr anchor="ctr">
              <a:spAutoFit/>
            </a:bodyPr>
            <a:lstStyle/>
            <a:p>
              <a:pPr algn="ctr">
                <a:lnSpc>
                  <a:spcPct val="85000"/>
                </a:lnSpc>
              </a:pPr>
              <a:endParaRPr lang="en-US" altLang="zh-CN" sz="800" b="1">
                <a:solidFill>
                  <a:srgbClr val="FFFFFF"/>
                </a:solidFill>
                <a:latin typeface="微軟正黑體" pitchFamily="34" charset="-120"/>
                <a:ea typeface="微軟正黑體" pitchFamily="34" charset="-120"/>
              </a:endParaRPr>
            </a:p>
          </p:txBody>
        </p:sp>
        <p:sp>
          <p:nvSpPr>
            <p:cNvPr id="22" name="Text Box 13"/>
            <p:cNvSpPr txBox="1">
              <a:spLocks noChangeArrowheads="1"/>
            </p:cNvSpPr>
            <p:nvPr/>
          </p:nvSpPr>
          <p:spPr bwMode="auto">
            <a:xfrm>
              <a:off x="914400" y="5394962"/>
              <a:ext cx="914400" cy="215506"/>
            </a:xfrm>
            <a:prstGeom prst="rect">
              <a:avLst/>
            </a:prstGeom>
            <a:noFill/>
            <a:ln w="9525">
              <a:noFill/>
              <a:miter lim="800000"/>
              <a:headEnd/>
              <a:tailEnd/>
            </a:ln>
          </p:spPr>
          <p:txBody>
            <a:bodyPr>
              <a:spAutoFit/>
            </a:bodyPr>
            <a:lstStyle/>
            <a:p>
              <a:pPr eaLnBrk="0" hangingPunct="0"/>
              <a:r>
                <a:rPr lang="zh-TW" altLang="en-US" sz="800" b="1" smtClean="0">
                  <a:solidFill>
                    <a:srgbClr val="000000"/>
                  </a:solidFill>
                  <a:latin typeface="微軟正黑體" pitchFamily="34" charset="-120"/>
                  <a:ea typeface="微軟正黑體" pitchFamily="34" charset="-120"/>
                </a:rPr>
                <a:t>新定义</a:t>
              </a:r>
              <a:endParaRPr lang="en-US" altLang="zh-CN" sz="800" b="1" dirty="0">
                <a:solidFill>
                  <a:srgbClr val="000000"/>
                </a:solidFill>
                <a:latin typeface="微軟正黑體" pitchFamily="34" charset="-120"/>
                <a:ea typeface="微軟正黑體" pitchFamily="34" charset="-120"/>
              </a:endParaRPr>
            </a:p>
          </p:txBody>
        </p:sp>
      </p:grpSp>
      <p:sp>
        <p:nvSpPr>
          <p:cNvPr id="34" name="Rectangle 3"/>
          <p:cNvSpPr>
            <a:spLocks noChangeArrowheads="1"/>
          </p:cNvSpPr>
          <p:nvPr/>
        </p:nvSpPr>
        <p:spPr bwMode="auto">
          <a:xfrm>
            <a:off x="6709420" y="836712"/>
            <a:ext cx="1751012"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sp>
        <p:nvSpPr>
          <p:cNvPr id="35" name="Text Box 4"/>
          <p:cNvSpPr txBox="1">
            <a:spLocks noChangeArrowheads="1"/>
          </p:cNvSpPr>
          <p:nvPr/>
        </p:nvSpPr>
        <p:spPr bwMode="auto">
          <a:xfrm>
            <a:off x="6685037" y="2346473"/>
            <a:ext cx="1738312" cy="2400300"/>
          </a:xfrm>
          <a:prstGeom prst="rect">
            <a:avLst/>
          </a:prstGeom>
          <a:noFill/>
          <a:ln w="9525" algn="ctr">
            <a:noFill/>
            <a:miter lim="800000"/>
            <a:headEnd/>
            <a:tailEnd/>
          </a:ln>
        </p:spPr>
        <p:txBody>
          <a:bodyPr/>
          <a:lstStyle/>
          <a:p>
            <a:pPr marL="114300" indent="-114300" eaLnBrk="0" hangingPunct="0"/>
            <a:endParaRPr lang="en-US" altLang="zh-TW" sz="1200" dirty="0">
              <a:latin typeface="Helvetica" pitchFamily="34" charset="0"/>
              <a:ea typeface="新細明體" charset="-120"/>
            </a:endParaRPr>
          </a:p>
          <a:p>
            <a:pPr marL="114300" indent="-114300" eaLnBrk="0" hangingPunct="0"/>
            <a:endParaRPr lang="en-US" altLang="zh-TW" sz="1200" dirty="0">
              <a:latin typeface="Helvetica" pitchFamily="34" charset="0"/>
              <a:ea typeface="新細明體" charset="-120"/>
            </a:endParaRPr>
          </a:p>
        </p:txBody>
      </p:sp>
      <p:sp>
        <p:nvSpPr>
          <p:cNvPr id="38" name="Rectangle 7"/>
          <p:cNvSpPr>
            <a:spLocks noChangeArrowheads="1"/>
          </p:cNvSpPr>
          <p:nvPr/>
        </p:nvSpPr>
        <p:spPr bwMode="auto">
          <a:xfrm>
            <a:off x="4873178" y="836712"/>
            <a:ext cx="1776412" cy="5056188"/>
          </a:xfrm>
          <a:prstGeom prst="rect">
            <a:avLst/>
          </a:prstGeom>
          <a:solidFill>
            <a:srgbClr val="0000FF">
              <a:alpha val="32156"/>
            </a:srgbClr>
          </a:solidFill>
          <a:ln w="9525" algn="ctr">
            <a:noFill/>
            <a:prstDash val="dashDot"/>
            <a:miter lim="800000"/>
            <a:headEnd/>
            <a:tailEnd/>
          </a:ln>
        </p:spPr>
        <p:txBody>
          <a:bodyPr anchor="ctr">
            <a:spAutoFit/>
          </a:bodyPr>
          <a:lstStyle/>
          <a:p>
            <a:endParaRPr lang="zh-TW" altLang="zh-TW"/>
          </a:p>
        </p:txBody>
      </p:sp>
      <p:grpSp>
        <p:nvGrpSpPr>
          <p:cNvPr id="47" name="Group 10"/>
          <p:cNvGrpSpPr>
            <a:grpSpLocks/>
          </p:cNvGrpSpPr>
          <p:nvPr/>
        </p:nvGrpSpPr>
        <p:grpSpPr bwMode="auto">
          <a:xfrm>
            <a:off x="5148064" y="908720"/>
            <a:ext cx="1220788" cy="914400"/>
            <a:chOff x="2255" y="576"/>
            <a:chExt cx="769" cy="576"/>
          </a:xfrm>
        </p:grpSpPr>
        <p:sp>
          <p:nvSpPr>
            <p:cNvPr id="48" name="Rectangle 11"/>
            <p:cNvSpPr>
              <a:spLocks noChangeArrowheads="1"/>
            </p:cNvSpPr>
            <p:nvPr/>
          </p:nvSpPr>
          <p:spPr bwMode="auto">
            <a:xfrm>
              <a:off x="2255" y="576"/>
              <a:ext cx="768" cy="336"/>
            </a:xfrm>
            <a:prstGeom prst="rect">
              <a:avLst/>
            </a:prstGeom>
            <a:solidFill>
              <a:srgbClr val="6600FF"/>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6600FF"/>
              </a:extrusionClr>
            </a:sp3d>
          </p:spPr>
          <p:txBody>
            <a:bodyPr wrap="none" anchor="ctr">
              <a:flatTx/>
            </a:bodyPr>
            <a:lstStyle/>
            <a:p>
              <a:pPr algn="ctr" eaLnBrk="0" hangingPunct="0">
                <a:lnSpc>
                  <a:spcPct val="90000"/>
                </a:lnSpc>
                <a:defRPr/>
              </a:pPr>
              <a:r>
                <a:rPr lang="en-US" sz="1600" b="1" dirty="0" smtClean="0">
                  <a:solidFill>
                    <a:schemeClr val="bg1"/>
                  </a:solidFill>
                  <a:effectLst>
                    <a:outerShdw blurRad="38100" dist="38100" dir="2700000" algn="tl">
                      <a:srgbClr val="000000"/>
                    </a:outerShdw>
                  </a:effectLst>
                  <a:latin typeface="Helvetica" pitchFamily="34" charset="0"/>
                  <a:cs typeface="+mn-cs"/>
                </a:rPr>
                <a:t>bq77904</a:t>
              </a:r>
              <a:endParaRPr lang="en-US" sz="1600" b="1" dirty="0">
                <a:solidFill>
                  <a:schemeClr val="bg1"/>
                </a:solidFill>
                <a:effectLst>
                  <a:outerShdw blurRad="38100" dist="38100" dir="2700000" algn="tl">
                    <a:srgbClr val="000000"/>
                  </a:outerShdw>
                </a:effectLst>
                <a:latin typeface="Helvetica" pitchFamily="34" charset="0"/>
                <a:cs typeface="+mn-cs"/>
              </a:endParaRPr>
            </a:p>
            <a:p>
              <a:pPr algn="ctr" eaLnBrk="0" hangingPunct="0">
                <a:lnSpc>
                  <a:spcPct val="90000"/>
                </a:lnSpc>
                <a:defRPr/>
              </a:pPr>
              <a:r>
                <a:rPr lang="en-US" sz="1400" b="1" dirty="0">
                  <a:solidFill>
                    <a:schemeClr val="bg1"/>
                  </a:solidFill>
                  <a:effectLst>
                    <a:outerShdw blurRad="38100" dist="38100" dir="2700000" algn="tl">
                      <a:srgbClr val="000000"/>
                    </a:outerShdw>
                  </a:effectLst>
                  <a:latin typeface="Helvetica" pitchFamily="34" charset="0"/>
                  <a:cs typeface="+mn-cs"/>
                </a:rPr>
                <a:t>Protector</a:t>
              </a:r>
            </a:p>
          </p:txBody>
        </p:sp>
        <p:sp>
          <p:nvSpPr>
            <p:cNvPr id="49" name="Rectangle 12"/>
            <p:cNvSpPr>
              <a:spLocks noChangeArrowheads="1"/>
            </p:cNvSpPr>
            <p:nvPr/>
          </p:nvSpPr>
          <p:spPr bwMode="auto">
            <a:xfrm>
              <a:off x="2255"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sp>
          <p:nvSpPr>
            <p:cNvPr id="50" name="Rectangle 13"/>
            <p:cNvSpPr>
              <a:spLocks noChangeArrowheads="1"/>
            </p:cNvSpPr>
            <p:nvPr/>
          </p:nvSpPr>
          <p:spPr bwMode="auto">
            <a:xfrm>
              <a:off x="225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grpSp>
        <p:nvGrpSpPr>
          <p:cNvPr id="53" name="Group 10"/>
          <p:cNvGrpSpPr>
            <a:grpSpLocks/>
          </p:cNvGrpSpPr>
          <p:nvPr/>
        </p:nvGrpSpPr>
        <p:grpSpPr bwMode="auto">
          <a:xfrm>
            <a:off x="7020272" y="908720"/>
            <a:ext cx="1220788" cy="914400"/>
            <a:chOff x="2255" y="576"/>
            <a:chExt cx="769" cy="576"/>
          </a:xfrm>
        </p:grpSpPr>
        <p:sp>
          <p:nvSpPr>
            <p:cNvPr id="54" name="Rectangle 11"/>
            <p:cNvSpPr>
              <a:spLocks noChangeArrowheads="1"/>
            </p:cNvSpPr>
            <p:nvPr/>
          </p:nvSpPr>
          <p:spPr bwMode="auto">
            <a:xfrm>
              <a:off x="2255" y="576"/>
              <a:ext cx="768" cy="336"/>
            </a:xfrm>
            <a:prstGeom prst="rect">
              <a:avLst/>
            </a:prstGeom>
            <a:solidFill>
              <a:srgbClr val="6600FF"/>
            </a:solidFill>
            <a:ln w="9525" algn="ctr">
              <a:miter lim="800000"/>
              <a:headEnd/>
              <a:tailEnd/>
            </a:ln>
            <a:effectLst/>
            <a:scene3d>
              <a:camera prst="legacyObliqueBottomLeft"/>
              <a:lightRig rig="legacyFlat3" dir="t"/>
            </a:scene3d>
            <a:sp3d extrusionH="430200" prstMaterial="legacyMatte">
              <a:bevelT w="13500" h="13500" prst="angle"/>
              <a:bevelB w="13500" h="13500" prst="angle"/>
              <a:extrusionClr>
                <a:srgbClr val="6600FF"/>
              </a:extrusionClr>
            </a:sp3d>
          </p:spPr>
          <p:txBody>
            <a:bodyPr wrap="none" anchor="ctr">
              <a:flatTx/>
            </a:bodyPr>
            <a:lstStyle/>
            <a:p>
              <a:pPr algn="ctr" eaLnBrk="0" hangingPunct="0">
                <a:lnSpc>
                  <a:spcPct val="90000"/>
                </a:lnSpc>
                <a:defRPr/>
              </a:pPr>
              <a:r>
                <a:rPr lang="en-US" sz="1600" b="1" dirty="0" smtClean="0">
                  <a:solidFill>
                    <a:schemeClr val="bg1"/>
                  </a:solidFill>
                  <a:effectLst>
                    <a:outerShdw blurRad="38100" dist="38100" dir="2700000" algn="tl">
                      <a:srgbClr val="000000"/>
                    </a:outerShdw>
                  </a:effectLst>
                  <a:latin typeface="Helvetica" pitchFamily="34" charset="0"/>
                  <a:cs typeface="+mn-cs"/>
                </a:rPr>
                <a:t>bq77905</a:t>
              </a:r>
              <a:endParaRPr lang="en-US" sz="1600" b="1" dirty="0">
                <a:solidFill>
                  <a:schemeClr val="bg1"/>
                </a:solidFill>
                <a:effectLst>
                  <a:outerShdw blurRad="38100" dist="38100" dir="2700000" algn="tl">
                    <a:srgbClr val="000000"/>
                  </a:outerShdw>
                </a:effectLst>
                <a:latin typeface="Helvetica" pitchFamily="34" charset="0"/>
                <a:cs typeface="+mn-cs"/>
              </a:endParaRPr>
            </a:p>
            <a:p>
              <a:pPr algn="ctr" eaLnBrk="0" hangingPunct="0">
                <a:lnSpc>
                  <a:spcPct val="90000"/>
                </a:lnSpc>
                <a:defRPr/>
              </a:pPr>
              <a:r>
                <a:rPr lang="en-US" sz="1400" b="1" dirty="0">
                  <a:solidFill>
                    <a:schemeClr val="bg1"/>
                  </a:solidFill>
                  <a:effectLst>
                    <a:outerShdw blurRad="38100" dist="38100" dir="2700000" algn="tl">
                      <a:srgbClr val="000000"/>
                    </a:outerShdw>
                  </a:effectLst>
                  <a:latin typeface="Helvetica" pitchFamily="34" charset="0"/>
                  <a:cs typeface="+mn-cs"/>
                </a:rPr>
                <a:t>Protector</a:t>
              </a:r>
            </a:p>
          </p:txBody>
        </p:sp>
        <p:sp>
          <p:nvSpPr>
            <p:cNvPr id="55" name="Rectangle 12"/>
            <p:cNvSpPr>
              <a:spLocks noChangeArrowheads="1"/>
            </p:cNvSpPr>
            <p:nvPr/>
          </p:nvSpPr>
          <p:spPr bwMode="auto">
            <a:xfrm>
              <a:off x="2255" y="864"/>
              <a:ext cx="769" cy="144"/>
            </a:xfrm>
            <a:prstGeom prst="rect">
              <a:avLst/>
            </a:prstGeom>
            <a:solidFill>
              <a:srgbClr val="000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0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FET Drive</a:t>
              </a:r>
            </a:p>
          </p:txBody>
        </p:sp>
        <p:sp>
          <p:nvSpPr>
            <p:cNvPr id="56" name="Rectangle 13"/>
            <p:cNvSpPr>
              <a:spLocks noChangeArrowheads="1"/>
            </p:cNvSpPr>
            <p:nvPr/>
          </p:nvSpPr>
          <p:spPr bwMode="auto">
            <a:xfrm>
              <a:off x="2255" y="1008"/>
              <a:ext cx="769" cy="144"/>
            </a:xfrm>
            <a:prstGeom prst="rect">
              <a:avLst/>
            </a:prstGeom>
            <a:solidFill>
              <a:srgbClr val="008080"/>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008080"/>
              </a:extrusionClr>
            </a:sp3d>
          </p:spPr>
          <p:txBody>
            <a:bodyPr wrap="none" anchor="ctr">
              <a:flatTx/>
            </a:bodyPr>
            <a:lstStyle/>
            <a:p>
              <a:pPr algn="ctr" eaLnBrk="0" hangingPunct="0"/>
              <a:r>
                <a:rPr lang="en-US" altLang="zh-TW" sz="1400" b="1">
                  <a:solidFill>
                    <a:schemeClr val="bg1"/>
                  </a:solidFill>
                  <a:latin typeface="Helvetica" pitchFamily="34" charset="0"/>
                  <a:ea typeface="新細明體" charset="-120"/>
                </a:rPr>
                <a:t>Balancing</a:t>
              </a:r>
            </a:p>
          </p:txBody>
        </p:sp>
      </p:grpSp>
      <p:sp>
        <p:nvSpPr>
          <p:cNvPr id="57" name="Text Box 6"/>
          <p:cNvSpPr txBox="1">
            <a:spLocks noChangeArrowheads="1"/>
          </p:cNvSpPr>
          <p:nvPr/>
        </p:nvSpPr>
        <p:spPr bwMode="auto">
          <a:xfrm>
            <a:off x="4859436" y="2032620"/>
            <a:ext cx="1728788" cy="24765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主动保护</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可单机工作</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3</a:t>
            </a:r>
            <a:r>
              <a:rPr lang="en-US" altLang="zh-TW" sz="1200" dirty="0" smtClean="0">
                <a:solidFill>
                  <a:srgbClr val="FF0000"/>
                </a:solidFill>
                <a:latin typeface="微軟正黑體" pitchFamily="34" charset="-120"/>
                <a:ea typeface="微軟正黑體" pitchFamily="34" charset="-120"/>
              </a:rPr>
              <a:t> </a:t>
            </a:r>
            <a:r>
              <a:rPr lang="en-US" altLang="zh-TW" sz="1200" dirty="0">
                <a:solidFill>
                  <a:srgbClr val="FF0000"/>
                </a:solidFill>
                <a:latin typeface="微軟正黑體" pitchFamily="34" charset="-120"/>
                <a:ea typeface="微軟正黑體" pitchFamily="34" charset="-120"/>
              </a:rPr>
              <a:t>to </a:t>
            </a:r>
            <a:r>
              <a:rPr lang="en-US" altLang="zh-TW" sz="1200" dirty="0" smtClean="0">
                <a:solidFill>
                  <a:srgbClr val="FF0000"/>
                </a:solidFill>
                <a:latin typeface="微軟正黑體" pitchFamily="34" charset="-120"/>
                <a:ea typeface="微軟正黑體" pitchFamily="34" charset="-120"/>
              </a:rPr>
              <a:t>4 </a:t>
            </a:r>
            <a:r>
              <a:rPr lang="en-US" altLang="zh-TW" sz="1200" dirty="0">
                <a:solidFill>
                  <a:srgbClr val="FF0000"/>
                </a:solidFill>
                <a:latin typeface="微軟正黑體" pitchFamily="34" charset="-120"/>
                <a:ea typeface="微軟正黑體" pitchFamily="34" charset="-120"/>
              </a:rPr>
              <a:t>Li </a:t>
            </a:r>
            <a:r>
              <a:rPr lang="en-US" altLang="zh-TW" sz="120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全功能保护设置</a:t>
            </a:r>
            <a:r>
              <a:rPr lang="en-US" altLang="zh-TW" sz="1200" dirty="0" smtClean="0">
                <a:solidFill>
                  <a:srgbClr val="FF0000"/>
                </a:solidFill>
                <a:latin typeface="微軟正黑體" pitchFamily="34" charset="-120"/>
                <a:ea typeface="微軟正黑體" pitchFamily="34" charset="-120"/>
              </a:rPr>
              <a:t>:</a:t>
            </a:r>
            <a:r>
              <a:rPr lang="zh-TW" altLang="en-US"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OV, UV, OT-D,OT-C,UT, SC, OCD-1, OCD-2</a:t>
            </a: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内置保护功能延迟时间的编程</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支持电池预充电功能</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TW" altLang="en-US" sz="1200" dirty="0" smtClean="0">
                <a:solidFill>
                  <a:srgbClr val="FF0000"/>
                </a:solidFill>
                <a:latin typeface="微軟正黑體" pitchFamily="34" charset="-120"/>
                <a:ea typeface="微軟正黑體" pitchFamily="34" charset="-120"/>
              </a:rPr>
              <a:t>可支持</a:t>
            </a:r>
            <a:r>
              <a:rPr lang="en-US" altLang="zh-TW" sz="1200" dirty="0" smtClean="0">
                <a:solidFill>
                  <a:srgbClr val="FF0000"/>
                </a:solidFill>
                <a:latin typeface="微軟正黑體" pitchFamily="34" charset="-120"/>
                <a:ea typeface="微軟正黑體" pitchFamily="34" charset="-120"/>
              </a:rPr>
              <a:t>IC</a:t>
            </a:r>
            <a:r>
              <a:rPr lang="zh-TW" altLang="en-US" sz="1200" dirty="0" smtClean="0">
                <a:solidFill>
                  <a:srgbClr val="FF0000"/>
                </a:solidFill>
                <a:latin typeface="微軟正黑體" pitchFamily="34" charset="-120"/>
                <a:ea typeface="微軟正黑體" pitchFamily="34" charset="-120"/>
              </a:rPr>
              <a:t>堆栈设计</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TW" sz="1200" dirty="0" smtClean="0">
                <a:solidFill>
                  <a:srgbClr val="FF0000"/>
                </a:solidFill>
                <a:latin typeface="微軟正黑體" pitchFamily="34" charset="-120"/>
                <a:ea typeface="微軟正黑體" pitchFamily="34" charset="-120"/>
              </a:rPr>
              <a:t>Low-</a:t>
            </a:r>
            <a:r>
              <a:rPr lang="en-US" altLang="zh-TW" sz="1200" dirty="0" err="1" smtClean="0">
                <a:solidFill>
                  <a:srgbClr val="FF0000"/>
                </a:solidFill>
                <a:latin typeface="微軟正黑體" pitchFamily="34" charset="-120"/>
                <a:ea typeface="微軟正黑體" pitchFamily="34" charset="-120"/>
              </a:rPr>
              <a:t>Sde</a:t>
            </a:r>
            <a:r>
              <a:rPr lang="en-US" altLang="zh-TW"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NFET</a:t>
            </a:r>
            <a:r>
              <a:rPr lang="en-US" altLang="zh-TW" sz="1200" dirty="0" smtClean="0">
                <a:latin typeface="微軟正黑體" pitchFamily="34" charset="-120"/>
                <a:ea typeface="微軟正黑體" pitchFamily="34" charset="-120"/>
              </a:rPr>
              <a:t> </a:t>
            </a:r>
            <a:r>
              <a:rPr lang="zh-TW" altLang="en-US" sz="1200" dirty="0" smtClean="0">
                <a:latin typeface="微軟正黑體" pitchFamily="34" charset="-120"/>
                <a:ea typeface="微軟正黑體" pitchFamily="34" charset="-120"/>
              </a:rPr>
              <a:t>驱动</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超低工作耗电流</a:t>
            </a:r>
            <a:r>
              <a:rPr lang="en-US" altLang="zh-TW" sz="1200" dirty="0" smtClean="0">
                <a:solidFill>
                  <a:srgbClr val="FF0000"/>
                </a:solidFill>
                <a:latin typeface="微軟正黑體" pitchFamily="34" charset="-120"/>
                <a:ea typeface="微軟正黑體" pitchFamily="34" charset="-120"/>
              </a:rPr>
              <a:t>:</a:t>
            </a:r>
            <a:r>
              <a:rPr lang="zh-TW" altLang="en-US"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5uA</a:t>
            </a:r>
          </a:p>
          <a:p>
            <a:pPr marL="114300" indent="-114300" eaLnBrk="0" hangingPunct="0">
              <a:buFontTx/>
              <a:buChar char="•"/>
            </a:pPr>
            <a:r>
              <a:rPr lang="zh-TW" altLang="en-US" sz="1200" dirty="0" smtClean="0">
                <a:solidFill>
                  <a:srgbClr val="FF0000"/>
                </a:solidFill>
                <a:latin typeface="微軟正黑體" pitchFamily="34" charset="-120"/>
                <a:ea typeface="微軟正黑體" pitchFamily="34" charset="-120"/>
              </a:rPr>
              <a:t>关机电流</a:t>
            </a:r>
            <a:r>
              <a:rPr lang="en-US" altLang="zh-TW" sz="1200" dirty="0" smtClean="0">
                <a:solidFill>
                  <a:srgbClr val="FF0000"/>
                </a:solidFill>
                <a:latin typeface="微軟正黑體" pitchFamily="34" charset="-120"/>
                <a:ea typeface="微軟正黑體" pitchFamily="34" charset="-120"/>
              </a:rPr>
              <a:t>&lt;</a:t>
            </a:r>
            <a:r>
              <a:rPr lang="zh-TW" altLang="en-US"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1uA</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smtClean="0">
                <a:solidFill>
                  <a:srgbClr val="FF0000"/>
                </a:solidFill>
                <a:latin typeface="微軟正黑體" pitchFamily="34" charset="-120"/>
                <a:ea typeface="微軟正黑體" pitchFamily="34" charset="-120"/>
              </a:rPr>
              <a:t>16-pin </a:t>
            </a:r>
            <a:r>
              <a:rPr lang="en-US" altLang="zh-TW" sz="1200" dirty="0">
                <a:solidFill>
                  <a:srgbClr val="FF0000"/>
                </a:solidFill>
                <a:latin typeface="微軟正黑體" pitchFamily="34" charset="-120"/>
                <a:ea typeface="微軟正黑體" pitchFamily="34" charset="-120"/>
              </a:rPr>
              <a:t>SSOP</a:t>
            </a:r>
          </a:p>
        </p:txBody>
      </p:sp>
      <p:sp>
        <p:nvSpPr>
          <p:cNvPr id="59" name="Text Box 6"/>
          <p:cNvSpPr txBox="1">
            <a:spLocks noChangeArrowheads="1"/>
          </p:cNvSpPr>
          <p:nvPr/>
        </p:nvSpPr>
        <p:spPr bwMode="auto">
          <a:xfrm>
            <a:off x="6732240" y="2032620"/>
            <a:ext cx="1728788" cy="2476500"/>
          </a:xfrm>
          <a:prstGeom prst="rect">
            <a:avLst/>
          </a:prstGeom>
          <a:noFill/>
          <a:ln w="9525" algn="ctr">
            <a:noFill/>
            <a:miter lim="800000"/>
            <a:headEnd/>
            <a:tailEnd/>
          </a:ln>
        </p:spPr>
        <p:txBody>
          <a:bodyPr/>
          <a:lstStyle/>
          <a:p>
            <a:pPr marL="114300" indent="-114300" eaLnBrk="0" hangingPunct="0"/>
            <a:r>
              <a:rPr lang="zh-CN" altLang="en-US" sz="1200" b="1" dirty="0" smtClean="0">
                <a:latin typeface="微軟正黑體" pitchFamily="34" charset="-120"/>
                <a:ea typeface="微軟正黑體" pitchFamily="34" charset="-120"/>
              </a:rPr>
              <a:t>主动保护</a:t>
            </a:r>
            <a:endParaRPr lang="en-US" altLang="zh-TW" sz="1200" b="1" dirty="0">
              <a:latin typeface="微軟正黑體" pitchFamily="34" charset="-120"/>
              <a:ea typeface="微軟正黑體" pitchFamily="34" charset="-120"/>
            </a:endParaRPr>
          </a:p>
          <a:p>
            <a:pPr marL="114300" indent="-114300" eaLnBrk="0" hangingPunct="0">
              <a:buFontTx/>
              <a:buChar char="•"/>
            </a:pPr>
            <a:r>
              <a:rPr lang="zh-TW" altLang="en-US" sz="1200" u="sng" dirty="0" smtClean="0">
                <a:solidFill>
                  <a:srgbClr val="FF0000"/>
                </a:solidFill>
                <a:latin typeface="微軟正黑體" pitchFamily="34" charset="-120"/>
                <a:ea typeface="微軟正黑體" pitchFamily="34" charset="-120"/>
              </a:rPr>
              <a:t>可单机工作</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a:solidFill>
                  <a:srgbClr val="FF0000"/>
                </a:solidFill>
                <a:latin typeface="微軟正黑體" pitchFamily="34" charset="-120"/>
                <a:ea typeface="微軟正黑體" pitchFamily="34" charset="-120"/>
              </a:rPr>
              <a:t>3</a:t>
            </a:r>
            <a:r>
              <a:rPr lang="en-US" altLang="zh-TW" sz="1200" dirty="0" smtClean="0">
                <a:solidFill>
                  <a:srgbClr val="FF0000"/>
                </a:solidFill>
                <a:latin typeface="微軟正黑體" pitchFamily="34" charset="-120"/>
                <a:ea typeface="微軟正黑體" pitchFamily="34" charset="-120"/>
              </a:rPr>
              <a:t> </a:t>
            </a:r>
            <a:r>
              <a:rPr lang="en-US" altLang="zh-TW" sz="1200" dirty="0">
                <a:solidFill>
                  <a:srgbClr val="FF0000"/>
                </a:solidFill>
                <a:latin typeface="微軟正黑體" pitchFamily="34" charset="-120"/>
                <a:ea typeface="微軟正黑體" pitchFamily="34" charset="-120"/>
              </a:rPr>
              <a:t>to </a:t>
            </a:r>
            <a:r>
              <a:rPr lang="en-US" altLang="zh-TW" sz="1200" dirty="0" smtClean="0">
                <a:solidFill>
                  <a:srgbClr val="FF0000"/>
                </a:solidFill>
                <a:latin typeface="微軟正黑體" pitchFamily="34" charset="-120"/>
                <a:ea typeface="微軟正黑體" pitchFamily="34" charset="-120"/>
              </a:rPr>
              <a:t>5 </a:t>
            </a:r>
            <a:r>
              <a:rPr lang="en-US" altLang="zh-TW" sz="1200" dirty="0">
                <a:solidFill>
                  <a:srgbClr val="FF0000"/>
                </a:solidFill>
                <a:latin typeface="微軟正黑體" pitchFamily="34" charset="-120"/>
                <a:ea typeface="微軟正黑體" pitchFamily="34" charset="-120"/>
              </a:rPr>
              <a:t>Li </a:t>
            </a:r>
            <a:r>
              <a:rPr lang="en-US" altLang="zh-TW" sz="1200" dirty="0" smtClean="0">
                <a:solidFill>
                  <a:srgbClr val="FF0000"/>
                </a:solidFill>
                <a:latin typeface="微軟正黑體" pitchFamily="34" charset="-120"/>
                <a:ea typeface="微軟正黑體" pitchFamily="34" charset="-120"/>
              </a:rPr>
              <a:t>Cells</a:t>
            </a: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全功能保护设置</a:t>
            </a:r>
            <a:r>
              <a:rPr lang="en-US" altLang="zh-TW" sz="1200" dirty="0" smtClean="0">
                <a:solidFill>
                  <a:srgbClr val="FF0000"/>
                </a:solidFill>
                <a:latin typeface="微軟正黑體" pitchFamily="34" charset="-120"/>
                <a:ea typeface="微軟正黑體" pitchFamily="34" charset="-120"/>
              </a:rPr>
              <a:t>:</a:t>
            </a:r>
            <a:r>
              <a:rPr lang="zh-TW" altLang="en-US"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OV, UV, OT-D,OT-C,UT, SC, OCD-1, OCD-2</a:t>
            </a: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内置保护功能延迟时间的编程</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支持电池预充电功能</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TW" altLang="en-US" sz="1200" dirty="0" smtClean="0">
                <a:solidFill>
                  <a:srgbClr val="FF0000"/>
                </a:solidFill>
                <a:latin typeface="微軟正黑體" pitchFamily="34" charset="-120"/>
                <a:ea typeface="微軟正黑體" pitchFamily="34" charset="-120"/>
              </a:rPr>
              <a:t>可支持</a:t>
            </a:r>
            <a:r>
              <a:rPr lang="en-US" altLang="zh-TW" sz="1200" dirty="0" smtClean="0">
                <a:solidFill>
                  <a:srgbClr val="FF0000"/>
                </a:solidFill>
                <a:latin typeface="微軟正黑體" pitchFamily="34" charset="-120"/>
                <a:ea typeface="微軟正黑體" pitchFamily="34" charset="-120"/>
              </a:rPr>
              <a:t>IC</a:t>
            </a:r>
            <a:r>
              <a:rPr lang="zh-TW" altLang="en-US" sz="1200" dirty="0" smtClean="0">
                <a:solidFill>
                  <a:srgbClr val="FF0000"/>
                </a:solidFill>
                <a:latin typeface="微軟正黑體" pitchFamily="34" charset="-120"/>
                <a:ea typeface="微軟正黑體" pitchFamily="34" charset="-120"/>
              </a:rPr>
              <a:t>堆栈设计</a:t>
            </a:r>
            <a:endParaRPr lang="en-US" altLang="zh-TW" sz="1200" dirty="0" smtClean="0">
              <a:solidFill>
                <a:srgbClr val="FF0000"/>
              </a:solidFill>
              <a:latin typeface="微軟正黑體" pitchFamily="34" charset="-120"/>
              <a:ea typeface="微軟正黑體" pitchFamily="34" charset="-120"/>
            </a:endParaRPr>
          </a:p>
          <a:p>
            <a:pPr marL="114300" indent="-114300" eaLnBrk="0" hangingPunct="0">
              <a:buFontTx/>
              <a:buChar char="•"/>
            </a:pPr>
            <a:r>
              <a:rPr lang="zh-CN" altLang="en-US" sz="1200" u="sng" dirty="0" smtClean="0">
                <a:latin typeface="微軟正黑體" pitchFamily="34" charset="-120"/>
                <a:ea typeface="微軟正黑體" pitchFamily="34" charset="-120"/>
              </a:rPr>
              <a:t>包含磷酸铁锂电池</a:t>
            </a:r>
            <a:endParaRPr lang="en-US" altLang="zh-TW" sz="1200" dirty="0">
              <a:latin typeface="微軟正黑體" pitchFamily="34" charset="-120"/>
              <a:ea typeface="微軟正黑體" pitchFamily="34" charset="-120"/>
            </a:endParaRPr>
          </a:p>
          <a:p>
            <a:pPr marL="114300" indent="-114300" eaLnBrk="0" hangingPunct="0">
              <a:buFontTx/>
              <a:buChar char="•"/>
            </a:pPr>
            <a:r>
              <a:rPr lang="en-US" altLang="zh-TW" sz="1200" dirty="0" smtClean="0">
                <a:solidFill>
                  <a:srgbClr val="FF0000"/>
                </a:solidFill>
                <a:latin typeface="微軟正黑體" pitchFamily="34" charset="-120"/>
                <a:ea typeface="微軟正黑體" pitchFamily="34" charset="-120"/>
              </a:rPr>
              <a:t>Low-</a:t>
            </a:r>
            <a:r>
              <a:rPr lang="en-US" altLang="zh-TW" sz="1200" dirty="0" err="1" smtClean="0">
                <a:solidFill>
                  <a:srgbClr val="FF0000"/>
                </a:solidFill>
                <a:latin typeface="微軟正黑體" pitchFamily="34" charset="-120"/>
                <a:ea typeface="微軟正黑體" pitchFamily="34" charset="-120"/>
              </a:rPr>
              <a:t>Sde</a:t>
            </a:r>
            <a:r>
              <a:rPr lang="en-US" altLang="zh-TW"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NFET</a:t>
            </a:r>
            <a:r>
              <a:rPr lang="en-US" altLang="zh-TW" sz="1200" dirty="0" smtClean="0">
                <a:latin typeface="微軟正黑體" pitchFamily="34" charset="-120"/>
                <a:ea typeface="微軟正黑體" pitchFamily="34" charset="-120"/>
              </a:rPr>
              <a:t> </a:t>
            </a:r>
            <a:r>
              <a:rPr lang="zh-TW" altLang="en-US" sz="1200" dirty="0" smtClean="0">
                <a:latin typeface="微軟正黑體" pitchFamily="34" charset="-120"/>
                <a:ea typeface="微軟正黑體" pitchFamily="34" charset="-120"/>
              </a:rPr>
              <a:t>驱动</a:t>
            </a:r>
            <a:endParaRPr lang="en-US" altLang="zh-TW" sz="1200" dirty="0" smtClean="0">
              <a:latin typeface="微軟正黑體" pitchFamily="34" charset="-120"/>
              <a:ea typeface="微軟正黑體" pitchFamily="34" charset="-120"/>
            </a:endParaRPr>
          </a:p>
          <a:p>
            <a:pPr marL="114300" indent="-114300" eaLnBrk="0" hangingPunct="0">
              <a:buFontTx/>
              <a:buChar char="•"/>
            </a:pPr>
            <a:r>
              <a:rPr lang="zh-CN" altLang="en-US" sz="1200" dirty="0" smtClean="0">
                <a:solidFill>
                  <a:srgbClr val="FF0000"/>
                </a:solidFill>
                <a:latin typeface="微軟正黑體" pitchFamily="34" charset="-120"/>
                <a:ea typeface="微軟正黑體" pitchFamily="34" charset="-120"/>
              </a:rPr>
              <a:t>超低工作耗电流</a:t>
            </a:r>
            <a:r>
              <a:rPr lang="en-US" altLang="zh-TW" sz="1200" dirty="0" smtClean="0">
                <a:solidFill>
                  <a:srgbClr val="FF0000"/>
                </a:solidFill>
                <a:latin typeface="微軟正黑體" pitchFamily="34" charset="-120"/>
                <a:ea typeface="微軟正黑體" pitchFamily="34" charset="-120"/>
              </a:rPr>
              <a:t>:</a:t>
            </a:r>
            <a:r>
              <a:rPr lang="zh-TW" altLang="en-US"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5uA</a:t>
            </a:r>
          </a:p>
          <a:p>
            <a:pPr marL="114300" indent="-114300" eaLnBrk="0" hangingPunct="0">
              <a:buFontTx/>
              <a:buChar char="•"/>
            </a:pPr>
            <a:r>
              <a:rPr lang="zh-TW" altLang="en-US" sz="1200" dirty="0" smtClean="0">
                <a:solidFill>
                  <a:srgbClr val="FF0000"/>
                </a:solidFill>
                <a:latin typeface="微軟正黑體" pitchFamily="34" charset="-120"/>
                <a:ea typeface="微軟正黑體" pitchFamily="34" charset="-120"/>
              </a:rPr>
              <a:t>关机电流</a:t>
            </a:r>
            <a:r>
              <a:rPr lang="en-US" altLang="zh-TW" sz="1200" dirty="0" smtClean="0">
                <a:solidFill>
                  <a:srgbClr val="FF0000"/>
                </a:solidFill>
                <a:latin typeface="微軟正黑體" pitchFamily="34" charset="-120"/>
                <a:ea typeface="微軟正黑體" pitchFamily="34" charset="-120"/>
              </a:rPr>
              <a:t>&lt;</a:t>
            </a:r>
            <a:r>
              <a:rPr lang="zh-TW" altLang="en-US" sz="1200" dirty="0" smtClean="0">
                <a:solidFill>
                  <a:srgbClr val="FF0000"/>
                </a:solidFill>
                <a:latin typeface="微軟正黑體" pitchFamily="34" charset="-120"/>
                <a:ea typeface="微軟正黑體" pitchFamily="34" charset="-120"/>
              </a:rPr>
              <a:t> </a:t>
            </a:r>
            <a:r>
              <a:rPr lang="en-US" altLang="zh-TW" sz="1200" dirty="0" smtClean="0">
                <a:solidFill>
                  <a:srgbClr val="FF0000"/>
                </a:solidFill>
                <a:latin typeface="微軟正黑體" pitchFamily="34" charset="-120"/>
                <a:ea typeface="微軟正黑體" pitchFamily="34" charset="-120"/>
              </a:rPr>
              <a:t>1uA</a:t>
            </a:r>
            <a:endParaRPr lang="en-US" altLang="zh-TW" sz="1200" dirty="0">
              <a:solidFill>
                <a:srgbClr val="FF0000"/>
              </a:solidFill>
              <a:latin typeface="微軟正黑體" pitchFamily="34" charset="-120"/>
              <a:ea typeface="微軟正黑體" pitchFamily="34" charset="-120"/>
            </a:endParaRPr>
          </a:p>
          <a:p>
            <a:pPr marL="114300" indent="-114300" eaLnBrk="0" hangingPunct="0">
              <a:buFontTx/>
              <a:buChar char="•"/>
            </a:pPr>
            <a:r>
              <a:rPr lang="en-US" altLang="zh-TW" sz="1200" dirty="0" smtClean="0">
                <a:solidFill>
                  <a:srgbClr val="FF0000"/>
                </a:solidFill>
                <a:latin typeface="微軟正黑體" pitchFamily="34" charset="-120"/>
                <a:ea typeface="微軟正黑體" pitchFamily="34" charset="-120"/>
              </a:rPr>
              <a:t>16-pin </a:t>
            </a:r>
            <a:r>
              <a:rPr lang="en-US" altLang="zh-TW" sz="1200" dirty="0">
                <a:solidFill>
                  <a:srgbClr val="FF0000"/>
                </a:solidFill>
                <a:latin typeface="微軟正黑體" pitchFamily="34" charset="-120"/>
                <a:ea typeface="微軟正黑體" pitchFamily="34" charset="-120"/>
              </a:rPr>
              <a:t>SSOP</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pPr algn="ctr"/>
            <a:r>
              <a:rPr lang="en-US" altLang="zh-TW" sz="3200" b="1" dirty="0" smtClean="0">
                <a:solidFill>
                  <a:srgbClr val="FF0000"/>
                </a:solidFill>
                <a:effectLst>
                  <a:outerShdw blurRad="38100" dist="38100" dir="2700000" algn="tl">
                    <a:srgbClr val="000000">
                      <a:alpha val="43137"/>
                    </a:srgbClr>
                  </a:outerShdw>
                </a:effectLst>
                <a:ea typeface="Verdana" pitchFamily="34" charset="0"/>
                <a:cs typeface="Verdana" pitchFamily="34" charset="0"/>
              </a:rPr>
              <a:t>bq76PL536A</a:t>
            </a:r>
          </a:p>
          <a:p>
            <a:pPr algn="ctr"/>
            <a:r>
              <a:rPr lang="en-US" altLang="zh-TW" sz="3200" b="1" dirty="0" smtClean="0">
                <a:solidFill>
                  <a:srgbClr val="FF0000"/>
                </a:solidFill>
                <a:effectLst>
                  <a:outerShdw blurRad="38100" dist="38100" dir="2700000" algn="tl">
                    <a:srgbClr val="000000">
                      <a:alpha val="43137"/>
                    </a:srgbClr>
                  </a:outerShdw>
                </a:effectLst>
                <a:ea typeface="Verdana" pitchFamily="34" charset="0"/>
                <a:cs typeface="Verdana" pitchFamily="34" charset="0"/>
              </a:rPr>
              <a:t>6-Channel Passive Balancing IC with</a:t>
            </a:r>
            <a:r>
              <a:rPr lang="zh-TW" altLang="en-US" sz="3200" b="1" dirty="0" smtClean="0">
                <a:solidFill>
                  <a:srgbClr val="FF0000"/>
                </a:solidFill>
                <a:effectLst>
                  <a:outerShdw blurRad="38100" dist="38100" dir="2700000" algn="tl">
                    <a:srgbClr val="000000">
                      <a:alpha val="43137"/>
                    </a:srgbClr>
                  </a:outerShdw>
                </a:effectLst>
                <a:cs typeface="Verdana" pitchFamily="34" charset="0"/>
              </a:rPr>
              <a:t> </a:t>
            </a:r>
            <a:r>
              <a:rPr lang="en-US" altLang="zh-TW" sz="3200" b="1" dirty="0" smtClean="0">
                <a:solidFill>
                  <a:srgbClr val="FF0000"/>
                </a:solidFill>
                <a:effectLst>
                  <a:outerShdw blurRad="38100" dist="38100" dir="2700000" algn="tl">
                    <a:srgbClr val="000000">
                      <a:alpha val="43137"/>
                    </a:srgbClr>
                  </a:outerShdw>
                </a:effectLst>
                <a:ea typeface="Verdana" pitchFamily="34" charset="0"/>
                <a:cs typeface="Verdana" pitchFamily="34" charset="0"/>
              </a:rPr>
              <a:t>Secondary Protection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384"/>
            <a:ext cx="8229600" cy="1143000"/>
          </a:xfrm>
        </p:spPr>
        <p:txBody>
          <a:bodyPr/>
          <a:lstStyle/>
          <a:p>
            <a:r>
              <a:rPr lang="en-US" altLang="zh-TW" sz="2800" dirty="0" smtClean="0">
                <a:solidFill>
                  <a:srgbClr val="6600FF"/>
                </a:solidFill>
                <a:effectLst>
                  <a:outerShdw blurRad="38100" dist="38100" dir="2700000" algn="tl">
                    <a:srgbClr val="000000">
                      <a:alpha val="43137"/>
                    </a:srgbClr>
                  </a:outerShdw>
                </a:effectLst>
              </a:rPr>
              <a:t>536A Key Features</a:t>
            </a:r>
            <a:endParaRPr lang="zh-TW" altLang="en-US" sz="2800" dirty="0">
              <a:solidFill>
                <a:srgbClr val="6600FF"/>
              </a:solidFill>
              <a:effectLst>
                <a:outerShdw blurRad="38100" dist="38100" dir="2700000" algn="tl">
                  <a:srgbClr val="000000">
                    <a:alpha val="43137"/>
                  </a:srgbClr>
                </a:outerShdw>
              </a:effectLst>
            </a:endParaRPr>
          </a:p>
        </p:txBody>
      </p:sp>
      <p:sp>
        <p:nvSpPr>
          <p:cNvPr id="5" name="內容版面配置區 4"/>
          <p:cNvSpPr>
            <a:spLocks noGrp="1"/>
          </p:cNvSpPr>
          <p:nvPr>
            <p:ph idx="1"/>
          </p:nvPr>
        </p:nvSpPr>
        <p:spPr>
          <a:xfrm>
            <a:off x="457200" y="980728"/>
            <a:ext cx="8229600" cy="5145435"/>
          </a:xfrm>
        </p:spPr>
        <p:txBody>
          <a:bodyPr/>
          <a:lstStyle/>
          <a:p>
            <a:r>
              <a:rPr lang="zh-TW" altLang="en-US" sz="1800" dirty="0" smtClean="0">
                <a:latin typeface="微軟正黑體" pitchFamily="34" charset="-120"/>
              </a:rPr>
              <a:t>高度集成的</a:t>
            </a:r>
            <a:endParaRPr lang="en-US" altLang="zh-TW" sz="1800" dirty="0" smtClean="0">
              <a:latin typeface="微軟正黑體" pitchFamily="34" charset="-120"/>
            </a:endParaRPr>
          </a:p>
          <a:p>
            <a:pPr lvl="1"/>
            <a:r>
              <a:rPr lang="zh-CN" altLang="en-US" sz="1600" dirty="0" smtClean="0">
                <a:latin typeface="微軟正黑體" pitchFamily="34" charset="-120"/>
              </a:rPr>
              <a:t>内置被动的平衡控制与可编程的安全计时器</a:t>
            </a:r>
            <a:endParaRPr lang="en-US" altLang="zh-CN" sz="1600" dirty="0" smtClean="0">
              <a:latin typeface="微軟正黑體" pitchFamily="34" charset="-120"/>
            </a:endParaRPr>
          </a:p>
          <a:p>
            <a:pPr lvl="1"/>
            <a:r>
              <a:rPr lang="zh-CN" altLang="en-US" sz="1600" dirty="0" smtClean="0">
                <a:latin typeface="微軟正黑體" pitchFamily="34" charset="-120"/>
              </a:rPr>
              <a:t>内置二级保护</a:t>
            </a:r>
            <a:endParaRPr lang="en-US" altLang="zh-CN" sz="1600" dirty="0" smtClean="0">
              <a:latin typeface="微軟正黑體" pitchFamily="34" charset="-120"/>
            </a:endParaRPr>
          </a:p>
          <a:p>
            <a:r>
              <a:rPr lang="fr-FR" altLang="zh-TW" sz="2000" dirty="0" smtClean="0">
                <a:latin typeface="微軟正黑體" pitchFamily="34" charset="-120"/>
              </a:rPr>
              <a:t> </a:t>
            </a:r>
            <a:r>
              <a:rPr lang="zh-TW" altLang="en-US" sz="1800" dirty="0" smtClean="0">
                <a:latin typeface="微軟正黑體" pitchFamily="34" charset="-120"/>
              </a:rPr>
              <a:t>支持 </a:t>
            </a:r>
            <a:r>
              <a:rPr lang="fr-FR" altLang="zh-TW" sz="1800" dirty="0" smtClean="0">
                <a:latin typeface="微軟正黑體" pitchFamily="34" charset="-120"/>
              </a:rPr>
              <a:t>3-6 cell</a:t>
            </a:r>
          </a:p>
          <a:p>
            <a:pPr lvl="1"/>
            <a:r>
              <a:rPr lang="zh-CN" altLang="en-US" sz="1600" dirty="0" smtClean="0">
                <a:latin typeface="微軟正黑體" pitchFamily="34" charset="-120"/>
              </a:rPr>
              <a:t>所有常见的化学物质</a:t>
            </a:r>
            <a:r>
              <a:rPr lang="en-US" altLang="zh-CN" sz="1600" dirty="0" smtClean="0">
                <a:latin typeface="微軟正黑體" pitchFamily="34" charset="-120"/>
              </a:rPr>
              <a:t>- Cobalt, Iron-Phosphate, NCA, NMC, </a:t>
            </a:r>
            <a:r>
              <a:rPr lang="en-US" altLang="zh-CN" sz="1600" dirty="0" err="1" smtClean="0">
                <a:latin typeface="微軟正黑體" pitchFamily="34" charset="-120"/>
              </a:rPr>
              <a:t>Titanates</a:t>
            </a:r>
            <a:r>
              <a:rPr lang="en-US" altLang="zh-CN" sz="1600" dirty="0" smtClean="0">
                <a:latin typeface="微軟正黑體" pitchFamily="34" charset="-120"/>
              </a:rPr>
              <a:t>, Blends</a:t>
            </a:r>
          </a:p>
          <a:p>
            <a:pPr lvl="1"/>
            <a:r>
              <a:rPr lang="zh-CN" altLang="en-US" sz="1600" dirty="0" smtClean="0">
                <a:latin typeface="微軟正黑體" pitchFamily="34" charset="-120"/>
              </a:rPr>
              <a:t>最大</a:t>
            </a:r>
            <a:r>
              <a:rPr lang="zh-TW" altLang="en-US" sz="1600" dirty="0" smtClean="0">
                <a:latin typeface="微軟正黑體" pitchFamily="34" charset="-120"/>
              </a:rPr>
              <a:t>可</a:t>
            </a:r>
            <a:r>
              <a:rPr lang="zh-CN" altLang="en-US" sz="1600" dirty="0" smtClean="0">
                <a:latin typeface="微軟正黑體" pitchFamily="34" charset="-120"/>
              </a:rPr>
              <a:t>堆叠</a:t>
            </a:r>
            <a:r>
              <a:rPr lang="zh-TW" altLang="en-US" sz="1600" dirty="0" smtClean="0">
                <a:latin typeface="微軟正黑體" pitchFamily="34" charset="-120"/>
              </a:rPr>
              <a:t>數量</a:t>
            </a:r>
            <a:r>
              <a:rPr lang="en-US" altLang="zh-CN" sz="1600" dirty="0" smtClean="0">
                <a:latin typeface="微軟正黑體" pitchFamily="34" charset="-120"/>
              </a:rPr>
              <a:t>=32</a:t>
            </a:r>
            <a:r>
              <a:rPr lang="zh-TW" altLang="en-US" sz="1600" dirty="0" smtClean="0">
                <a:latin typeface="微軟正黑體" pitchFamily="34" charset="-120"/>
              </a:rPr>
              <a:t>個</a:t>
            </a:r>
            <a:r>
              <a:rPr lang="en-US" altLang="zh-TW" sz="1600" dirty="0" smtClean="0">
                <a:latin typeface="微軟正黑體" pitchFamily="34" charset="-120"/>
              </a:rPr>
              <a:t>bq76pl536A</a:t>
            </a:r>
            <a:r>
              <a:rPr lang="zh-CN" altLang="en-US" sz="1600" dirty="0" smtClean="0">
                <a:latin typeface="微軟正黑體" pitchFamily="34" charset="-120"/>
              </a:rPr>
              <a:t>（</a:t>
            </a:r>
            <a:r>
              <a:rPr lang="en-US" altLang="zh-CN" sz="1600" dirty="0" smtClean="0">
                <a:latin typeface="微軟正黑體" pitchFamily="34" charset="-120"/>
              </a:rPr>
              <a:t>192</a:t>
            </a:r>
            <a:r>
              <a:rPr lang="zh-TW" altLang="en-US" sz="1600" dirty="0" smtClean="0">
                <a:latin typeface="微軟正黑體" pitchFamily="34" charset="-120"/>
              </a:rPr>
              <a:t> </a:t>
            </a:r>
            <a:r>
              <a:rPr lang="en-US" altLang="zh-TW" sz="1600" dirty="0" smtClean="0">
                <a:latin typeface="微軟正黑體" pitchFamily="34" charset="-120"/>
              </a:rPr>
              <a:t>cell</a:t>
            </a:r>
            <a:r>
              <a:rPr lang="zh-CN" altLang="en-US" sz="1600" dirty="0" smtClean="0">
                <a:latin typeface="微軟正黑體" pitchFamily="34" charset="-120"/>
              </a:rPr>
              <a:t>）</a:t>
            </a:r>
            <a:endParaRPr lang="en-US" altLang="zh-CN" sz="1600" dirty="0" smtClean="0">
              <a:latin typeface="微軟正黑體" pitchFamily="34" charset="-120"/>
            </a:endParaRPr>
          </a:p>
          <a:p>
            <a:r>
              <a:rPr lang="zh-TW" altLang="en-US" sz="1800" dirty="0" smtClean="0">
                <a:latin typeface="微軟正黑體" pitchFamily="34" charset="-120"/>
              </a:rPr>
              <a:t>实现 </a:t>
            </a:r>
            <a:r>
              <a:rPr lang="en-US" altLang="zh-TW" sz="1800" dirty="0" smtClean="0">
                <a:latin typeface="微軟正黑體" pitchFamily="34" charset="-120"/>
              </a:rPr>
              <a:t>ASIL</a:t>
            </a:r>
            <a:r>
              <a:rPr lang="zh-TW" altLang="en-US" sz="1800" dirty="0" smtClean="0">
                <a:latin typeface="微軟正黑體" pitchFamily="34" charset="-120"/>
              </a:rPr>
              <a:t> </a:t>
            </a:r>
            <a:r>
              <a:rPr lang="en-US" altLang="zh-TW" sz="1800" dirty="0" smtClean="0">
                <a:latin typeface="微軟正黑體" pitchFamily="34" charset="-120"/>
              </a:rPr>
              <a:t>D</a:t>
            </a:r>
            <a:r>
              <a:rPr lang="zh-TW" altLang="en-US" sz="1800" dirty="0" smtClean="0">
                <a:latin typeface="微軟正黑體" pitchFamily="34" charset="-120"/>
              </a:rPr>
              <a:t> 法規</a:t>
            </a:r>
            <a:endParaRPr lang="en-US" altLang="zh-TW" sz="1800" dirty="0" smtClean="0">
              <a:latin typeface="微軟正黑體" pitchFamily="34" charset="-120"/>
            </a:endParaRPr>
          </a:p>
          <a:p>
            <a:r>
              <a:rPr lang="zh-TW" altLang="en-US" sz="1800" dirty="0" smtClean="0">
                <a:latin typeface="微軟正黑體" pitchFamily="34" charset="-120"/>
              </a:rPr>
              <a:t>精度為</a:t>
            </a:r>
            <a:r>
              <a:rPr lang="en-US" altLang="zh-TW" sz="1800" dirty="0" smtClean="0">
                <a:latin typeface="微軟正黑體" pitchFamily="34" charset="-120"/>
              </a:rPr>
              <a:t>±1mV </a:t>
            </a:r>
          </a:p>
          <a:p>
            <a:pPr lvl="1"/>
            <a:r>
              <a:rPr lang="en-US" altLang="zh-CN" sz="1400" dirty="0" smtClean="0">
                <a:latin typeface="微軟正黑體" pitchFamily="34" charset="-120"/>
              </a:rPr>
              <a:t>14</a:t>
            </a:r>
            <a:r>
              <a:rPr lang="zh-CN" altLang="en-US" sz="1400" dirty="0" smtClean="0">
                <a:latin typeface="微軟正黑體" pitchFamily="34" charset="-120"/>
              </a:rPr>
              <a:t>位分辨率、</a:t>
            </a:r>
            <a:r>
              <a:rPr lang="en-US" altLang="zh-CN" sz="1400" dirty="0" smtClean="0">
                <a:latin typeface="微軟正黑體" pitchFamily="34" charset="-120"/>
              </a:rPr>
              <a:t>6μs</a:t>
            </a:r>
            <a:r>
              <a:rPr lang="zh-CN" altLang="en-US" sz="1400" dirty="0" smtClean="0">
                <a:latin typeface="微軟正黑體" pitchFamily="34" charset="-120"/>
              </a:rPr>
              <a:t>转换时间</a:t>
            </a:r>
            <a:endParaRPr lang="en-US" altLang="zh-CN" sz="1400" dirty="0" smtClean="0">
              <a:latin typeface="微軟正黑體" pitchFamily="34" charset="-120"/>
            </a:endParaRPr>
          </a:p>
          <a:p>
            <a:pPr lvl="1"/>
            <a:r>
              <a:rPr lang="zh-CN" altLang="en-US" sz="1400" dirty="0" smtClean="0">
                <a:latin typeface="微軟正黑體" pitchFamily="34" charset="-120"/>
              </a:rPr>
              <a:t> </a:t>
            </a:r>
            <a:r>
              <a:rPr lang="en-US" altLang="zh-CN" sz="1400" dirty="0" smtClean="0">
                <a:latin typeface="微軟正黑體" pitchFamily="34" charset="-120"/>
              </a:rPr>
              <a:t>9</a:t>
            </a:r>
            <a:r>
              <a:rPr lang="zh-CN" altLang="en-US" sz="1400" dirty="0" smtClean="0">
                <a:latin typeface="微軟正黑體" pitchFamily="34" charset="-120"/>
              </a:rPr>
              <a:t>个</a:t>
            </a:r>
            <a:r>
              <a:rPr lang="en-US" altLang="zh-CN" sz="1400" dirty="0" smtClean="0">
                <a:latin typeface="微軟正黑體" pitchFamily="34" charset="-120"/>
              </a:rPr>
              <a:t>ADC</a:t>
            </a:r>
            <a:r>
              <a:rPr lang="zh-CN" altLang="en-US" sz="1400" dirty="0" smtClean="0">
                <a:latin typeface="微軟正黑體" pitchFamily="34" charset="-120"/>
              </a:rPr>
              <a:t>输入：</a:t>
            </a:r>
            <a:r>
              <a:rPr lang="en-US" altLang="zh-CN" sz="1400" dirty="0" smtClean="0">
                <a:latin typeface="微軟正黑體" pitchFamily="34" charset="-120"/>
              </a:rPr>
              <a:t>6</a:t>
            </a:r>
            <a:r>
              <a:rPr lang="zh-CN" altLang="en-US" sz="1400" dirty="0" smtClean="0">
                <a:latin typeface="微軟正黑體" pitchFamily="34" charset="-120"/>
              </a:rPr>
              <a:t>个电池电压、</a:t>
            </a:r>
            <a:r>
              <a:rPr lang="en-US" altLang="zh-CN" sz="1400" dirty="0" smtClean="0">
                <a:latin typeface="微軟正黑體" pitchFamily="34" charset="-120"/>
              </a:rPr>
              <a:t>1</a:t>
            </a:r>
            <a:r>
              <a:rPr lang="zh-CN" altLang="en-US" sz="1400" dirty="0" smtClean="0">
                <a:latin typeface="微軟正黑體" pitchFamily="34" charset="-120"/>
              </a:rPr>
              <a:t>个六电池 “</a:t>
            </a:r>
            <a:r>
              <a:rPr lang="en-US" altLang="zh-TW" sz="1400" dirty="0" smtClean="0">
                <a:latin typeface="微軟正黑體" pitchFamily="34" charset="-120"/>
              </a:rPr>
              <a:t>Pack</a:t>
            </a:r>
            <a:r>
              <a:rPr lang="zh-CN" altLang="en-US" sz="1400" dirty="0" smtClean="0">
                <a:latin typeface="微軟正黑體" pitchFamily="34" charset="-120"/>
              </a:rPr>
              <a:t>”电压</a:t>
            </a:r>
            <a:r>
              <a:rPr lang="en-US" altLang="zh-TW" sz="1400" dirty="0" smtClean="0">
                <a:latin typeface="微軟正黑體" pitchFamily="34" charset="-120"/>
              </a:rPr>
              <a:t>(</a:t>
            </a:r>
            <a:r>
              <a:rPr lang="en-US" altLang="zh-CN" sz="1400" dirty="0" smtClean="0">
                <a:latin typeface="微軟正黑體" pitchFamily="34" charset="-120"/>
              </a:rPr>
              <a:t>1</a:t>
            </a:r>
            <a:r>
              <a:rPr lang="zh-CN" altLang="en-US" sz="1400" dirty="0" smtClean="0">
                <a:latin typeface="微軟正黑體" pitchFamily="34" charset="-120"/>
              </a:rPr>
              <a:t>个含六个电芯的</a:t>
            </a:r>
            <a:r>
              <a:rPr lang="en-US" altLang="zh-CN" sz="1400" dirty="0" smtClean="0">
                <a:latin typeface="微軟正黑體" pitchFamily="34" charset="-120"/>
              </a:rPr>
              <a:t>Pack</a:t>
            </a:r>
            <a:r>
              <a:rPr lang="zh-CN" altLang="en-US" sz="1400" dirty="0" smtClean="0">
                <a:latin typeface="微軟正黑體" pitchFamily="34" charset="-120"/>
              </a:rPr>
              <a:t>模块电压</a:t>
            </a:r>
            <a:r>
              <a:rPr lang="en-US" altLang="zh-TW" sz="1400" dirty="0" smtClean="0">
                <a:latin typeface="微軟正黑體" pitchFamily="34" charset="-120"/>
              </a:rPr>
              <a:t>)</a:t>
            </a:r>
            <a:r>
              <a:rPr lang="zh-CN" altLang="en-US" sz="1400" dirty="0" smtClean="0">
                <a:latin typeface="微軟正黑體" pitchFamily="34" charset="-120"/>
              </a:rPr>
              <a:t>、</a:t>
            </a:r>
            <a:r>
              <a:rPr lang="en-US" altLang="zh-CN" sz="1400" dirty="0" smtClean="0">
                <a:latin typeface="微軟正黑體" pitchFamily="34" charset="-120"/>
              </a:rPr>
              <a:t>2</a:t>
            </a:r>
            <a:r>
              <a:rPr lang="zh-CN" altLang="en-US" sz="1400" dirty="0" smtClean="0">
                <a:latin typeface="微軟正黑體" pitchFamily="34" charset="-120"/>
              </a:rPr>
              <a:t>个温度、</a:t>
            </a:r>
            <a:r>
              <a:rPr lang="en-US" altLang="zh-CN" sz="1400" dirty="0" smtClean="0">
                <a:latin typeface="微軟正黑體" pitchFamily="34" charset="-120"/>
              </a:rPr>
              <a:t>1</a:t>
            </a:r>
            <a:r>
              <a:rPr lang="zh-CN" altLang="en-US" sz="1400" dirty="0" smtClean="0">
                <a:latin typeface="微軟正黑體" pitchFamily="34" charset="-120"/>
              </a:rPr>
              <a:t>个通用输入</a:t>
            </a:r>
            <a:endParaRPr lang="en-US" altLang="zh-CN" sz="1400" dirty="0" smtClean="0">
              <a:latin typeface="微軟正黑體" pitchFamily="34" charset="-120"/>
            </a:endParaRPr>
          </a:p>
          <a:p>
            <a:pPr lvl="1"/>
            <a:r>
              <a:rPr lang="zh-CN" altLang="en-US" sz="1400" dirty="0" smtClean="0">
                <a:latin typeface="微軟正黑體" pitchFamily="34" charset="-120"/>
              </a:rPr>
              <a:t>用于实现测量同步化的专用引脚</a:t>
            </a:r>
            <a:endParaRPr lang="en-US" altLang="zh-CN" sz="1400" dirty="0" smtClean="0">
              <a:latin typeface="微軟正黑體" pitchFamily="34" charset="-120"/>
            </a:endParaRPr>
          </a:p>
          <a:p>
            <a:r>
              <a:rPr lang="en-US" altLang="zh-CN" sz="1800" dirty="0" smtClean="0">
                <a:latin typeface="微軟正黑體" pitchFamily="34" charset="-120"/>
              </a:rPr>
              <a:t>1M b/s  </a:t>
            </a:r>
            <a:r>
              <a:rPr lang="zh-CN" altLang="en-US" sz="1800" dirty="0" smtClean="0">
                <a:latin typeface="微軟正黑體" pitchFamily="34" charset="-120"/>
              </a:rPr>
              <a:t>数据通信的</a:t>
            </a:r>
            <a:r>
              <a:rPr lang="en-US" altLang="zh-CN" sz="1800" dirty="0" smtClean="0">
                <a:latin typeface="微軟正黑體" pitchFamily="34" charset="-120"/>
              </a:rPr>
              <a:t>SPI</a:t>
            </a:r>
            <a:r>
              <a:rPr lang="zh-CN" altLang="en-US" sz="1800" dirty="0" smtClean="0">
                <a:latin typeface="微軟正黑體" pitchFamily="34" charset="-120"/>
              </a:rPr>
              <a:t>接口</a:t>
            </a:r>
            <a:endParaRPr lang="en-US" altLang="zh-CN" sz="1800" dirty="0" smtClean="0">
              <a:latin typeface="微軟正黑體" pitchFamily="34" charset="-120"/>
            </a:endParaRPr>
          </a:p>
          <a:p>
            <a:pPr lvl="1"/>
            <a:r>
              <a:rPr lang="zh-CN" altLang="en-US" sz="1400" dirty="0" smtClean="0">
                <a:latin typeface="微軟正黑體" pitchFamily="34" charset="-120"/>
              </a:rPr>
              <a:t>在</a:t>
            </a:r>
            <a:r>
              <a:rPr lang="en-US" altLang="zh-CN" sz="1400" dirty="0" smtClean="0">
                <a:latin typeface="微軟正黑體" pitchFamily="34" charset="-120"/>
              </a:rPr>
              <a:t>IC</a:t>
            </a:r>
            <a:r>
              <a:rPr lang="zh-CN" altLang="en-US" sz="1400" dirty="0" smtClean="0">
                <a:latin typeface="微軟正黑體" pitchFamily="34" charset="-120"/>
              </a:rPr>
              <a:t>之间无需布设隔离组件（在</a:t>
            </a:r>
            <a:r>
              <a:rPr lang="en-US" altLang="zh-CN" sz="1400" dirty="0" smtClean="0">
                <a:latin typeface="微軟正黑體" pitchFamily="34" charset="-120"/>
              </a:rPr>
              <a:t>IC</a:t>
            </a:r>
            <a:r>
              <a:rPr lang="zh-CN" altLang="en-US" sz="1400" dirty="0" smtClean="0">
                <a:latin typeface="微軟正黑體" pitchFamily="34" charset="-120"/>
              </a:rPr>
              <a:t>之间不需要隔离组件器件）</a:t>
            </a:r>
            <a:endParaRPr lang="en-US" altLang="zh-CN" sz="1400" dirty="0" smtClean="0">
              <a:latin typeface="微軟正黑體" pitchFamily="34" charset="-120"/>
            </a:endParaRPr>
          </a:p>
          <a:p>
            <a:pPr lvl="1"/>
            <a:r>
              <a:rPr lang="zh-TW" altLang="en-US" sz="1400" dirty="0" smtClean="0">
                <a:latin typeface="微軟正黑體" pitchFamily="34" charset="-120"/>
              </a:rPr>
              <a:t> 可热插拔</a:t>
            </a:r>
            <a:endParaRPr lang="en-US" altLang="zh-CN" sz="1400" dirty="0" smtClean="0">
              <a:latin typeface="微軟正黑體" pitchFamily="34" charset="-120"/>
            </a:endParaRPr>
          </a:p>
          <a:p>
            <a:r>
              <a:rPr lang="zh-TW" altLang="en-US" sz="1800" dirty="0" smtClean="0">
                <a:latin typeface="微軟正黑體" pitchFamily="34" charset="-120"/>
              </a:rPr>
              <a:t>低功耗：</a:t>
            </a:r>
            <a:r>
              <a:rPr lang="zh-CN" altLang="en-US" sz="1800" dirty="0" smtClean="0">
                <a:latin typeface="微軟正黑體" pitchFamily="34" charset="-120"/>
              </a:rPr>
              <a:t> </a:t>
            </a:r>
            <a:endParaRPr lang="en-US" altLang="zh-CN" sz="1800" dirty="0" smtClean="0">
              <a:latin typeface="微軟正黑體" pitchFamily="34" charset="-120"/>
            </a:endParaRPr>
          </a:p>
          <a:p>
            <a:pPr lvl="1"/>
            <a:r>
              <a:rPr lang="zh-CN" altLang="en-US" sz="1400" dirty="0" smtClean="0">
                <a:latin typeface="微軟正黑體" pitchFamily="34" charset="-120"/>
              </a:rPr>
              <a:t> 典型值为</a:t>
            </a:r>
            <a:r>
              <a:rPr lang="en-US" altLang="zh-CN" sz="1400" dirty="0" smtClean="0">
                <a:latin typeface="微軟正黑體" pitchFamily="34" charset="-120"/>
              </a:rPr>
              <a:t>12μA</a:t>
            </a:r>
            <a:r>
              <a:rPr lang="zh-CN" altLang="en-US" sz="1400" dirty="0" smtClean="0">
                <a:latin typeface="微軟正黑體" pitchFamily="34" charset="-120"/>
              </a:rPr>
              <a:t>（睡眠时）、</a:t>
            </a:r>
            <a:r>
              <a:rPr lang="en-US" altLang="zh-CN" sz="1400" dirty="0" smtClean="0">
                <a:latin typeface="微軟正黑體" pitchFamily="34" charset="-120"/>
              </a:rPr>
              <a:t>45μA</a:t>
            </a:r>
            <a:r>
              <a:rPr lang="zh-CN" altLang="en-US" sz="1400" dirty="0" smtClean="0">
                <a:latin typeface="微軟正黑體" pitchFamily="34" charset="-120"/>
              </a:rPr>
              <a:t>（空闲时）</a:t>
            </a:r>
            <a:endParaRPr lang="en-US" altLang="zh-CN" sz="1400" dirty="0" smtClean="0">
              <a:latin typeface="微軟正黑體" pitchFamily="34" charset="-120"/>
            </a:endParaRPr>
          </a:p>
          <a:p>
            <a:endParaRPr lang="en-US" altLang="zh-TW" sz="1800" dirty="0" smtClean="0">
              <a:latin typeface="微軟正黑體" pitchFamily="34" charset="-120"/>
            </a:endParaRPr>
          </a:p>
          <a:p>
            <a:endParaRPr lang="zh-TW" altLang="en-US" sz="2000" dirty="0">
              <a:latin typeface="微軟正黑體" pitchFamily="34" charset="-12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384"/>
            <a:ext cx="8229600" cy="1143000"/>
          </a:xfrm>
        </p:spPr>
        <p:txBody>
          <a:bodyPr/>
          <a:lstStyle/>
          <a:p>
            <a:r>
              <a:rPr lang="en-US" altLang="zh-TW" sz="2800" dirty="0" smtClean="0">
                <a:solidFill>
                  <a:srgbClr val="6600FF"/>
                </a:solidFill>
                <a:effectLst>
                  <a:outerShdw blurRad="38100" dist="38100" dir="2700000" algn="tl">
                    <a:srgbClr val="000000">
                      <a:alpha val="43137"/>
                    </a:srgbClr>
                  </a:outerShdw>
                </a:effectLst>
              </a:rPr>
              <a:t>536A Built-in Protector</a:t>
            </a:r>
            <a:endParaRPr lang="zh-TW" altLang="en-US" sz="2800" dirty="0">
              <a:solidFill>
                <a:srgbClr val="6600FF"/>
              </a:solidFill>
              <a:effectLst>
                <a:outerShdw blurRad="38100" dist="38100" dir="2700000" algn="tl">
                  <a:srgbClr val="000000">
                    <a:alpha val="43137"/>
                  </a:srgbClr>
                </a:outerShdw>
              </a:effectLst>
            </a:endParaRPr>
          </a:p>
        </p:txBody>
      </p:sp>
      <p:sp>
        <p:nvSpPr>
          <p:cNvPr id="5" name="內容版面配置區 4"/>
          <p:cNvSpPr>
            <a:spLocks noGrp="1"/>
          </p:cNvSpPr>
          <p:nvPr>
            <p:ph idx="1"/>
          </p:nvPr>
        </p:nvSpPr>
        <p:spPr>
          <a:xfrm>
            <a:off x="457200" y="980728"/>
            <a:ext cx="8229600" cy="5145435"/>
          </a:xfrm>
        </p:spPr>
        <p:txBody>
          <a:bodyPr/>
          <a:lstStyle/>
          <a:p>
            <a:r>
              <a:rPr lang="zh-CN" altLang="en-US" sz="1800" dirty="0" smtClean="0">
                <a:latin typeface="微軟正黑體" pitchFamily="34" charset="-120"/>
              </a:rPr>
              <a:t>内置比较器（二级保护器）用于提供</a:t>
            </a:r>
            <a:endParaRPr lang="en-US" altLang="zh-CN" sz="1800" dirty="0" smtClean="0">
              <a:latin typeface="微軟正黑體" pitchFamily="34" charset="-120"/>
            </a:endParaRPr>
          </a:p>
          <a:p>
            <a:pPr lvl="1"/>
            <a:r>
              <a:rPr lang="zh-CN" altLang="en-US" sz="1400" dirty="0" smtClean="0">
                <a:latin typeface="微軟正黑體" pitchFamily="34" charset="-120"/>
              </a:rPr>
              <a:t>过压和欠压保护</a:t>
            </a:r>
            <a:endParaRPr lang="en-US" altLang="zh-CN" sz="1400" dirty="0" smtClean="0">
              <a:latin typeface="微軟正黑體" pitchFamily="34" charset="-120"/>
            </a:endParaRPr>
          </a:p>
          <a:p>
            <a:pPr lvl="1"/>
            <a:r>
              <a:rPr lang="zh-TW" altLang="en-US" sz="1400" dirty="0" smtClean="0">
                <a:latin typeface="微軟正黑體" pitchFamily="34" charset="-120"/>
              </a:rPr>
              <a:t>过热保护</a:t>
            </a:r>
            <a:endParaRPr lang="en-US" altLang="zh-TW" sz="1400" dirty="0" smtClean="0">
              <a:latin typeface="微軟正黑體" pitchFamily="34" charset="-120"/>
            </a:endParaRPr>
          </a:p>
          <a:p>
            <a:pPr lvl="1"/>
            <a:r>
              <a:rPr lang="zh-CN" altLang="en-US" sz="1400" dirty="0" smtClean="0">
                <a:latin typeface="微軟正黑體" pitchFamily="34" charset="-120"/>
              </a:rPr>
              <a:t>可编程门限及延迟时间</a:t>
            </a:r>
            <a:endParaRPr lang="en-US" altLang="zh-CN" sz="1400" dirty="0" smtClean="0">
              <a:latin typeface="微軟正黑體" pitchFamily="34" charset="-120"/>
            </a:endParaRPr>
          </a:p>
          <a:p>
            <a:pPr lvl="1"/>
            <a:r>
              <a:rPr lang="zh-CN" altLang="en-US" sz="1400" dirty="0" smtClean="0">
                <a:latin typeface="微軟正黑體" pitchFamily="34" charset="-120"/>
              </a:rPr>
              <a:t>专用故障信号</a:t>
            </a:r>
            <a:endParaRPr lang="en-US" altLang="zh-CN" sz="1400" dirty="0" smtClean="0">
              <a:latin typeface="微軟正黑體" pitchFamily="34" charset="-120"/>
            </a:endParaRPr>
          </a:p>
          <a:p>
            <a:pPr lvl="1"/>
            <a:r>
              <a:rPr lang="zh-CN" altLang="en-US" sz="1400" dirty="0" smtClean="0">
                <a:latin typeface="微軟正黑體" pitchFamily="34" charset="-120"/>
              </a:rPr>
              <a:t>电池电压和温度保护电路与</a:t>
            </a:r>
            <a:r>
              <a:rPr lang="en-US" altLang="zh-CN" sz="1400" dirty="0" smtClean="0">
                <a:latin typeface="微軟正黑體" pitchFamily="34" charset="-120"/>
              </a:rPr>
              <a:t>ADC</a:t>
            </a:r>
            <a:r>
              <a:rPr lang="zh-CN" altLang="en-US" sz="1400" dirty="0" smtClean="0">
                <a:latin typeface="微軟正黑體" pitchFamily="34" charset="-120"/>
              </a:rPr>
              <a:t>系统无关</a:t>
            </a:r>
            <a:endParaRPr lang="en-US" altLang="zh-CN" sz="1400" dirty="0" smtClean="0">
              <a:latin typeface="微軟正黑體" pitchFamily="34" charset="-120"/>
            </a:endParaRPr>
          </a:p>
          <a:p>
            <a:r>
              <a:rPr lang="zh-CN" altLang="en-US" sz="1800" dirty="0" smtClean="0">
                <a:latin typeface="微軟正黑體" pitchFamily="34" charset="-120"/>
              </a:rPr>
              <a:t>配置数据存储于</a:t>
            </a:r>
            <a:r>
              <a:rPr lang="en-US" altLang="zh-CN" sz="1800" dirty="0" smtClean="0">
                <a:latin typeface="微軟正黑體" pitchFamily="34" charset="-120"/>
              </a:rPr>
              <a:t>ECC-OTP</a:t>
            </a:r>
            <a:r>
              <a:rPr lang="zh-CN" altLang="en-US" sz="1800" dirty="0" smtClean="0">
                <a:latin typeface="微軟正黑體" pitchFamily="34" charset="-120"/>
              </a:rPr>
              <a:t>寄存器中</a:t>
            </a:r>
            <a:endParaRPr lang="en-US" altLang="zh-CN" sz="1800" dirty="0" smtClean="0">
              <a:latin typeface="微軟正黑體" pitchFamily="34" charset="-120"/>
            </a:endParaRPr>
          </a:p>
          <a:p>
            <a:pPr lvl="1"/>
            <a:r>
              <a:rPr lang="zh-CN" altLang="en-US" sz="1400" dirty="0" smtClean="0">
                <a:latin typeface="微軟正黑體" pitchFamily="34" charset="-120"/>
              </a:rPr>
              <a:t>可编程保护门限和检测延迟时间存储在错误检查</a:t>
            </a:r>
            <a:r>
              <a:rPr lang="en-US" altLang="zh-CN" sz="1400" dirty="0" smtClean="0">
                <a:latin typeface="微軟正黑體" pitchFamily="34" charset="-120"/>
              </a:rPr>
              <a:t>/</a:t>
            </a:r>
            <a:r>
              <a:rPr lang="zh-CN" altLang="en-US" sz="1400" dirty="0" smtClean="0">
                <a:latin typeface="微軟正黑體" pitchFamily="34" charset="-120"/>
              </a:rPr>
              <a:t>校正 </a:t>
            </a:r>
            <a:r>
              <a:rPr lang="en-US" altLang="zh-CN" sz="1400" dirty="0" smtClean="0">
                <a:latin typeface="微軟正黑體" pitchFamily="34" charset="-120"/>
              </a:rPr>
              <a:t>(ECC) OTP EPROM</a:t>
            </a:r>
            <a:r>
              <a:rPr lang="zh-CN" altLang="en-US" sz="1400" dirty="0" smtClean="0">
                <a:latin typeface="微軟正黑體" pitchFamily="34" charset="-120"/>
              </a:rPr>
              <a:t>中，这提升了电池管理系统的灵活性及可靠性。</a:t>
            </a:r>
            <a:endParaRPr lang="en-US" altLang="zh-CN" sz="1400" dirty="0" smtClean="0">
              <a:latin typeface="微軟正黑體" pitchFamily="34" charset="-120"/>
            </a:endParaRPr>
          </a:p>
          <a:p>
            <a:r>
              <a:rPr lang="zh-CN" altLang="en-US" sz="1800" dirty="0" smtClean="0">
                <a:latin typeface="微軟正黑體" pitchFamily="34" charset="-120"/>
              </a:rPr>
              <a:t>具有安全超时的电池电量平衡控制输出</a:t>
            </a:r>
            <a:endParaRPr lang="en-US" altLang="zh-CN" sz="1800" dirty="0" smtClean="0">
              <a:latin typeface="微軟正黑體" pitchFamily="34" charset="-120"/>
            </a:endParaRPr>
          </a:p>
          <a:p>
            <a:pPr lvl="1"/>
            <a:r>
              <a:rPr lang="zh-CN" altLang="en-US" sz="1400" dirty="0" smtClean="0">
                <a:latin typeface="微軟正黑體" pitchFamily="34" charset="-120"/>
              </a:rPr>
              <a:t>平衡电流由外部组件设定</a:t>
            </a:r>
            <a:endParaRPr lang="en-US" altLang="zh-CN" sz="1400" dirty="0" smtClean="0">
              <a:latin typeface="微軟正黑體" pitchFamily="34" charset="-120"/>
            </a:endParaRPr>
          </a:p>
          <a:p>
            <a:pPr lvl="1"/>
            <a:endParaRPr lang="en-US" altLang="zh-TW" sz="1400" dirty="0" smtClean="0">
              <a:latin typeface="微軟正黑體" pitchFamily="34" charset="-120"/>
            </a:endParaRPr>
          </a:p>
          <a:p>
            <a:endParaRPr lang="zh-TW" altLang="en-US" sz="2000" dirty="0">
              <a:latin typeface="微軟正黑體" pitchFamily="34" charset="-120"/>
            </a:endParaRPr>
          </a:p>
        </p:txBody>
      </p:sp>
      <p:pic>
        <p:nvPicPr>
          <p:cNvPr id="1026" name="Picture 2"/>
          <p:cNvPicPr>
            <a:picLocks noChangeAspect="1" noChangeArrowheads="1"/>
          </p:cNvPicPr>
          <p:nvPr/>
        </p:nvPicPr>
        <p:blipFill>
          <a:blip r:embed="rId2" cstate="print"/>
          <a:srcRect/>
          <a:stretch>
            <a:fillRect/>
          </a:stretch>
        </p:blipFill>
        <p:spPr bwMode="auto">
          <a:xfrm>
            <a:off x="5724128" y="1124744"/>
            <a:ext cx="1981200" cy="17716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sz="2800" dirty="0" smtClean="0">
                <a:solidFill>
                  <a:srgbClr val="6600FF"/>
                </a:solidFill>
                <a:effectLst>
                  <a:outerShdw blurRad="38100" dist="38100" dir="2700000" algn="tl">
                    <a:srgbClr val="000000">
                      <a:alpha val="43137"/>
                    </a:srgbClr>
                  </a:outerShdw>
                </a:effectLst>
              </a:rPr>
              <a:t>536A Evaluation Software</a:t>
            </a:r>
            <a:endParaRPr lang="zh-TW" altLang="en-US" sz="2800" dirty="0">
              <a:solidFill>
                <a:srgbClr val="6600FF"/>
              </a:solidFill>
              <a:effectLst>
                <a:outerShdw blurRad="38100" dist="38100" dir="2700000" algn="tl">
                  <a:srgbClr val="000000">
                    <a:alpha val="43137"/>
                  </a:srgbClr>
                </a:outerShdw>
              </a:effectLst>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724116" y="1125538"/>
            <a:ext cx="7695767" cy="50006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sz="2800" dirty="0" smtClean="0">
                <a:solidFill>
                  <a:srgbClr val="6600FF"/>
                </a:solidFill>
                <a:effectLst>
                  <a:outerShdw blurRad="38100" dist="38100" dir="2700000" algn="tl">
                    <a:srgbClr val="000000">
                      <a:alpha val="43137"/>
                    </a:srgbClr>
                  </a:outerShdw>
                </a:effectLst>
                <a:latin typeface="微軟正黑體" pitchFamily="34" charset="-120"/>
              </a:rPr>
              <a:t>bq76PL536A </a:t>
            </a:r>
            <a:r>
              <a:rPr lang="zh-TW" altLang="en-US" sz="2800" dirty="0" smtClean="0">
                <a:solidFill>
                  <a:srgbClr val="6600FF"/>
                </a:solidFill>
                <a:effectLst>
                  <a:outerShdw blurRad="38100" dist="38100" dir="2700000" algn="tl">
                    <a:srgbClr val="000000">
                      <a:alpha val="43137"/>
                    </a:srgbClr>
                  </a:outerShdw>
                </a:effectLst>
                <a:latin typeface="微軟正黑體" pitchFamily="34" charset="-120"/>
              </a:rPr>
              <a:t>如何操作器件寻址</a:t>
            </a:r>
            <a:endParaRPr lang="zh-TW" altLang="en-US" sz="2800" dirty="0">
              <a:solidFill>
                <a:srgbClr val="6600FF"/>
              </a:solidFill>
              <a:effectLst>
                <a:outerShdw blurRad="38100" dist="38100" dir="2700000" algn="tl">
                  <a:srgbClr val="000000">
                    <a:alpha val="43137"/>
                  </a:srgbClr>
                </a:outerShdw>
              </a:effectLst>
              <a:latin typeface="微軟正黑體" pitchFamily="34" charset="-120"/>
            </a:endParaRPr>
          </a:p>
        </p:txBody>
      </p:sp>
      <p:sp>
        <p:nvSpPr>
          <p:cNvPr id="3" name="內容版面配置區 2"/>
          <p:cNvSpPr>
            <a:spLocks noGrp="1"/>
          </p:cNvSpPr>
          <p:nvPr>
            <p:ph idx="1"/>
          </p:nvPr>
        </p:nvSpPr>
        <p:spPr>
          <a:xfrm>
            <a:off x="457200" y="1124744"/>
            <a:ext cx="8147248" cy="4525963"/>
          </a:xfrm>
        </p:spPr>
        <p:txBody>
          <a:bodyPr/>
          <a:lstStyle/>
          <a:p>
            <a:r>
              <a:rPr lang="zh-CN" altLang="en-US" sz="1600" dirty="0" smtClean="0"/>
              <a:t>串联堆栈中每个单独的器件需要一个地址，以便其他器件与之通信。</a:t>
            </a:r>
            <a:endParaRPr lang="en-US" altLang="zh-CN" sz="1600" dirty="0" smtClean="0"/>
          </a:p>
          <a:p>
            <a:r>
              <a:rPr lang="zh-CN" altLang="en-US" sz="1600" dirty="0" smtClean="0"/>
              <a:t>每个</a:t>
            </a:r>
            <a:r>
              <a:rPr lang="en-US" altLang="zh-CN" sz="1600" dirty="0" smtClean="0"/>
              <a:t>bq76PL536A</a:t>
            </a:r>
            <a:r>
              <a:rPr lang="zh-CN" altLang="en-US" sz="1600" dirty="0" smtClean="0"/>
              <a:t>具有一个用于分配地址的</a:t>
            </a:r>
            <a:r>
              <a:rPr lang="en-US" altLang="zh-CN" sz="1600" dirty="0" smtClean="0"/>
              <a:t>CS_S</a:t>
            </a:r>
            <a:r>
              <a:rPr lang="zh-CN" altLang="en-US" sz="1600" dirty="0" smtClean="0"/>
              <a:t>和</a:t>
            </a:r>
            <a:r>
              <a:rPr lang="en-US" altLang="zh-CN" sz="1600" dirty="0" smtClean="0"/>
              <a:t>CS_N</a:t>
            </a:r>
            <a:r>
              <a:rPr lang="zh-CN" altLang="en-US" sz="1600" dirty="0" smtClean="0"/>
              <a:t>引脚。一旦地址分配完毕，</a:t>
            </a:r>
            <a:r>
              <a:rPr lang="en-US" altLang="zh-CN" sz="1600" dirty="0" smtClean="0"/>
              <a:t>CS_N/S</a:t>
            </a:r>
            <a:r>
              <a:rPr lang="zh-CN" altLang="en-US" sz="1600" dirty="0" smtClean="0"/>
              <a:t>线的正常操作在通信期间即被置为有效状态（逻辑高电平），而堆栈中适当的</a:t>
            </a:r>
            <a:r>
              <a:rPr lang="en-US" altLang="zh-CN" sz="1600" dirty="0" smtClean="0"/>
              <a:t>bq76PL536A</a:t>
            </a:r>
            <a:r>
              <a:rPr lang="zh-CN" altLang="en-US" sz="1600" dirty="0" smtClean="0"/>
              <a:t>将根据作为分组的一部分进行传输的地址做出响应。</a:t>
            </a:r>
            <a:endParaRPr lang="en-US" altLang="zh-CN" sz="1600" dirty="0" smtClean="0"/>
          </a:p>
          <a:p>
            <a:r>
              <a:rPr lang="zh-TW" altLang="en-US" sz="1600" dirty="0" smtClean="0"/>
              <a:t>当</a:t>
            </a:r>
            <a:r>
              <a:rPr lang="en-US" altLang="zh-TW" sz="1600" dirty="0" smtClean="0"/>
              <a:t>bq76PL536A</a:t>
            </a:r>
            <a:r>
              <a:rPr lang="zh-TW" altLang="en-US" sz="1600" dirty="0" smtClean="0"/>
              <a:t>复位时，</a:t>
            </a:r>
            <a:r>
              <a:rPr lang="en-US" altLang="zh-TW" sz="1600" dirty="0" smtClean="0"/>
              <a:t>DEVICE_STATUS[AR]</a:t>
            </a:r>
            <a:r>
              <a:rPr lang="zh-TW" altLang="en-US" sz="1600" dirty="0" smtClean="0"/>
              <a:t>（地址请求）标记被清零，地址寄存器被设定为</a:t>
            </a:r>
            <a:r>
              <a:rPr lang="en-US" altLang="zh-TW" sz="1600" dirty="0" smtClean="0"/>
              <a:t>0x00</a:t>
            </a:r>
            <a:r>
              <a:rPr lang="zh-TW" altLang="en-US" sz="1600" dirty="0" smtClean="0"/>
              <a:t>，且</a:t>
            </a:r>
            <a:r>
              <a:rPr lang="en-US" altLang="zh-TW" sz="1600" dirty="0" smtClean="0"/>
              <a:t>ALERT_S</a:t>
            </a:r>
            <a:r>
              <a:rPr lang="zh-TW" altLang="en-US" sz="1600" dirty="0" smtClean="0"/>
              <a:t>被置位并沿堆栈向下传递。</a:t>
            </a:r>
            <a:endParaRPr lang="en-US" altLang="zh-TW" sz="1600" dirty="0" smtClean="0"/>
          </a:p>
          <a:p>
            <a:r>
              <a:rPr lang="zh-CN" altLang="en-US" sz="1600" dirty="0" smtClean="0"/>
              <a:t>。在该状态中（地址 </a:t>
            </a:r>
            <a:r>
              <a:rPr lang="en-US" altLang="zh-CN" sz="1600" dirty="0" smtClean="0"/>
              <a:t>= 0x00</a:t>
            </a:r>
            <a:r>
              <a:rPr lang="zh-CN" altLang="en-US" sz="1600" dirty="0" smtClean="0"/>
              <a:t>），</a:t>
            </a:r>
            <a:r>
              <a:rPr lang="en-US" altLang="zh-CN" sz="1600" dirty="0" smtClean="0"/>
              <a:t>CS_N</a:t>
            </a:r>
            <a:r>
              <a:rPr lang="zh-CN" altLang="en-US" sz="1600" dirty="0" smtClean="0"/>
              <a:t>信号被强制为一种“解除有效”的状态（当一个地址 </a:t>
            </a:r>
            <a:r>
              <a:rPr lang="en-US" altLang="zh-CN" sz="1600" dirty="0" smtClean="0"/>
              <a:t>= 0</a:t>
            </a:r>
            <a:r>
              <a:rPr lang="zh-CN" altLang="en-US" sz="1600" dirty="0" smtClean="0"/>
              <a:t>时，</a:t>
            </a:r>
            <a:r>
              <a:rPr lang="en-US" altLang="zh-CN" sz="1600" dirty="0" smtClean="0"/>
              <a:t>CS</a:t>
            </a:r>
            <a:r>
              <a:rPr lang="zh-CN" altLang="en-US" sz="1600" dirty="0" smtClean="0"/>
              <a:t>不向北传递）。这样，在一个复位之后，主机确信：在地址</a:t>
            </a:r>
            <a:r>
              <a:rPr lang="en-US" altLang="zh-CN" sz="1600" dirty="0" smtClean="0"/>
              <a:t>0x00</a:t>
            </a:r>
            <a:r>
              <a:rPr lang="zh-CN" altLang="en-US" sz="1600" dirty="0" smtClean="0"/>
              <a:t>处的一个响应来自堆栈中的第一个物理器件。在当前器件的地址分配之后，主机确信：地址</a:t>
            </a:r>
            <a:r>
              <a:rPr lang="en-US" altLang="zh-CN" sz="1600" dirty="0" smtClean="0"/>
              <a:t>0x00</a:t>
            </a:r>
            <a:r>
              <a:rPr lang="zh-CN" altLang="en-US" sz="1600" dirty="0" smtClean="0"/>
              <a:t>处的下一个响应来自堆栈中的下一个物理器件。</a:t>
            </a:r>
            <a:endParaRPr lang="en-US" altLang="zh-CN" sz="1600" dirty="0" smtClean="0"/>
          </a:p>
          <a:p>
            <a:r>
              <a:rPr lang="zh-CN" altLang="en-US" sz="1600" dirty="0" smtClean="0"/>
              <a:t>当给器件分配了一个有效地址后，</a:t>
            </a:r>
            <a:r>
              <a:rPr lang="en-US" altLang="zh-CN" sz="1600" dirty="0" smtClean="0"/>
              <a:t>CS_N</a:t>
            </a:r>
            <a:r>
              <a:rPr lang="zh-CN" altLang="en-US" sz="1600" dirty="0" smtClean="0"/>
              <a:t>信号正常做出响应，并跟随</a:t>
            </a:r>
            <a:r>
              <a:rPr lang="en-US" altLang="zh-CN" sz="1600" dirty="0" smtClean="0"/>
              <a:t>CS_H</a:t>
            </a:r>
            <a:r>
              <a:rPr lang="zh-CN" altLang="en-US" sz="1600" dirty="0" smtClean="0"/>
              <a:t>或</a:t>
            </a:r>
            <a:r>
              <a:rPr lang="en-US" altLang="zh-CN" sz="1600" dirty="0" smtClean="0"/>
              <a:t>CS_S</a:t>
            </a:r>
            <a:r>
              <a:rPr lang="zh-CN" altLang="en-US" sz="1600" dirty="0" smtClean="0"/>
              <a:t>信号传播至堆栈中的下一个器件。</a:t>
            </a:r>
            <a:endParaRPr lang="en-US" altLang="zh-CN" sz="1600" dirty="0" smtClean="0"/>
          </a:p>
          <a:p>
            <a:r>
              <a:rPr lang="zh-CN" altLang="en-US" sz="1600" dirty="0" smtClean="0"/>
              <a:t>有效地址处于</a:t>
            </a:r>
            <a:r>
              <a:rPr lang="en-US" altLang="zh-CN" sz="1600" dirty="0" smtClean="0"/>
              <a:t>0x01</a:t>
            </a:r>
            <a:r>
              <a:rPr lang="zh-CN" altLang="en-US" sz="1600" dirty="0" smtClean="0"/>
              <a:t>至</a:t>
            </a:r>
            <a:r>
              <a:rPr lang="en-US" altLang="zh-CN" sz="1600" dirty="0" smtClean="0"/>
              <a:t>0x3e</a:t>
            </a:r>
            <a:r>
              <a:rPr lang="zh-CN" altLang="en-US" sz="1600" dirty="0" smtClean="0"/>
              <a:t>的范围内。</a:t>
            </a:r>
            <a:r>
              <a:rPr lang="en-US" altLang="zh-CN" sz="1600" dirty="0" smtClean="0"/>
              <a:t>0x00</a:t>
            </a:r>
            <a:r>
              <a:rPr lang="zh-CN" altLang="en-US" sz="1600" dirty="0" smtClean="0"/>
              <a:t>专留作复位之后的器件发现之用。</a:t>
            </a:r>
            <a:r>
              <a:rPr lang="en-US" altLang="zh-CN" sz="1600" dirty="0" smtClean="0"/>
              <a:t>0x3f</a:t>
            </a:r>
            <a:r>
              <a:rPr lang="zh-CN" altLang="en-US" sz="1600" dirty="0" smtClean="0"/>
              <a:t>则专留作所有器件的一个广播地址。</a:t>
            </a:r>
            <a:endParaRPr lang="en-US" altLang="zh-CN" sz="1600" dirty="0" smtClean="0"/>
          </a:p>
          <a:p>
            <a:pPr>
              <a:buNone/>
            </a:pPr>
            <a:endParaRPr lang="en-US" altLang="zh-CN" sz="1600" dirty="0" smtClean="0"/>
          </a:p>
          <a:p>
            <a:pPr>
              <a:buNone/>
            </a:pPr>
            <a:r>
              <a:rPr lang="zh-TW" altLang="en-US" sz="1600" dirty="0" smtClean="0">
                <a:solidFill>
                  <a:srgbClr val="FF0000"/>
                </a:solidFill>
              </a:rPr>
              <a:t>     </a:t>
            </a:r>
            <a:r>
              <a:rPr lang="zh-CN" altLang="en-US" sz="1600" dirty="0" smtClean="0">
                <a:solidFill>
                  <a:srgbClr val="FF0000"/>
                </a:solidFill>
              </a:rPr>
              <a:t>广播消息仅被具有一个有效地址的器件以及位置较高的下一个器件所接收。任何具有一个</a:t>
            </a:r>
            <a:r>
              <a:rPr lang="en-US" altLang="zh-CN" sz="1600" dirty="0" smtClean="0">
                <a:solidFill>
                  <a:srgbClr val="FF0000"/>
                </a:solidFill>
              </a:rPr>
              <a:t>0x00</a:t>
            </a:r>
            <a:r>
              <a:rPr lang="zh-CN" altLang="en-US" sz="1600" dirty="0" smtClean="0">
                <a:solidFill>
                  <a:srgbClr val="FF0000"/>
                </a:solidFill>
              </a:rPr>
              <a:t>地址的器件将阻止消息传播至位于其上方的器件。在某些器件不具备一个有效地址的情况下，一条广播消息有可能不会被一个堆栈中的所有器件接收到。</a:t>
            </a:r>
            <a:endParaRPr lang="en-US" altLang="zh-TW" sz="1600" dirty="0" smtClean="0">
              <a:solidFill>
                <a:srgbClr val="FF0000"/>
              </a:solidFill>
            </a:endParaRPr>
          </a:p>
          <a:p>
            <a:endParaRPr lang="zh-TW" alt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3752"/>
            <a:ext cx="8229600" cy="1143000"/>
          </a:xfrm>
        </p:spPr>
        <p:txBody>
          <a:bodyPr/>
          <a:lstStyle/>
          <a:p>
            <a:r>
              <a:rPr lang="zh-TW" altLang="en-US" sz="2800" dirty="0" smtClean="0">
                <a:solidFill>
                  <a:srgbClr val="6600FF"/>
                </a:solidFill>
                <a:effectLst>
                  <a:outerShdw blurRad="38100" dist="38100" dir="2700000" algn="tl">
                    <a:srgbClr val="000000">
                      <a:alpha val="43137"/>
                    </a:srgbClr>
                  </a:outerShdw>
                </a:effectLst>
                <a:cs typeface="Verdana" pitchFamily="34" charset="0"/>
              </a:rPr>
              <a:t>如何设置</a:t>
            </a:r>
            <a:r>
              <a:rPr lang="en-US" altLang="zh-CN" sz="2800" dirty="0" smtClean="0">
                <a:solidFill>
                  <a:srgbClr val="6600FF"/>
                </a:solidFill>
                <a:effectLst>
                  <a:outerShdw blurRad="38100" dist="38100" dir="2700000" algn="tl">
                    <a:srgbClr val="000000">
                      <a:alpha val="43137"/>
                    </a:srgbClr>
                  </a:outerShdw>
                </a:effectLst>
                <a:ea typeface="Verdana" pitchFamily="34" charset="0"/>
                <a:cs typeface="Verdana" pitchFamily="34" charset="0"/>
              </a:rPr>
              <a:t>3</a:t>
            </a:r>
            <a:r>
              <a:rPr lang="zh-CN" altLang="en-US" sz="2800" dirty="0" smtClean="0">
                <a:solidFill>
                  <a:srgbClr val="6600FF"/>
                </a:solidFill>
                <a:effectLst>
                  <a:outerShdw blurRad="38100" dist="38100" dir="2700000" algn="tl">
                    <a:srgbClr val="000000">
                      <a:alpha val="43137"/>
                    </a:srgbClr>
                  </a:outerShdw>
                </a:effectLst>
                <a:cs typeface="Verdana" pitchFamily="34" charset="0"/>
              </a:rPr>
              <a:t>至</a:t>
            </a:r>
            <a:r>
              <a:rPr lang="en-US" altLang="zh-CN" sz="2800" dirty="0" smtClean="0">
                <a:solidFill>
                  <a:srgbClr val="6600FF"/>
                </a:solidFill>
                <a:effectLst>
                  <a:outerShdw blurRad="38100" dist="38100" dir="2700000" algn="tl">
                    <a:srgbClr val="000000">
                      <a:alpha val="43137"/>
                    </a:srgbClr>
                  </a:outerShdw>
                </a:effectLst>
                <a:ea typeface="Verdana" pitchFamily="34" charset="0"/>
                <a:cs typeface="Verdana" pitchFamily="34" charset="0"/>
              </a:rPr>
              <a:t>6</a:t>
            </a:r>
            <a:r>
              <a:rPr lang="zh-CN" altLang="en-US" sz="2800" dirty="0" smtClean="0">
                <a:solidFill>
                  <a:srgbClr val="6600FF"/>
                </a:solidFill>
                <a:effectLst>
                  <a:outerShdw blurRad="38100" dist="38100" dir="2700000" algn="tl">
                    <a:srgbClr val="000000">
                      <a:alpha val="43137"/>
                    </a:srgbClr>
                  </a:outerShdw>
                </a:effectLst>
                <a:cs typeface="Verdana" pitchFamily="34" charset="0"/>
              </a:rPr>
              <a:t>节串联电池</a:t>
            </a:r>
            <a:endParaRPr lang="zh-TW" altLang="en-US" sz="2800" dirty="0">
              <a:solidFill>
                <a:srgbClr val="6600FF"/>
              </a:solidFill>
              <a:effectLst>
                <a:outerShdw blurRad="38100" dist="38100" dir="2700000" algn="tl">
                  <a:srgbClr val="000000">
                    <a:alpha val="43137"/>
                  </a:srgbClr>
                </a:outerShdw>
              </a:effectLst>
              <a:cs typeface="Verdana" pitchFamily="34" charset="0"/>
            </a:endParaRPr>
          </a:p>
        </p:txBody>
      </p:sp>
      <p:sp>
        <p:nvSpPr>
          <p:cNvPr id="3" name="內容版面配置區 2"/>
          <p:cNvSpPr>
            <a:spLocks noGrp="1"/>
          </p:cNvSpPr>
          <p:nvPr>
            <p:ph idx="1"/>
          </p:nvPr>
        </p:nvSpPr>
        <p:spPr>
          <a:xfrm>
            <a:off x="457200" y="4653136"/>
            <a:ext cx="8229600" cy="1473027"/>
          </a:xfrm>
        </p:spPr>
        <p:txBody>
          <a:bodyPr/>
          <a:lstStyle/>
          <a:p>
            <a:r>
              <a:rPr lang="zh-CN" altLang="en-US" sz="1600" dirty="0" smtClean="0"/>
              <a:t>当采用的电池少于</a:t>
            </a:r>
            <a:r>
              <a:rPr lang="en-US" altLang="zh-CN" sz="1600" dirty="0" smtClean="0"/>
              <a:t>6</a:t>
            </a:r>
            <a:r>
              <a:rPr lang="zh-CN" altLang="en-US" sz="1600" dirty="0" smtClean="0"/>
              <a:t>节时，串接电池串中最高位的电池电压应通过“参考原理图”部分中所示的</a:t>
            </a:r>
            <a:r>
              <a:rPr lang="en-US" altLang="zh-CN" sz="1600" dirty="0" smtClean="0"/>
              <a:t>RC</a:t>
            </a:r>
            <a:r>
              <a:rPr lang="zh-CN" altLang="en-US" sz="1600" dirty="0" smtClean="0"/>
              <a:t>输入网络连接至</a:t>
            </a:r>
            <a:r>
              <a:rPr lang="en-US" altLang="zh-CN" sz="1600" dirty="0" smtClean="0"/>
              <a:t>BAT1/BAT2</a:t>
            </a:r>
            <a:r>
              <a:rPr lang="zh-CN" altLang="en-US" sz="1600" dirty="0" smtClean="0"/>
              <a:t>引脚。未使用的</a:t>
            </a:r>
            <a:r>
              <a:rPr lang="en-US" altLang="zh-CN" sz="1600" dirty="0" err="1" smtClean="0"/>
              <a:t>VCx</a:t>
            </a:r>
            <a:r>
              <a:rPr lang="zh-CN" altLang="en-US" sz="1600" dirty="0" smtClean="0"/>
              <a:t>输入应连接至位置较低的下一个</a:t>
            </a:r>
            <a:r>
              <a:rPr lang="en-US" altLang="zh-CN" sz="1600" dirty="0" err="1" smtClean="0"/>
              <a:t>VCx</a:t>
            </a:r>
            <a:r>
              <a:rPr lang="zh-CN" altLang="en-US" sz="1600" dirty="0" smtClean="0"/>
              <a:t>输入，直至到达一个与电池相连的输入为止</a:t>
            </a:r>
            <a:r>
              <a:rPr lang="en-US" altLang="zh-CN" sz="1600" dirty="0" smtClean="0"/>
              <a:t>——</a:t>
            </a:r>
            <a:r>
              <a:rPr lang="zh-CN" altLang="en-US" sz="1600" dirty="0" smtClean="0"/>
              <a:t>即：在一个含</a:t>
            </a:r>
            <a:r>
              <a:rPr lang="en-US" altLang="zh-CN" sz="1600" dirty="0" smtClean="0"/>
              <a:t>4</a:t>
            </a:r>
            <a:r>
              <a:rPr lang="zh-CN" altLang="en-US" sz="1600" dirty="0" smtClean="0"/>
              <a:t>节电池的电池组中，</a:t>
            </a:r>
            <a:r>
              <a:rPr lang="en-US" altLang="zh-CN" sz="1600" dirty="0" smtClean="0"/>
              <a:t>VC6</a:t>
            </a:r>
            <a:r>
              <a:rPr lang="zh-CN" altLang="en-US" sz="1600" dirty="0" smtClean="0"/>
              <a:t>连接至</a:t>
            </a:r>
            <a:r>
              <a:rPr lang="en-US" altLang="zh-CN" sz="1600" dirty="0" smtClean="0"/>
              <a:t>VC5</a:t>
            </a:r>
            <a:r>
              <a:rPr lang="zh-CN" altLang="en-US" sz="1600" dirty="0" smtClean="0"/>
              <a:t>，</a:t>
            </a:r>
            <a:r>
              <a:rPr lang="en-US" altLang="zh-CN" sz="1600" dirty="0" smtClean="0"/>
              <a:t>VC5</a:t>
            </a:r>
            <a:r>
              <a:rPr lang="zh-CN" altLang="en-US" sz="1600" dirty="0" smtClean="0"/>
              <a:t>连接至</a:t>
            </a:r>
            <a:r>
              <a:rPr lang="en-US" altLang="zh-CN" sz="1600" dirty="0" smtClean="0"/>
              <a:t>VC4</a:t>
            </a:r>
            <a:r>
              <a:rPr lang="zh-CN" altLang="en-US" sz="1600" dirty="0" smtClean="0"/>
              <a:t>。内部多路复用器控制可被设定为只监测那些与电池相连的输入，由此使转换速度略有加快。该多路复用器受控于</a:t>
            </a:r>
            <a:r>
              <a:rPr lang="en-US" altLang="zh-CN" sz="1600" dirty="0" smtClean="0"/>
              <a:t>ADC_CONTROL[CN2:0] </a:t>
            </a:r>
            <a:r>
              <a:rPr lang="zh-CN" altLang="en-US" sz="1600" dirty="0" smtClean="0"/>
              <a:t>位。</a:t>
            </a:r>
            <a:endParaRPr lang="zh-TW" altLang="en-US" sz="1600" dirty="0"/>
          </a:p>
        </p:txBody>
      </p:sp>
      <p:pic>
        <p:nvPicPr>
          <p:cNvPr id="3074" name="Picture 2"/>
          <p:cNvPicPr>
            <a:picLocks noChangeAspect="1" noChangeArrowheads="1"/>
          </p:cNvPicPr>
          <p:nvPr/>
        </p:nvPicPr>
        <p:blipFill>
          <a:blip r:embed="rId2" cstate="print"/>
          <a:srcRect/>
          <a:stretch>
            <a:fillRect/>
          </a:stretch>
        </p:blipFill>
        <p:spPr bwMode="auto">
          <a:xfrm>
            <a:off x="1331640" y="1196752"/>
            <a:ext cx="6607175" cy="3314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3752"/>
            <a:ext cx="8229600" cy="1143000"/>
          </a:xfrm>
        </p:spPr>
        <p:txBody>
          <a:bodyPr/>
          <a:lstStyle/>
          <a:p>
            <a:r>
              <a:rPr lang="zh-TW" altLang="en-US" sz="2800" dirty="0" smtClean="0">
                <a:solidFill>
                  <a:srgbClr val="6600FF"/>
                </a:solidFill>
                <a:effectLst>
                  <a:outerShdw blurRad="38100" dist="38100" dir="2700000" algn="tl">
                    <a:srgbClr val="000000">
                      <a:alpha val="43137"/>
                    </a:srgbClr>
                  </a:outerShdw>
                </a:effectLst>
                <a:latin typeface="微軟正黑體" pitchFamily="34" charset="-120"/>
              </a:rPr>
              <a:t>如何读取</a:t>
            </a:r>
            <a:r>
              <a:rPr lang="zh-CN" altLang="en-US" sz="2800" dirty="0" smtClean="0">
                <a:solidFill>
                  <a:srgbClr val="6600FF"/>
                </a:solidFill>
                <a:effectLst>
                  <a:outerShdw blurRad="38100" dist="38100" dir="2700000" algn="tl">
                    <a:srgbClr val="000000">
                      <a:alpha val="43137"/>
                    </a:srgbClr>
                  </a:outerShdw>
                </a:effectLst>
                <a:latin typeface="微軟正黑體" pitchFamily="34" charset="-120"/>
              </a:rPr>
              <a:t>电池</a:t>
            </a:r>
            <a:r>
              <a:rPr lang="zh-TW" altLang="en-US" sz="2800" dirty="0" smtClean="0">
                <a:solidFill>
                  <a:srgbClr val="6600FF"/>
                </a:solidFill>
                <a:effectLst>
                  <a:outerShdw blurRad="38100" dist="38100" dir="2700000" algn="tl">
                    <a:srgbClr val="000000">
                      <a:alpha val="43137"/>
                    </a:srgbClr>
                  </a:outerShdw>
                </a:effectLst>
                <a:latin typeface="微軟正黑體" pitchFamily="34" charset="-120"/>
              </a:rPr>
              <a:t>与</a:t>
            </a:r>
            <a:r>
              <a:rPr lang="en-US" altLang="zh-TW" sz="2800" dirty="0" smtClean="0">
                <a:solidFill>
                  <a:srgbClr val="6600FF"/>
                </a:solidFill>
                <a:effectLst>
                  <a:outerShdw blurRad="38100" dist="38100" dir="2700000" algn="tl">
                    <a:srgbClr val="000000">
                      <a:alpha val="43137"/>
                    </a:srgbClr>
                  </a:outerShdw>
                </a:effectLst>
                <a:latin typeface="微軟正黑體" pitchFamily="34" charset="-120"/>
              </a:rPr>
              <a:t>GPAI</a:t>
            </a:r>
            <a:r>
              <a:rPr lang="zh-TW" altLang="en-US" sz="2800" dirty="0" smtClean="0">
                <a:solidFill>
                  <a:srgbClr val="6600FF"/>
                </a:solidFill>
                <a:effectLst>
                  <a:outerShdw blurRad="38100" dist="38100" dir="2700000" algn="tl">
                    <a:srgbClr val="000000">
                      <a:alpha val="43137"/>
                    </a:srgbClr>
                  </a:outerShdw>
                </a:effectLst>
                <a:latin typeface="微軟正黑體" pitchFamily="34" charset="-120"/>
              </a:rPr>
              <a:t>与</a:t>
            </a:r>
            <a:r>
              <a:rPr lang="en-US" altLang="zh-TW" sz="2800" dirty="0" smtClean="0">
                <a:solidFill>
                  <a:srgbClr val="6600FF"/>
                </a:solidFill>
                <a:effectLst>
                  <a:outerShdw blurRad="38100" dist="38100" dir="2700000" algn="tl">
                    <a:srgbClr val="000000">
                      <a:alpha val="43137"/>
                    </a:srgbClr>
                  </a:outerShdw>
                </a:effectLst>
                <a:latin typeface="微軟正黑體" pitchFamily="34" charset="-120"/>
              </a:rPr>
              <a:t>V</a:t>
            </a:r>
            <a:r>
              <a:rPr lang="en-US" altLang="zh-TW" sz="2000" dirty="0" smtClean="0">
                <a:solidFill>
                  <a:srgbClr val="6600FF"/>
                </a:solidFill>
                <a:effectLst>
                  <a:outerShdw blurRad="38100" dist="38100" dir="2700000" algn="tl">
                    <a:srgbClr val="000000">
                      <a:alpha val="43137"/>
                    </a:srgbClr>
                  </a:outerShdw>
                </a:effectLst>
                <a:latin typeface="微軟正黑體" pitchFamily="34" charset="-120"/>
              </a:rPr>
              <a:t>BAT</a:t>
            </a:r>
            <a:endParaRPr lang="zh-TW" altLang="en-US" sz="2800" dirty="0">
              <a:solidFill>
                <a:srgbClr val="6600FF"/>
              </a:solidFill>
              <a:effectLst>
                <a:outerShdw blurRad="38100" dist="38100" dir="2700000" algn="tl">
                  <a:srgbClr val="000000">
                    <a:alpha val="43137"/>
                  </a:srgbClr>
                </a:outerShdw>
              </a:effectLst>
              <a:latin typeface="微軟正黑體" pitchFamily="34" charset="-120"/>
            </a:endParaRPr>
          </a:p>
        </p:txBody>
      </p:sp>
      <p:sp>
        <p:nvSpPr>
          <p:cNvPr id="3" name="內容版面配置區 2"/>
          <p:cNvSpPr>
            <a:spLocks noGrp="1"/>
          </p:cNvSpPr>
          <p:nvPr>
            <p:ph idx="1"/>
          </p:nvPr>
        </p:nvSpPr>
        <p:spPr>
          <a:xfrm>
            <a:off x="457200" y="875853"/>
            <a:ext cx="8229600" cy="5001419"/>
          </a:xfrm>
        </p:spPr>
        <p:txBody>
          <a:bodyPr/>
          <a:lstStyle/>
          <a:p>
            <a:r>
              <a:rPr lang="zh-CN" altLang="en-US" sz="1800" dirty="0" smtClean="0"/>
              <a:t>电池电压测量</a:t>
            </a:r>
            <a:endParaRPr lang="en-US" altLang="zh-CN" sz="1800" dirty="0" smtClean="0"/>
          </a:p>
          <a:p>
            <a:pPr lvl="1"/>
            <a:r>
              <a:rPr lang="zh-CN" altLang="en-US" sz="1200" dirty="0" smtClean="0"/>
              <a:t>将返回的电池测量值转换成一个直流电压（以</a:t>
            </a:r>
            <a:r>
              <a:rPr lang="en-US" altLang="zh-CN" sz="1200" dirty="0" smtClean="0"/>
              <a:t>mV</a:t>
            </a:r>
            <a:r>
              <a:rPr lang="zh-CN" altLang="en-US" sz="1200" dirty="0" smtClean="0"/>
              <a:t>为单位）是采用下面的公式完成的（所有的数值均为十进制）。</a:t>
            </a:r>
          </a:p>
          <a:p>
            <a:pPr lvl="1">
              <a:buNone/>
            </a:pPr>
            <a:r>
              <a:rPr lang="zh-TW" altLang="en-US" sz="1200" dirty="0" smtClean="0"/>
              <a:t>        </a:t>
            </a:r>
            <a:r>
              <a:rPr lang="zh-CN" altLang="en-US" sz="1200" dirty="0" smtClean="0"/>
              <a:t> </a:t>
            </a:r>
            <a:r>
              <a:rPr lang="en-US" altLang="zh-CN" sz="1200" dirty="0" smtClean="0">
                <a:solidFill>
                  <a:srgbClr val="FF0000"/>
                </a:solidFill>
              </a:rPr>
              <a:t>mV = (REGMSB × 256 + REGLSB) × 6250 / 16383</a:t>
            </a:r>
          </a:p>
          <a:p>
            <a:pPr lvl="1">
              <a:buNone/>
            </a:pPr>
            <a:r>
              <a:rPr lang="zh-TW" altLang="en-US" sz="1200" dirty="0" smtClean="0"/>
              <a:t>      </a:t>
            </a:r>
            <a:r>
              <a:rPr lang="zh-CN" altLang="en-US" sz="1200" dirty="0" smtClean="0"/>
              <a:t>示例：</a:t>
            </a:r>
            <a:endParaRPr lang="en-US" altLang="zh-CN" sz="1200" dirty="0" smtClean="0"/>
          </a:p>
          <a:p>
            <a:pPr lvl="1">
              <a:buNone/>
            </a:pPr>
            <a:r>
              <a:rPr lang="zh-CN" altLang="en-US" sz="1200" dirty="0" smtClean="0"/>
              <a:t>       </a:t>
            </a:r>
            <a:r>
              <a:rPr lang="zh-TW" altLang="en-US" sz="1200" dirty="0" smtClean="0"/>
              <a:t>    </a:t>
            </a:r>
            <a:r>
              <a:rPr lang="zh-CN" altLang="en-US" sz="1200" dirty="0" smtClean="0"/>
              <a:t> </a:t>
            </a:r>
            <a:r>
              <a:rPr lang="en-US" altLang="zh-CN" sz="1200" dirty="0" smtClean="0"/>
              <a:t>Cell_1 == 3.35 V (3350 mV)</a:t>
            </a:r>
            <a:r>
              <a:rPr lang="zh-CN" altLang="en-US" sz="1200" dirty="0" smtClean="0"/>
              <a:t>；在转换之后，</a:t>
            </a:r>
            <a:r>
              <a:rPr lang="en-US" altLang="zh-CN" sz="1200" dirty="0" smtClean="0"/>
              <a:t>REG_03 == 0x22</a:t>
            </a:r>
            <a:r>
              <a:rPr lang="zh-CN" altLang="en-US" sz="1200" dirty="0" smtClean="0"/>
              <a:t>；</a:t>
            </a:r>
            <a:r>
              <a:rPr lang="en-US" altLang="zh-CN" sz="1200" dirty="0" smtClean="0"/>
              <a:t>REG_04 == 0x4d</a:t>
            </a:r>
          </a:p>
          <a:p>
            <a:pPr lvl="1">
              <a:buNone/>
            </a:pPr>
            <a:r>
              <a:rPr lang="zh-TW" altLang="en-US" sz="1200" dirty="0" smtClean="0"/>
              <a:t>            </a:t>
            </a:r>
            <a:r>
              <a:rPr lang="en-US" altLang="zh-CN" sz="1200" dirty="0" smtClean="0"/>
              <a:t>0x22 × 0x100 + 0x4d = 0x224d (8781.)</a:t>
            </a:r>
          </a:p>
          <a:p>
            <a:pPr lvl="1">
              <a:buNone/>
            </a:pPr>
            <a:r>
              <a:rPr lang="zh-TW" altLang="en-US" sz="1200" dirty="0" smtClean="0"/>
              <a:t>            </a:t>
            </a:r>
            <a:r>
              <a:rPr lang="en-US" altLang="zh-CN" sz="1200" dirty="0" smtClean="0"/>
              <a:t>8781 × 6250 / 16,383 = 3349.89 mV ≈ 3.35 V</a:t>
            </a:r>
          </a:p>
          <a:p>
            <a:r>
              <a:rPr lang="zh-CN" altLang="en-US" sz="1800" dirty="0" smtClean="0"/>
              <a:t>将</a:t>
            </a:r>
            <a:r>
              <a:rPr lang="en-US" altLang="zh-CN" sz="1800" dirty="0" smtClean="0"/>
              <a:t>GPAI</a:t>
            </a:r>
            <a:r>
              <a:rPr lang="zh-CN" altLang="en-US" sz="1800" dirty="0" smtClean="0"/>
              <a:t>结果转换为电压</a:t>
            </a:r>
            <a:endParaRPr lang="en-US" altLang="zh-CN" sz="1800" dirty="0" smtClean="0"/>
          </a:p>
          <a:p>
            <a:pPr lvl="1"/>
            <a:r>
              <a:rPr lang="zh-TW" altLang="en-US" sz="1200" dirty="0" smtClean="0"/>
              <a:t>如欲利用内部带隙基准将返回的</a:t>
            </a:r>
            <a:r>
              <a:rPr lang="en-US" altLang="zh-TW" sz="1200" dirty="0" smtClean="0"/>
              <a:t>GPAI</a:t>
            </a:r>
            <a:r>
              <a:rPr lang="zh-TW" altLang="en-US" sz="1200" dirty="0" smtClean="0"/>
              <a:t>测量值转换为电压</a:t>
            </a:r>
            <a:r>
              <a:rPr lang="en-US" altLang="zh-TW" sz="1200" dirty="0" smtClean="0"/>
              <a:t>(FUNCTION_CONFIG[GPAI_REF] = 1)</a:t>
            </a:r>
            <a:r>
              <a:rPr lang="zh-TW" altLang="en-US" sz="1200" dirty="0" smtClean="0"/>
              <a:t>，则采用下面的公式。</a:t>
            </a:r>
            <a:endParaRPr lang="en-US" altLang="zh-TW" sz="1200" dirty="0" smtClean="0"/>
          </a:p>
          <a:p>
            <a:pPr lvl="1">
              <a:buNone/>
            </a:pPr>
            <a:r>
              <a:rPr lang="zh-TW" altLang="en-US" sz="1200" dirty="0" smtClean="0"/>
              <a:t>         </a:t>
            </a:r>
            <a:r>
              <a:rPr lang="en-US" altLang="zh-TW" sz="1200" dirty="0" smtClean="0">
                <a:solidFill>
                  <a:srgbClr val="FF0000"/>
                </a:solidFill>
              </a:rPr>
              <a:t>mV = (REGMSB × 256 + REGLSB) × 2500 / 16,383</a:t>
            </a:r>
          </a:p>
          <a:p>
            <a:pPr lvl="1">
              <a:buNone/>
            </a:pPr>
            <a:r>
              <a:rPr lang="zh-TW" altLang="en-US" sz="1200" dirty="0" smtClean="0">
                <a:solidFill>
                  <a:schemeClr val="tx1"/>
                </a:solidFill>
              </a:rPr>
              <a:t>      示例：</a:t>
            </a:r>
            <a:endParaRPr lang="en-US" altLang="zh-TW" sz="1200" dirty="0" smtClean="0">
              <a:solidFill>
                <a:schemeClr val="tx1"/>
              </a:solidFill>
            </a:endParaRPr>
          </a:p>
          <a:p>
            <a:pPr lvl="1">
              <a:buNone/>
            </a:pPr>
            <a:r>
              <a:rPr lang="zh-TW" altLang="en-US" sz="1200" dirty="0" smtClean="0">
                <a:solidFill>
                  <a:schemeClr val="tx1"/>
                </a:solidFill>
              </a:rPr>
              <a:t>            </a:t>
            </a:r>
            <a:r>
              <a:rPr lang="zh-CN" altLang="en-US" sz="1200" dirty="0" smtClean="0">
                <a:solidFill>
                  <a:schemeClr val="tx1"/>
                </a:solidFill>
              </a:rPr>
              <a:t>连接至</a:t>
            </a:r>
            <a:r>
              <a:rPr lang="en-US" altLang="zh-CN" sz="1200" dirty="0" smtClean="0">
                <a:solidFill>
                  <a:schemeClr val="tx1"/>
                </a:solidFill>
              </a:rPr>
              <a:t>GPAI</a:t>
            </a:r>
            <a:r>
              <a:rPr lang="zh-CN" altLang="en-US" sz="1200" dirty="0" smtClean="0">
                <a:solidFill>
                  <a:schemeClr val="tx1"/>
                </a:solidFill>
              </a:rPr>
              <a:t>输入的电压 </a:t>
            </a:r>
            <a:r>
              <a:rPr lang="en-US" altLang="zh-CN" sz="1200" dirty="0" smtClean="0">
                <a:solidFill>
                  <a:schemeClr val="tx1"/>
                </a:solidFill>
              </a:rPr>
              <a:t>== 1.25V</a:t>
            </a:r>
            <a:r>
              <a:rPr lang="zh-CN" altLang="en-US" sz="1200" dirty="0" smtClean="0">
                <a:solidFill>
                  <a:schemeClr val="tx1"/>
                </a:solidFill>
              </a:rPr>
              <a:t>； 在转换之后，</a:t>
            </a:r>
            <a:r>
              <a:rPr lang="en-US" altLang="zh-CN" sz="1200" dirty="0" smtClean="0">
                <a:solidFill>
                  <a:schemeClr val="tx1"/>
                </a:solidFill>
              </a:rPr>
              <a:t>REG_01 == 0x20</a:t>
            </a:r>
            <a:r>
              <a:rPr lang="zh-CN" altLang="en-US" sz="1200" dirty="0" smtClean="0">
                <a:solidFill>
                  <a:schemeClr val="tx1"/>
                </a:solidFill>
              </a:rPr>
              <a:t>；</a:t>
            </a:r>
            <a:r>
              <a:rPr lang="en-US" altLang="zh-CN" sz="1200" dirty="0" smtClean="0">
                <a:solidFill>
                  <a:schemeClr val="tx1"/>
                </a:solidFill>
              </a:rPr>
              <a:t>REG_02 == 0x00</a:t>
            </a:r>
          </a:p>
          <a:p>
            <a:pPr lvl="1">
              <a:buNone/>
            </a:pPr>
            <a:r>
              <a:rPr lang="zh-TW" altLang="en-US" sz="1200" dirty="0" smtClean="0">
                <a:solidFill>
                  <a:schemeClr val="tx1"/>
                </a:solidFill>
              </a:rPr>
              <a:t>            </a:t>
            </a:r>
            <a:r>
              <a:rPr lang="en-US" altLang="zh-TW" sz="1200" dirty="0" smtClean="0">
                <a:solidFill>
                  <a:schemeClr val="tx1"/>
                </a:solidFill>
              </a:rPr>
              <a:t>0x20 × 0x100 + 0x00 = 0x2000 (8192.)</a:t>
            </a:r>
          </a:p>
          <a:p>
            <a:pPr lvl="1">
              <a:buNone/>
            </a:pPr>
            <a:r>
              <a:rPr lang="zh-TW" altLang="en-US" sz="1200" dirty="0" smtClean="0">
                <a:solidFill>
                  <a:schemeClr val="tx1"/>
                </a:solidFill>
              </a:rPr>
              <a:t>            </a:t>
            </a:r>
            <a:r>
              <a:rPr lang="en-US" altLang="zh-TW" sz="1200" dirty="0" smtClean="0">
                <a:solidFill>
                  <a:schemeClr val="tx1"/>
                </a:solidFill>
              </a:rPr>
              <a:t>8192 × 2500 / 16,383 = 1250 mV</a:t>
            </a:r>
          </a:p>
          <a:p>
            <a:r>
              <a:rPr lang="zh-CN" altLang="en-US" sz="1800" dirty="0" smtClean="0">
                <a:solidFill>
                  <a:schemeClr val="tx1"/>
                </a:solidFill>
              </a:rPr>
              <a:t>将</a:t>
            </a:r>
            <a:r>
              <a:rPr lang="en-US" altLang="zh-CN" sz="1800" dirty="0" smtClean="0">
                <a:solidFill>
                  <a:schemeClr val="tx1"/>
                </a:solidFill>
              </a:rPr>
              <a:t>VBAT</a:t>
            </a:r>
            <a:r>
              <a:rPr lang="zh-CN" altLang="en-US" sz="1800" dirty="0" smtClean="0">
                <a:solidFill>
                  <a:schemeClr val="tx1"/>
                </a:solidFill>
              </a:rPr>
              <a:t>结果转换为电压</a:t>
            </a:r>
            <a:endParaRPr lang="en-US" altLang="zh-CN" sz="1800" dirty="0" smtClean="0">
              <a:solidFill>
                <a:schemeClr val="tx1"/>
              </a:solidFill>
            </a:endParaRPr>
          </a:p>
          <a:p>
            <a:pPr lvl="1"/>
            <a:r>
              <a:rPr lang="zh-CN" altLang="en-US" sz="1200" dirty="0" smtClean="0">
                <a:solidFill>
                  <a:schemeClr val="tx1"/>
                </a:solidFill>
              </a:rPr>
              <a:t>如需将返回的</a:t>
            </a:r>
            <a:r>
              <a:rPr lang="en-US" altLang="zh-CN" sz="1200" dirty="0" smtClean="0">
                <a:solidFill>
                  <a:schemeClr val="tx1"/>
                </a:solidFill>
              </a:rPr>
              <a:t>VBAT</a:t>
            </a:r>
            <a:r>
              <a:rPr lang="zh-CN" altLang="en-US" sz="1200" dirty="0" smtClean="0">
                <a:solidFill>
                  <a:schemeClr val="tx1"/>
                </a:solidFill>
              </a:rPr>
              <a:t>测量值转换为电压，则可采用下面的公式：</a:t>
            </a:r>
            <a:endParaRPr lang="en-US" altLang="zh-CN" sz="1200" dirty="0" smtClean="0">
              <a:solidFill>
                <a:schemeClr val="tx1"/>
              </a:solidFill>
            </a:endParaRPr>
          </a:p>
          <a:p>
            <a:pPr lvl="1">
              <a:buNone/>
            </a:pPr>
            <a:r>
              <a:rPr lang="zh-TW" altLang="en-US" sz="1200" dirty="0" smtClean="0">
                <a:solidFill>
                  <a:schemeClr val="tx1"/>
                </a:solidFill>
              </a:rPr>
              <a:t>         </a:t>
            </a:r>
            <a:r>
              <a:rPr lang="en-US" altLang="zh-TW" sz="1200" dirty="0" smtClean="0">
                <a:solidFill>
                  <a:srgbClr val="FF0000"/>
                </a:solidFill>
              </a:rPr>
              <a:t>V = (REGMSB × 256 + REGLSB) × 33.333 / 214 (33.333 ≈ 6.25 / 0.1875)</a:t>
            </a:r>
          </a:p>
          <a:p>
            <a:pPr lvl="1">
              <a:buNone/>
            </a:pPr>
            <a:r>
              <a:rPr lang="zh-TW" altLang="en-US" sz="1200" dirty="0" smtClean="0">
                <a:solidFill>
                  <a:schemeClr val="tx1"/>
                </a:solidFill>
              </a:rPr>
              <a:t> 示例：</a:t>
            </a:r>
            <a:endParaRPr lang="en-US" altLang="zh-TW" sz="1200" dirty="0" smtClean="0">
              <a:solidFill>
                <a:schemeClr val="tx1"/>
              </a:solidFill>
            </a:endParaRPr>
          </a:p>
          <a:p>
            <a:pPr lvl="1">
              <a:buNone/>
            </a:pPr>
            <a:r>
              <a:rPr lang="zh-TW" altLang="en-US" sz="1200" dirty="0" smtClean="0">
                <a:solidFill>
                  <a:schemeClr val="tx1"/>
                </a:solidFill>
              </a:rPr>
              <a:t>            </a:t>
            </a:r>
            <a:r>
              <a:rPr lang="zh-CN" altLang="en-US" sz="1200" dirty="0" smtClean="0">
                <a:solidFill>
                  <a:schemeClr val="tx1"/>
                </a:solidFill>
              </a:rPr>
              <a:t>连接至</a:t>
            </a:r>
            <a:r>
              <a:rPr lang="en-US" altLang="zh-CN" sz="1200" dirty="0" smtClean="0">
                <a:solidFill>
                  <a:schemeClr val="tx1"/>
                </a:solidFill>
              </a:rPr>
              <a:t>VC6–VC0</a:t>
            </a:r>
            <a:r>
              <a:rPr lang="zh-CN" altLang="en-US" sz="1200" dirty="0" smtClean="0">
                <a:solidFill>
                  <a:schemeClr val="tx1"/>
                </a:solidFill>
              </a:rPr>
              <a:t>的串联电池的总电压 </a:t>
            </a:r>
            <a:r>
              <a:rPr lang="en-US" altLang="zh-CN" sz="1200" dirty="0" smtClean="0">
                <a:solidFill>
                  <a:schemeClr val="tx1"/>
                </a:solidFill>
              </a:rPr>
              <a:t>== 20.295 V</a:t>
            </a:r>
            <a:r>
              <a:rPr lang="zh-CN" altLang="en-US" sz="1200" dirty="0" smtClean="0">
                <a:solidFill>
                  <a:schemeClr val="tx1"/>
                </a:solidFill>
              </a:rPr>
              <a:t>；  在转换之后，</a:t>
            </a:r>
            <a:r>
              <a:rPr lang="en-US" altLang="zh-CN" sz="1200" dirty="0" smtClean="0">
                <a:solidFill>
                  <a:schemeClr val="tx1"/>
                </a:solidFill>
              </a:rPr>
              <a:t>REG_01 == 0x26</a:t>
            </a:r>
            <a:r>
              <a:rPr lang="zh-CN" altLang="en-US" sz="1200" dirty="0" smtClean="0">
                <a:solidFill>
                  <a:schemeClr val="tx1"/>
                </a:solidFill>
              </a:rPr>
              <a:t>；</a:t>
            </a:r>
            <a:r>
              <a:rPr lang="en-US" altLang="zh-CN" sz="1200" dirty="0" smtClean="0">
                <a:solidFill>
                  <a:schemeClr val="tx1"/>
                </a:solidFill>
              </a:rPr>
              <a:t>REG_02 == 0xf7</a:t>
            </a:r>
          </a:p>
          <a:p>
            <a:pPr lvl="1">
              <a:buNone/>
            </a:pPr>
            <a:r>
              <a:rPr lang="zh-TW" altLang="en-US" sz="1200" dirty="0" smtClean="0">
                <a:solidFill>
                  <a:schemeClr val="tx1"/>
                </a:solidFill>
              </a:rPr>
              <a:t>            </a:t>
            </a:r>
            <a:r>
              <a:rPr lang="en-US" altLang="zh-TW" sz="1200" dirty="0" smtClean="0">
                <a:solidFill>
                  <a:schemeClr val="tx1"/>
                </a:solidFill>
              </a:rPr>
              <a:t>0x26 × 0x100 + 0xf7 = 0x26f7 (9975.)</a:t>
            </a:r>
          </a:p>
          <a:p>
            <a:pPr lvl="1">
              <a:buNone/>
            </a:pPr>
            <a:r>
              <a:rPr lang="zh-TW" altLang="en-US" sz="1200" dirty="0" smtClean="0">
                <a:solidFill>
                  <a:schemeClr val="tx1"/>
                </a:solidFill>
              </a:rPr>
              <a:t>            </a:t>
            </a:r>
            <a:r>
              <a:rPr lang="en-US" altLang="zh-TW" sz="1200" dirty="0" smtClean="0">
                <a:solidFill>
                  <a:schemeClr val="tx1"/>
                </a:solidFill>
              </a:rPr>
              <a:t>9975 × 33.333 / 16,383 = 20.295 V</a:t>
            </a:r>
            <a:endParaRPr lang="zh-TW" altLang="en-US" sz="1200" dirty="0">
              <a:solidFill>
                <a:schemeClr val="tx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53752"/>
            <a:ext cx="8229600" cy="1143000"/>
          </a:xfrm>
        </p:spPr>
        <p:txBody>
          <a:bodyPr/>
          <a:lstStyle/>
          <a:p>
            <a:r>
              <a:rPr lang="zh-CN" altLang="en-US" sz="2800" dirty="0" smtClean="0">
                <a:solidFill>
                  <a:srgbClr val="6600FF"/>
                </a:solidFill>
                <a:effectLst>
                  <a:outerShdw blurRad="38100" dist="38100" dir="2700000" algn="tl">
                    <a:srgbClr val="000000">
                      <a:alpha val="43137"/>
                    </a:srgbClr>
                  </a:outerShdw>
                </a:effectLst>
                <a:latin typeface="微軟正黑體" pitchFamily="34" charset="-120"/>
              </a:rPr>
              <a:t>如何读取温度</a:t>
            </a:r>
            <a:endParaRPr lang="zh-TW" altLang="en-US" sz="2800" dirty="0">
              <a:solidFill>
                <a:srgbClr val="6600FF"/>
              </a:solidFill>
              <a:effectLst>
                <a:outerShdw blurRad="38100" dist="38100" dir="2700000" algn="tl">
                  <a:srgbClr val="000000">
                    <a:alpha val="43137"/>
                  </a:srgbClr>
                </a:outerShdw>
              </a:effectLst>
              <a:latin typeface="微軟正黑體" pitchFamily="34" charset="-120"/>
            </a:endParaRPr>
          </a:p>
        </p:txBody>
      </p:sp>
      <p:sp>
        <p:nvSpPr>
          <p:cNvPr id="3" name="內容版面配置區 2"/>
          <p:cNvSpPr>
            <a:spLocks noGrp="1"/>
          </p:cNvSpPr>
          <p:nvPr>
            <p:ph idx="1"/>
          </p:nvPr>
        </p:nvSpPr>
        <p:spPr>
          <a:xfrm>
            <a:off x="457200" y="908720"/>
            <a:ext cx="8229600" cy="5001419"/>
          </a:xfrm>
        </p:spPr>
        <p:txBody>
          <a:bodyPr/>
          <a:lstStyle/>
          <a:p>
            <a:r>
              <a:rPr lang="zh-CN" altLang="en-US" sz="1800" dirty="0" smtClean="0"/>
              <a:t>支持外部温度传感器（</a:t>
            </a:r>
            <a:r>
              <a:rPr lang="en-US" altLang="zh-CN" sz="1800" dirty="0" smtClean="0"/>
              <a:t>TS1+</a:t>
            </a:r>
            <a:r>
              <a:rPr lang="zh-CN" altLang="en-US" sz="1800" dirty="0" smtClean="0"/>
              <a:t>、</a:t>
            </a:r>
            <a:r>
              <a:rPr lang="en-US" altLang="zh-CN" sz="1800" dirty="0" smtClean="0"/>
              <a:t>TS1</a:t>
            </a:r>
            <a:r>
              <a:rPr lang="zh-CN" altLang="en-US" sz="1800" dirty="0" smtClean="0"/>
              <a:t>－ 和</a:t>
            </a:r>
            <a:r>
              <a:rPr lang="en-US" altLang="zh-CN" sz="1800" dirty="0" smtClean="0"/>
              <a:t>TS2+</a:t>
            </a:r>
            <a:r>
              <a:rPr lang="zh-CN" altLang="en-US" sz="1800" dirty="0" smtClean="0"/>
              <a:t>、</a:t>
            </a:r>
            <a:r>
              <a:rPr lang="en-US" altLang="zh-CN" sz="1800" dirty="0" smtClean="0"/>
              <a:t>TS2</a:t>
            </a:r>
            <a:r>
              <a:rPr lang="zh-CN" altLang="en-US" sz="1800" dirty="0" smtClean="0"/>
              <a:t>－）</a:t>
            </a:r>
            <a:endParaRPr lang="en-US" altLang="zh-CN" sz="1800" dirty="0" smtClean="0"/>
          </a:p>
          <a:p>
            <a:pPr lvl="1"/>
            <a:r>
              <a:rPr lang="zh-CN" altLang="en-US" sz="1200" dirty="0" smtClean="0"/>
              <a:t>应连接一个合适的外部阻容网络，以把热敏电阻的响应置于所关心的范围之内。如图所示，通常采用的是</a:t>
            </a:r>
            <a:r>
              <a:rPr lang="en-US" altLang="zh-CN" sz="1200" dirty="0" smtClean="0"/>
              <a:t>RT = 1.47 </a:t>
            </a:r>
            <a:r>
              <a:rPr lang="en-US" altLang="zh-CN" sz="1200" dirty="0" err="1" smtClean="0"/>
              <a:t>kΩ</a:t>
            </a:r>
            <a:r>
              <a:rPr lang="zh-CN" altLang="en-US" sz="1200" dirty="0" smtClean="0"/>
              <a:t>和</a:t>
            </a:r>
            <a:r>
              <a:rPr lang="en-US" altLang="zh-CN" sz="1200" dirty="0" smtClean="0"/>
              <a:t>RB = 1.82 </a:t>
            </a:r>
            <a:r>
              <a:rPr lang="en-US" altLang="zh-CN" sz="1200" dirty="0" err="1" smtClean="0"/>
              <a:t>kΩ</a:t>
            </a:r>
            <a:r>
              <a:rPr lang="en-US" altLang="zh-CN" sz="1200" dirty="0" smtClean="0"/>
              <a:t> (1%)</a:t>
            </a:r>
            <a:r>
              <a:rPr lang="zh-CN" altLang="en-US" sz="1200" dirty="0" smtClean="0"/>
              <a:t>。应增设一个数值范围为 </a:t>
            </a:r>
            <a:r>
              <a:rPr lang="en-US" altLang="zh-CN" sz="1200" dirty="0" smtClean="0"/>
              <a:t>1 </a:t>
            </a:r>
            <a:r>
              <a:rPr lang="en-US" altLang="zh-CN" sz="1200" dirty="0" err="1" smtClean="0"/>
              <a:t>nF</a:t>
            </a:r>
            <a:r>
              <a:rPr lang="zh-CN" altLang="en-US" sz="1200" dirty="0" smtClean="0"/>
              <a:t>至</a:t>
            </a:r>
            <a:r>
              <a:rPr lang="en-US" altLang="zh-CN" sz="1200" dirty="0" smtClean="0"/>
              <a:t>47 </a:t>
            </a:r>
            <a:r>
              <a:rPr lang="en-US" altLang="zh-CN" sz="1200" dirty="0" err="1" smtClean="0"/>
              <a:t>nF</a:t>
            </a:r>
            <a:r>
              <a:rPr lang="zh-CN" altLang="en-US" sz="1200" dirty="0" smtClean="0"/>
              <a:t>、跨接在热敏电阻两端的并联旁路电容器，以抑制耦合至测量电路中的噪声。当在转换之前启用各个</a:t>
            </a:r>
            <a:r>
              <a:rPr lang="en-US" altLang="zh-CN" sz="1200" dirty="0" smtClean="0"/>
              <a:t>TS</a:t>
            </a:r>
            <a:r>
              <a:rPr lang="zh-CN" altLang="en-US" sz="1200" dirty="0" smtClean="0"/>
              <a:t>输入及设定</a:t>
            </a:r>
            <a:r>
              <a:rPr lang="en-US" altLang="zh-CN" sz="1200" dirty="0" smtClean="0"/>
              <a:t>OT</a:t>
            </a:r>
            <a:r>
              <a:rPr lang="zh-CN" altLang="en-US" sz="1200" dirty="0" smtClean="0"/>
              <a:t>延迟定时器时，应对该阻容网络所产生的响应时间延迟加以考虑。</a:t>
            </a:r>
            <a:endParaRPr lang="en-US" altLang="zh-CN" sz="1200" dirty="0" smtClean="0"/>
          </a:p>
          <a:p>
            <a:pPr lvl="1"/>
            <a:r>
              <a:rPr lang="zh-TW" altLang="en-US" sz="1200" dirty="0" smtClean="0"/>
              <a:t>如欲将返回的</a:t>
            </a:r>
            <a:r>
              <a:rPr lang="en-US" altLang="zh-CN" sz="1200" dirty="0" err="1" smtClean="0"/>
              <a:t>TSn</a:t>
            </a:r>
            <a:r>
              <a:rPr lang="zh-TW" altLang="en-US" sz="1200" dirty="0" smtClean="0"/>
              <a:t>测量值转换为一个比值 </a:t>
            </a:r>
            <a:r>
              <a:rPr lang="en-US" altLang="zh-TW" sz="1200" dirty="0" smtClean="0"/>
              <a:t>(</a:t>
            </a:r>
            <a:r>
              <a:rPr lang="en-US" altLang="zh-CN" sz="1200" dirty="0" smtClean="0"/>
              <a:t>R TS  = V TS :REG50)</a:t>
            </a:r>
            <a:r>
              <a:rPr lang="zh-CN" altLang="en-US" sz="1200" dirty="0" smtClean="0"/>
              <a:t>，</a:t>
            </a:r>
            <a:r>
              <a:rPr lang="zh-TW" altLang="en-US" sz="1200" dirty="0" smtClean="0"/>
              <a:t>可采用下面的公式。</a:t>
            </a:r>
            <a:r>
              <a:rPr lang="en-US" altLang="zh-TW" sz="1200" dirty="0" smtClean="0"/>
              <a:t> </a:t>
            </a:r>
          </a:p>
          <a:p>
            <a:pPr lvl="1">
              <a:buNone/>
            </a:pPr>
            <a:r>
              <a:rPr lang="zh-TW" altLang="en-US" sz="1200" dirty="0" smtClean="0">
                <a:solidFill>
                  <a:srgbClr val="FF0000"/>
                </a:solidFill>
              </a:rPr>
              <a:t>      </a:t>
            </a:r>
            <a:r>
              <a:rPr lang="en-US" altLang="zh-TW" sz="1200" dirty="0" smtClean="0">
                <a:solidFill>
                  <a:srgbClr val="FF0000"/>
                </a:solidFill>
              </a:rPr>
              <a:t>ADC</a:t>
            </a:r>
            <a:r>
              <a:rPr lang="zh-TW" altLang="en-US" sz="1200" dirty="0" smtClean="0">
                <a:solidFill>
                  <a:srgbClr val="FF0000"/>
                </a:solidFill>
              </a:rPr>
              <a:t>特性：</a:t>
            </a:r>
            <a:r>
              <a:rPr lang="en-US" altLang="zh-TW" sz="1200" dirty="0" smtClean="0">
                <a:solidFill>
                  <a:srgbClr val="FF0000"/>
                </a:solidFill>
              </a:rPr>
              <a:t>COUNT = (V </a:t>
            </a:r>
            <a:r>
              <a:rPr lang="en-US" altLang="zh-TW" sz="1200" dirty="0" err="1" smtClean="0">
                <a:solidFill>
                  <a:srgbClr val="FF0000"/>
                </a:solidFill>
              </a:rPr>
              <a:t>TSn</a:t>
            </a:r>
            <a:r>
              <a:rPr lang="en-US" altLang="zh-TW" sz="1200" dirty="0" smtClean="0">
                <a:solidFill>
                  <a:srgbClr val="FF0000"/>
                </a:solidFill>
              </a:rPr>
              <a:t>  / REG50 × scalar) – OFFSET</a:t>
            </a:r>
          </a:p>
          <a:p>
            <a:pPr lvl="1">
              <a:buNone/>
            </a:pPr>
            <a:r>
              <a:rPr lang="zh-TW" altLang="en-US" sz="1200" dirty="0" smtClean="0">
                <a:solidFill>
                  <a:srgbClr val="FF0000"/>
                </a:solidFill>
              </a:rPr>
              <a:t>      </a:t>
            </a:r>
            <a:r>
              <a:rPr lang="en-US" altLang="zh-TW" sz="1200" dirty="0" smtClean="0">
                <a:solidFill>
                  <a:srgbClr val="FF0000"/>
                </a:solidFill>
              </a:rPr>
              <a:t>TS1</a:t>
            </a:r>
            <a:r>
              <a:rPr lang="zh-TW" altLang="en-US" sz="1200" dirty="0" smtClean="0">
                <a:solidFill>
                  <a:srgbClr val="FF0000"/>
                </a:solidFill>
              </a:rPr>
              <a:t>：</a:t>
            </a:r>
            <a:r>
              <a:rPr lang="en-US" altLang="zh-TW" sz="1200" dirty="0" smtClean="0">
                <a:solidFill>
                  <a:srgbClr val="FF0000"/>
                </a:solidFill>
              </a:rPr>
              <a:t>((TEMPERATURE1_H × 256 + TEMPERATURE1_L) + 2) / 33,046</a:t>
            </a:r>
          </a:p>
          <a:p>
            <a:pPr lvl="1">
              <a:buNone/>
            </a:pPr>
            <a:r>
              <a:rPr lang="en-US" altLang="zh-TW" sz="1200" dirty="0" smtClean="0">
                <a:solidFill>
                  <a:srgbClr val="FF0000"/>
                </a:solidFill>
              </a:rPr>
              <a:t>      TS2</a:t>
            </a:r>
            <a:r>
              <a:rPr lang="zh-TW" altLang="en-US" sz="1200" dirty="0" smtClean="0">
                <a:solidFill>
                  <a:srgbClr val="FF0000"/>
                </a:solidFill>
              </a:rPr>
              <a:t>：</a:t>
            </a:r>
            <a:r>
              <a:rPr lang="en-US" altLang="zh-TW" sz="1200" dirty="0" smtClean="0">
                <a:solidFill>
                  <a:srgbClr val="FF0000"/>
                </a:solidFill>
              </a:rPr>
              <a:t>((TEMPERATURE2_H × 256 + TEMPERATURE2_L) + 9) / 33,068</a:t>
            </a:r>
          </a:p>
          <a:p>
            <a:pPr lvl="1">
              <a:buNone/>
            </a:pPr>
            <a:r>
              <a:rPr lang="zh-TW" altLang="en-US" sz="1200" dirty="0" smtClean="0">
                <a:solidFill>
                  <a:schemeClr val="tx1"/>
                </a:solidFill>
              </a:rPr>
              <a:t>示例：</a:t>
            </a:r>
          </a:p>
          <a:p>
            <a:pPr lvl="1">
              <a:buNone/>
            </a:pPr>
            <a:r>
              <a:rPr lang="zh-TW" altLang="en-US" sz="1200" dirty="0" smtClean="0">
                <a:solidFill>
                  <a:schemeClr val="tx1"/>
                </a:solidFill>
              </a:rPr>
              <a:t>        连接至</a:t>
            </a:r>
            <a:r>
              <a:rPr lang="en-US" altLang="zh-CN" sz="1200" dirty="0" smtClean="0">
                <a:solidFill>
                  <a:schemeClr val="tx1"/>
                </a:solidFill>
              </a:rPr>
              <a:t>TS1</a:t>
            </a:r>
            <a:r>
              <a:rPr lang="zh-TW" altLang="en-US" sz="1200" dirty="0" smtClean="0">
                <a:solidFill>
                  <a:schemeClr val="tx1"/>
                </a:solidFill>
              </a:rPr>
              <a:t>输入 </a:t>
            </a:r>
            <a:r>
              <a:rPr lang="en-US" altLang="zh-TW" sz="1200" dirty="0" smtClean="0">
                <a:solidFill>
                  <a:schemeClr val="tx1"/>
                </a:solidFill>
              </a:rPr>
              <a:t>(</a:t>
            </a:r>
            <a:r>
              <a:rPr lang="en-US" altLang="zh-CN" sz="1200" dirty="0" smtClean="0">
                <a:solidFill>
                  <a:schemeClr val="tx1"/>
                </a:solidFill>
              </a:rPr>
              <a:t>TS1+ – TS1–) </a:t>
            </a:r>
            <a:r>
              <a:rPr lang="zh-TW" altLang="en-US" sz="1200" dirty="0" smtClean="0">
                <a:solidFill>
                  <a:schemeClr val="tx1"/>
                </a:solidFill>
              </a:rPr>
              <a:t>的电压 </a:t>
            </a:r>
            <a:r>
              <a:rPr lang="en-US" altLang="zh-TW" sz="1200" dirty="0" smtClean="0">
                <a:solidFill>
                  <a:schemeClr val="tx1"/>
                </a:solidFill>
              </a:rPr>
              <a:t>== 0.661 </a:t>
            </a:r>
            <a:r>
              <a:rPr lang="en-US" altLang="zh-CN" sz="1200" dirty="0" smtClean="0">
                <a:solidFill>
                  <a:schemeClr val="tx1"/>
                </a:solidFill>
              </a:rPr>
              <a:t>V</a:t>
            </a:r>
            <a:r>
              <a:rPr lang="zh-CN" altLang="en-US" sz="1200" dirty="0" smtClean="0">
                <a:solidFill>
                  <a:schemeClr val="tx1"/>
                </a:solidFill>
              </a:rPr>
              <a:t>；</a:t>
            </a:r>
            <a:r>
              <a:rPr lang="en-US" altLang="zh-CN" sz="1200" dirty="0" smtClean="0">
                <a:solidFill>
                  <a:schemeClr val="tx1"/>
                </a:solidFill>
              </a:rPr>
              <a:t>V REG50  ≈ 5 V</a:t>
            </a:r>
            <a:r>
              <a:rPr lang="zh-CN" altLang="en-US" sz="1200" dirty="0" smtClean="0">
                <a:solidFill>
                  <a:schemeClr val="tx1"/>
                </a:solidFill>
              </a:rPr>
              <a:t>（</a:t>
            </a:r>
            <a:r>
              <a:rPr lang="zh-TW" altLang="en-US" sz="1200" dirty="0" smtClean="0">
                <a:solidFill>
                  <a:schemeClr val="tx1"/>
                </a:solidFill>
              </a:rPr>
              <a:t>标称值）</a:t>
            </a:r>
          </a:p>
          <a:p>
            <a:pPr lvl="1">
              <a:buNone/>
            </a:pPr>
            <a:r>
              <a:rPr lang="zh-TW" altLang="en-US" sz="1200" dirty="0" smtClean="0">
                <a:solidFill>
                  <a:schemeClr val="tx1"/>
                </a:solidFill>
              </a:rPr>
              <a:t>        在转换之后，</a:t>
            </a:r>
            <a:r>
              <a:rPr lang="en-US" altLang="zh-CN" sz="1200" dirty="0" smtClean="0">
                <a:solidFill>
                  <a:schemeClr val="tx1"/>
                </a:solidFill>
              </a:rPr>
              <a:t>REG MSB  == 0x11</a:t>
            </a:r>
            <a:r>
              <a:rPr lang="zh-CN" altLang="en-US" sz="1200" dirty="0" smtClean="0">
                <a:solidFill>
                  <a:schemeClr val="tx1"/>
                </a:solidFill>
              </a:rPr>
              <a:t>；</a:t>
            </a:r>
            <a:r>
              <a:rPr lang="en-US" altLang="zh-CN" sz="1200" dirty="0" smtClean="0">
                <a:solidFill>
                  <a:schemeClr val="tx1"/>
                </a:solidFill>
              </a:rPr>
              <a:t>REG LSB  == 0x16</a:t>
            </a:r>
          </a:p>
          <a:p>
            <a:pPr lvl="1">
              <a:buNone/>
            </a:pPr>
            <a:r>
              <a:rPr lang="en-US" altLang="zh-CN" sz="1200" dirty="0" smtClean="0">
                <a:solidFill>
                  <a:schemeClr val="tx1"/>
                </a:solidFill>
              </a:rPr>
              <a:t>        ACTUAL_COUNT = 0x11 × 0x100 + 0x16 = 0x1116 (4374.)</a:t>
            </a:r>
          </a:p>
          <a:p>
            <a:pPr lvl="1">
              <a:buNone/>
            </a:pPr>
            <a:r>
              <a:rPr lang="en-US" altLang="zh-CN" sz="1200" dirty="0" smtClean="0">
                <a:solidFill>
                  <a:schemeClr val="tx1"/>
                </a:solidFill>
              </a:rPr>
              <a:t>        (4374 + 2) / 33,046 = 0.1324</a:t>
            </a:r>
            <a:r>
              <a:rPr lang="zh-CN" altLang="en-US" sz="1200" dirty="0" smtClean="0">
                <a:solidFill>
                  <a:schemeClr val="tx1"/>
                </a:solidFill>
              </a:rPr>
              <a:t>（</a:t>
            </a:r>
            <a:r>
              <a:rPr lang="en-US" altLang="zh-CN" sz="1200" dirty="0" err="1" smtClean="0">
                <a:solidFill>
                  <a:schemeClr val="tx1"/>
                </a:solidFill>
              </a:rPr>
              <a:t>TSn</a:t>
            </a:r>
            <a:r>
              <a:rPr lang="zh-TW" altLang="en-US" sz="1200" dirty="0" smtClean="0">
                <a:solidFill>
                  <a:schemeClr val="tx1"/>
                </a:solidFill>
              </a:rPr>
              <a:t>输入与</a:t>
            </a:r>
            <a:r>
              <a:rPr lang="en-US" altLang="zh-CN" sz="1200" dirty="0" smtClean="0">
                <a:solidFill>
                  <a:schemeClr val="tx1"/>
                </a:solidFill>
              </a:rPr>
              <a:t>REG50</a:t>
            </a:r>
            <a:r>
              <a:rPr lang="zh-TW" altLang="en-US" sz="1200" dirty="0" smtClean="0">
                <a:solidFill>
                  <a:schemeClr val="tx1"/>
                </a:solidFill>
              </a:rPr>
              <a:t>之比）</a:t>
            </a:r>
          </a:p>
          <a:p>
            <a:pPr lvl="1">
              <a:buNone/>
            </a:pPr>
            <a:r>
              <a:rPr lang="zh-TW" altLang="en-US" sz="1200" dirty="0" smtClean="0">
                <a:solidFill>
                  <a:schemeClr val="tx1"/>
                </a:solidFill>
              </a:rPr>
              <a:t>        </a:t>
            </a:r>
            <a:r>
              <a:rPr lang="en-US" altLang="zh-TW" sz="1200" dirty="0" smtClean="0">
                <a:solidFill>
                  <a:schemeClr val="tx1"/>
                </a:solidFill>
              </a:rPr>
              <a:t>0.1324 × </a:t>
            </a:r>
            <a:r>
              <a:rPr lang="en-US" altLang="zh-CN" sz="1200" dirty="0" smtClean="0">
                <a:solidFill>
                  <a:schemeClr val="tx1"/>
                </a:solidFill>
              </a:rPr>
              <a:t>REG50 = 0.662 V</a:t>
            </a:r>
          </a:p>
          <a:p>
            <a:pPr lvl="1">
              <a:buNone/>
            </a:pPr>
            <a:r>
              <a:rPr lang="zh-TW" altLang="en-US" sz="1200" dirty="0" smtClean="0"/>
              <a:t>      </a:t>
            </a:r>
            <a:endParaRPr lang="en-US" altLang="zh-CN" sz="1200" dirty="0" smtClean="0"/>
          </a:p>
          <a:p>
            <a:pPr lvl="1"/>
            <a:endParaRPr lang="en-US" altLang="zh-CN" sz="1400" dirty="0" smtClean="0"/>
          </a:p>
        </p:txBody>
      </p:sp>
      <p:pic>
        <p:nvPicPr>
          <p:cNvPr id="4098" name="Picture 2"/>
          <p:cNvPicPr>
            <a:picLocks noChangeAspect="1" noChangeArrowheads="1"/>
          </p:cNvPicPr>
          <p:nvPr/>
        </p:nvPicPr>
        <p:blipFill>
          <a:blip r:embed="rId3" cstate="print"/>
          <a:srcRect/>
          <a:stretch>
            <a:fillRect/>
          </a:stretch>
        </p:blipFill>
        <p:spPr bwMode="auto">
          <a:xfrm>
            <a:off x="5292080" y="4221088"/>
            <a:ext cx="3456384" cy="1997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sz="2800" dirty="0" smtClean="0">
                <a:solidFill>
                  <a:srgbClr val="6600FF"/>
                </a:solidFill>
                <a:effectLst>
                  <a:outerShdw blurRad="38100" dist="38100" dir="2700000" algn="tl">
                    <a:srgbClr val="000000">
                      <a:alpha val="43137"/>
                    </a:srgbClr>
                  </a:outerShdw>
                </a:effectLst>
              </a:rPr>
              <a:t>SPI</a:t>
            </a:r>
            <a:r>
              <a:rPr lang="zh-TW" altLang="en-US" sz="2800" dirty="0" smtClean="0">
                <a:solidFill>
                  <a:srgbClr val="6600FF"/>
                </a:solidFill>
                <a:effectLst>
                  <a:outerShdw blurRad="38100" dist="38100" dir="2700000" algn="tl">
                    <a:srgbClr val="000000">
                      <a:alpha val="43137"/>
                    </a:srgbClr>
                  </a:outerShdw>
                </a:effectLst>
              </a:rPr>
              <a:t> 转换控制</a:t>
            </a:r>
            <a:endParaRPr lang="zh-TW" altLang="en-US" sz="2800" dirty="0">
              <a:solidFill>
                <a:srgbClr val="6600FF"/>
              </a:solidFill>
              <a:effectLst>
                <a:outerShdw blurRad="38100" dist="38100" dir="2700000" algn="tl">
                  <a:srgbClr val="000000">
                    <a:alpha val="43137"/>
                  </a:srgbClr>
                </a:outerShdw>
              </a:effectLst>
            </a:endParaRPr>
          </a:p>
        </p:txBody>
      </p:sp>
      <p:sp>
        <p:nvSpPr>
          <p:cNvPr id="3" name="內容版面配置區 2"/>
          <p:cNvSpPr>
            <a:spLocks noGrp="1"/>
          </p:cNvSpPr>
          <p:nvPr>
            <p:ph idx="1"/>
          </p:nvPr>
        </p:nvSpPr>
        <p:spPr>
          <a:xfrm>
            <a:off x="457200" y="908721"/>
            <a:ext cx="8229600" cy="3744416"/>
          </a:xfrm>
        </p:spPr>
        <p:txBody>
          <a:bodyPr/>
          <a:lstStyle/>
          <a:p>
            <a:r>
              <a:rPr lang="zh-CN" altLang="en-US" sz="1800" dirty="0" smtClean="0">
                <a:latin typeface="微軟正黑體" pitchFamily="34" charset="-120"/>
              </a:rPr>
              <a:t>起动一个转换周期可以采用两种方法。</a:t>
            </a:r>
            <a:endParaRPr lang="en-US" altLang="zh-CN" sz="1800" dirty="0" smtClean="0">
              <a:latin typeface="微軟正黑體" pitchFamily="34" charset="-120"/>
            </a:endParaRPr>
          </a:p>
          <a:p>
            <a:pPr lvl="1"/>
            <a:r>
              <a:rPr lang="zh-CN" altLang="en-US" sz="1600" b="1" dirty="0" smtClean="0">
                <a:latin typeface="微軟正黑體" pitchFamily="34" charset="-120"/>
              </a:rPr>
              <a:t>硬件起动</a:t>
            </a:r>
            <a:r>
              <a:rPr lang="zh-TW" altLang="en-US" sz="1600" dirty="0" smtClean="0">
                <a:latin typeface="微軟正黑體" pitchFamily="34" charset="-120"/>
              </a:rPr>
              <a:t> </a:t>
            </a:r>
            <a:r>
              <a:rPr lang="en-US" altLang="zh-TW" sz="1600" dirty="0" smtClean="0">
                <a:latin typeface="微軟正黑體" pitchFamily="34" charset="-120"/>
              </a:rPr>
              <a:t>:</a:t>
            </a:r>
            <a:r>
              <a:rPr lang="zh-TW" altLang="en-US" sz="1600" dirty="0" smtClean="0">
                <a:latin typeface="微軟正黑體" pitchFamily="34" charset="-120"/>
              </a:rPr>
              <a:t> </a:t>
            </a:r>
            <a:r>
              <a:rPr lang="zh-CN" altLang="en-US" sz="1600" dirty="0" smtClean="0">
                <a:latin typeface="微軟正黑體" pitchFamily="34" charset="-120"/>
              </a:rPr>
              <a:t>单个接口引脚 </a:t>
            </a:r>
            <a:r>
              <a:rPr lang="en-US" altLang="zh-CN" sz="1600" dirty="0" smtClean="0">
                <a:latin typeface="微軟正黑體" pitchFamily="34" charset="-120"/>
              </a:rPr>
              <a:t>(CONV_H) </a:t>
            </a:r>
            <a:r>
              <a:rPr lang="zh-CN" altLang="en-US" sz="1600" dirty="0" smtClean="0">
                <a:latin typeface="微軟正黑體" pitchFamily="34" charset="-120"/>
              </a:rPr>
              <a:t>用于由主机控制的转换起动。当采用主机将</a:t>
            </a:r>
            <a:r>
              <a:rPr lang="en-US" altLang="zh-CN" sz="1600" dirty="0" smtClean="0">
                <a:latin typeface="微軟正黑體" pitchFamily="34" charset="-120"/>
              </a:rPr>
              <a:t>CONV_H</a:t>
            </a:r>
            <a:r>
              <a:rPr lang="zh-CN" altLang="en-US" sz="1600" dirty="0" smtClean="0">
                <a:latin typeface="微軟正黑體" pitchFamily="34" charset="-120"/>
              </a:rPr>
              <a:t>引脚从低电平转换至高电平时，一个转换周期将由一个硬件信号起动。</a:t>
            </a:r>
            <a:endParaRPr lang="en-US" altLang="zh-CN" sz="1600" dirty="0" smtClean="0">
              <a:latin typeface="微軟正黑體" pitchFamily="34" charset="-120"/>
            </a:endParaRPr>
          </a:p>
          <a:p>
            <a:pPr lvl="2"/>
            <a:r>
              <a:rPr lang="zh-CN" altLang="en-US" sz="1200" dirty="0" smtClean="0">
                <a:solidFill>
                  <a:srgbClr val="FF0000"/>
                </a:solidFill>
                <a:latin typeface="微軟正黑體" pitchFamily="34" charset="-120"/>
              </a:rPr>
              <a:t>如果在设计中使用了</a:t>
            </a:r>
            <a:r>
              <a:rPr lang="en-US" altLang="zh-CN" sz="1200" dirty="0" smtClean="0">
                <a:solidFill>
                  <a:srgbClr val="FF0000"/>
                </a:solidFill>
                <a:latin typeface="微軟正黑體" pitchFamily="34" charset="-120"/>
              </a:rPr>
              <a:t>CONV_H</a:t>
            </a:r>
            <a:r>
              <a:rPr lang="zh-CN" altLang="en-US" sz="1200" dirty="0" smtClean="0">
                <a:solidFill>
                  <a:srgbClr val="FF0000"/>
                </a:solidFill>
                <a:latin typeface="微軟正黑體" pitchFamily="34" charset="-120"/>
              </a:rPr>
              <a:t>引脚，则必须将其保持在一种默认的低电平状态 （约</a:t>
            </a:r>
            <a:r>
              <a:rPr lang="en-US" altLang="zh-CN" sz="1200" dirty="0" smtClean="0">
                <a:solidFill>
                  <a:srgbClr val="FF0000"/>
                </a:solidFill>
                <a:latin typeface="微軟正黑體" pitchFamily="34" charset="-120"/>
              </a:rPr>
              <a:t>0 V</a:t>
            </a:r>
            <a:r>
              <a:rPr lang="zh-CN" altLang="en-US" sz="1200" dirty="0" smtClean="0">
                <a:solidFill>
                  <a:srgbClr val="FF0000"/>
                </a:solidFill>
                <a:latin typeface="微軟正黑體" pitchFamily="34" charset="-120"/>
              </a:rPr>
              <a:t>），以允许采用</a:t>
            </a:r>
            <a:r>
              <a:rPr lang="en-US" altLang="zh-CN" sz="1200" dirty="0" smtClean="0">
                <a:solidFill>
                  <a:srgbClr val="FF0000"/>
                </a:solidFill>
                <a:latin typeface="微軟正黑體" pitchFamily="34" charset="-120"/>
              </a:rPr>
              <a:t>ADC_CONVERT[CONV]</a:t>
            </a:r>
            <a:r>
              <a:rPr lang="zh-CN" altLang="en-US" sz="1200" dirty="0" smtClean="0">
                <a:solidFill>
                  <a:srgbClr val="FF0000"/>
                </a:solidFill>
                <a:latin typeface="微軟正黑體" pitchFamily="34" charset="-120"/>
              </a:rPr>
              <a:t>位来触发</a:t>
            </a:r>
            <a:r>
              <a:rPr lang="en-US" altLang="zh-CN" sz="1200" dirty="0" smtClean="0">
                <a:solidFill>
                  <a:srgbClr val="FF0000"/>
                </a:solidFill>
                <a:latin typeface="微軟正黑體" pitchFamily="34" charset="-120"/>
              </a:rPr>
              <a:t>ADC</a:t>
            </a:r>
            <a:r>
              <a:rPr lang="zh-CN" altLang="en-US" sz="1200" dirty="0" smtClean="0">
                <a:solidFill>
                  <a:srgbClr val="FF0000"/>
                </a:solidFill>
                <a:latin typeface="微軟正黑體" pitchFamily="34" charset="-120"/>
              </a:rPr>
              <a:t>转换。假如</a:t>
            </a:r>
            <a:r>
              <a:rPr lang="en-US" altLang="zh-CN" sz="1200" dirty="0" smtClean="0">
                <a:solidFill>
                  <a:srgbClr val="FF0000"/>
                </a:solidFill>
                <a:latin typeface="微軟正黑體" pitchFamily="34" charset="-120"/>
              </a:rPr>
              <a:t>CONV</a:t>
            </a:r>
            <a:r>
              <a:rPr lang="zh-CN" altLang="en-US" sz="1200" dirty="0" smtClean="0">
                <a:solidFill>
                  <a:srgbClr val="FF0000"/>
                </a:solidFill>
                <a:latin typeface="微軟正黑體" pitchFamily="34" charset="-120"/>
              </a:rPr>
              <a:t>引脚保持高电平，则</a:t>
            </a:r>
            <a:r>
              <a:rPr lang="en-US" altLang="zh-CN" sz="1200" dirty="0" smtClean="0">
                <a:solidFill>
                  <a:srgbClr val="FF0000"/>
                </a:solidFill>
                <a:latin typeface="微軟正黑體" pitchFamily="34" charset="-120"/>
              </a:rPr>
              <a:t>ADC_CONVERT[CONV] </a:t>
            </a:r>
            <a:r>
              <a:rPr lang="zh-CN" altLang="en-US" sz="1200" dirty="0" smtClean="0">
                <a:solidFill>
                  <a:srgbClr val="FF0000"/>
                </a:solidFill>
                <a:latin typeface="微軟正黑體" pitchFamily="34" charset="-120"/>
              </a:rPr>
              <a:t>位不起作用，而且器件电流消耗将由于信号传输电流而增加约</a:t>
            </a:r>
            <a:r>
              <a:rPr lang="en-US" altLang="zh-CN" sz="1200" dirty="0" smtClean="0">
                <a:solidFill>
                  <a:srgbClr val="FF0000"/>
                </a:solidFill>
                <a:latin typeface="微軟正黑體" pitchFamily="34" charset="-120"/>
              </a:rPr>
              <a:t>900μA</a:t>
            </a:r>
            <a:r>
              <a:rPr lang="zh-CN" altLang="en-US" sz="1200" dirty="0" smtClean="0">
                <a:solidFill>
                  <a:srgbClr val="FF0000"/>
                </a:solidFill>
                <a:latin typeface="微軟正黑體" pitchFamily="34" charset="-120"/>
              </a:rPr>
              <a:t>。</a:t>
            </a:r>
            <a:endParaRPr lang="en-US" altLang="zh-CN" sz="1200" dirty="0" smtClean="0">
              <a:solidFill>
                <a:srgbClr val="FF0000"/>
              </a:solidFill>
              <a:latin typeface="微軟正黑體" pitchFamily="34" charset="-120"/>
            </a:endParaRPr>
          </a:p>
          <a:p>
            <a:pPr lvl="1"/>
            <a:r>
              <a:rPr lang="zh-CN" altLang="en-US" sz="1600" b="1" dirty="0" smtClean="0">
                <a:solidFill>
                  <a:schemeClr val="tx1"/>
                </a:solidFill>
                <a:latin typeface="微軟正黑體" pitchFamily="34" charset="-120"/>
              </a:rPr>
              <a:t>固件起动</a:t>
            </a:r>
            <a:r>
              <a:rPr lang="zh-TW" altLang="en-US" sz="1600" b="1" dirty="0" smtClean="0">
                <a:solidFill>
                  <a:schemeClr val="tx1"/>
                </a:solidFill>
                <a:latin typeface="微軟正黑體" pitchFamily="34" charset="-120"/>
              </a:rPr>
              <a:t> </a:t>
            </a:r>
            <a:r>
              <a:rPr lang="en-US" altLang="zh-TW" sz="1600" dirty="0" smtClean="0">
                <a:solidFill>
                  <a:schemeClr val="tx1"/>
                </a:solidFill>
                <a:latin typeface="微軟正黑體" pitchFamily="34" charset="-120"/>
              </a:rPr>
              <a:t>:</a:t>
            </a:r>
            <a:r>
              <a:rPr lang="zh-TW" altLang="en-US" sz="1600" dirty="0" smtClean="0">
                <a:solidFill>
                  <a:schemeClr val="tx1"/>
                </a:solidFill>
                <a:latin typeface="微軟正黑體" pitchFamily="34" charset="-120"/>
              </a:rPr>
              <a:t> </a:t>
            </a:r>
            <a:r>
              <a:rPr lang="zh-CN" altLang="en-US" sz="1600" dirty="0" smtClean="0">
                <a:solidFill>
                  <a:schemeClr val="tx1"/>
                </a:solidFill>
                <a:latin typeface="微軟正黑體" pitchFamily="34" charset="-120"/>
              </a:rPr>
              <a:t>通过将一个“</a:t>
            </a:r>
            <a:r>
              <a:rPr lang="en-US" altLang="zh-CN" sz="1600" dirty="0" smtClean="0">
                <a:solidFill>
                  <a:schemeClr val="tx1"/>
                </a:solidFill>
                <a:latin typeface="微軟正黑體" pitchFamily="34" charset="-120"/>
              </a:rPr>
              <a:t>1”</a:t>
            </a:r>
            <a:r>
              <a:rPr lang="zh-CN" altLang="en-US" sz="1600" dirty="0" smtClean="0">
                <a:solidFill>
                  <a:schemeClr val="tx1"/>
                </a:solidFill>
                <a:latin typeface="微軟正黑體" pitchFamily="34" charset="-120"/>
              </a:rPr>
              <a:t>写入</a:t>
            </a:r>
            <a:r>
              <a:rPr lang="en-US" altLang="zh-CN" sz="1600" dirty="0" smtClean="0">
                <a:solidFill>
                  <a:schemeClr val="tx1"/>
                </a:solidFill>
                <a:latin typeface="微軟正黑體" pitchFamily="34" charset="-120"/>
              </a:rPr>
              <a:t>CONVERT_CTRL[CONV] </a:t>
            </a:r>
            <a:r>
              <a:rPr lang="zh-CN" altLang="en-US" sz="1600" dirty="0" smtClean="0">
                <a:solidFill>
                  <a:schemeClr val="tx1"/>
                </a:solidFill>
                <a:latin typeface="微軟正黑體" pitchFamily="34" charset="-120"/>
              </a:rPr>
              <a:t>位，可以启动一个转换。在一个转换周期结束时它将自动复位。这个位仅可以被写至“</a:t>
            </a:r>
            <a:r>
              <a:rPr lang="en-US" altLang="zh-CN" sz="1600" dirty="0" smtClean="0">
                <a:solidFill>
                  <a:schemeClr val="tx1"/>
                </a:solidFill>
                <a:latin typeface="微軟正黑體" pitchFamily="34" charset="-120"/>
              </a:rPr>
              <a:t>1”</a:t>
            </a:r>
            <a:r>
              <a:rPr lang="zh-CN" altLang="en-US" sz="1600" dirty="0" smtClean="0">
                <a:solidFill>
                  <a:schemeClr val="tx1"/>
                </a:solidFill>
                <a:latin typeface="微軟正黑體" pitchFamily="34" charset="-120"/>
              </a:rPr>
              <a:t>；</a:t>
            </a:r>
            <a:r>
              <a:rPr lang="en-US" altLang="zh-CN" sz="1600" dirty="0" smtClean="0">
                <a:solidFill>
                  <a:schemeClr val="tx1"/>
                </a:solidFill>
                <a:latin typeface="微軟正黑體" pitchFamily="34" charset="-120"/>
              </a:rPr>
              <a:t>IC</a:t>
            </a:r>
            <a:r>
              <a:rPr lang="zh-CN" altLang="en-US" sz="1600" dirty="0" smtClean="0">
                <a:solidFill>
                  <a:schemeClr val="tx1"/>
                </a:solidFill>
                <a:latin typeface="微軟正黑體" pitchFamily="34" charset="-120"/>
              </a:rPr>
              <a:t>始终将其复位至“</a:t>
            </a:r>
            <a:r>
              <a:rPr lang="en-US" altLang="zh-CN" sz="1600" dirty="0" smtClean="0">
                <a:solidFill>
                  <a:schemeClr val="tx1"/>
                </a:solidFill>
                <a:latin typeface="微軟正黑體" pitchFamily="34" charset="-120"/>
              </a:rPr>
              <a:t>0”</a:t>
            </a:r>
            <a:r>
              <a:rPr lang="zh-CN" altLang="en-US" sz="1600" dirty="0" smtClean="0">
                <a:solidFill>
                  <a:schemeClr val="tx1"/>
                </a:solidFill>
                <a:latin typeface="微軟正黑體" pitchFamily="34" charset="-120"/>
              </a:rPr>
              <a:t>。建议采用分组的广播 </a:t>
            </a:r>
            <a:r>
              <a:rPr lang="en-US" altLang="zh-CN" sz="1600" dirty="0" smtClean="0">
                <a:solidFill>
                  <a:schemeClr val="tx1"/>
                </a:solidFill>
                <a:latin typeface="微軟正黑體" pitchFamily="34" charset="-120"/>
              </a:rPr>
              <a:t>(BROADCAST) </a:t>
            </a:r>
            <a:r>
              <a:rPr lang="zh-CN" altLang="en-US" sz="1600" dirty="0" smtClean="0">
                <a:solidFill>
                  <a:schemeClr val="tx1"/>
                </a:solidFill>
                <a:latin typeface="微軟正黑體" pitchFamily="34" charset="-120"/>
              </a:rPr>
              <a:t>形式来同时起动所有的器件。</a:t>
            </a:r>
            <a:endParaRPr lang="en-US" altLang="zh-CN" sz="1600" dirty="0" smtClean="0">
              <a:solidFill>
                <a:schemeClr val="tx1"/>
              </a:solidFill>
              <a:latin typeface="微軟正黑體" pitchFamily="34" charset="-120"/>
            </a:endParaRPr>
          </a:p>
          <a:p>
            <a:pPr lvl="2"/>
            <a:r>
              <a:rPr lang="zh-CN" altLang="en-US" sz="1200" dirty="0" smtClean="0">
                <a:solidFill>
                  <a:srgbClr val="FF0000"/>
                </a:solidFill>
                <a:latin typeface="微軟正黑體" pitchFamily="34" charset="-120"/>
              </a:rPr>
              <a:t>必须将外部</a:t>
            </a:r>
            <a:r>
              <a:rPr lang="en-US" altLang="zh-CN" sz="1200" dirty="0" smtClean="0">
                <a:solidFill>
                  <a:srgbClr val="FF0000"/>
                </a:solidFill>
                <a:latin typeface="微軟正黑體" pitchFamily="34" charset="-120"/>
              </a:rPr>
              <a:t>CONV_V</a:t>
            </a:r>
            <a:r>
              <a:rPr lang="zh-CN" altLang="en-US" sz="1200" dirty="0" smtClean="0">
                <a:solidFill>
                  <a:srgbClr val="FF0000"/>
                </a:solidFill>
                <a:latin typeface="微軟正黑體" pitchFamily="34" charset="-120"/>
              </a:rPr>
              <a:t>引脚保持在解除有效 </a:t>
            </a:r>
            <a:r>
              <a:rPr lang="en-US" altLang="zh-CN" sz="1200" dirty="0" smtClean="0">
                <a:solidFill>
                  <a:srgbClr val="FF0000"/>
                </a:solidFill>
                <a:latin typeface="微軟正黑體" pitchFamily="34" charset="-120"/>
              </a:rPr>
              <a:t>(= 0) </a:t>
            </a:r>
            <a:r>
              <a:rPr lang="zh-CN" altLang="en-US" sz="1200" dirty="0" smtClean="0">
                <a:solidFill>
                  <a:srgbClr val="FF0000"/>
                </a:solidFill>
                <a:latin typeface="微軟正黑體" pitchFamily="34" charset="-120"/>
              </a:rPr>
              <a:t>的状态，以允许</a:t>
            </a:r>
            <a:r>
              <a:rPr lang="en-US" altLang="zh-CN" sz="1200" dirty="0" smtClean="0">
                <a:solidFill>
                  <a:srgbClr val="FF0000"/>
                </a:solidFill>
                <a:latin typeface="微軟正黑體" pitchFamily="34" charset="-120"/>
              </a:rPr>
              <a:t>CONV</a:t>
            </a:r>
            <a:r>
              <a:rPr lang="zh-CN" altLang="en-US" sz="1200" dirty="0" smtClean="0">
                <a:solidFill>
                  <a:srgbClr val="FF0000"/>
                </a:solidFill>
                <a:latin typeface="微軟正黑體" pitchFamily="34" charset="-120"/>
              </a:rPr>
              <a:t>寄存器位启动转换。该引脚上提供了一个内部下拉电阻器以保持此状态。</a:t>
            </a:r>
            <a:endParaRPr lang="en-US" altLang="zh-CN" sz="1200" dirty="0" smtClean="0">
              <a:solidFill>
                <a:srgbClr val="FF0000"/>
              </a:solidFill>
              <a:latin typeface="微軟正黑體" pitchFamily="34" charset="-120"/>
            </a:endParaRPr>
          </a:p>
          <a:p>
            <a:r>
              <a:rPr lang="zh-CN" altLang="en-US" sz="1800" dirty="0" smtClean="0">
                <a:solidFill>
                  <a:schemeClr val="tx1"/>
                </a:solidFill>
                <a:latin typeface="微軟正黑體" pitchFamily="34" charset="-120"/>
              </a:rPr>
              <a:t>当最后一个转换数据被存储至关联的数据结果寄存器时，如果</a:t>
            </a:r>
            <a:r>
              <a:rPr lang="en-US" altLang="zh-CN" sz="1800" dirty="0" smtClean="0">
                <a:solidFill>
                  <a:schemeClr val="tx1"/>
                </a:solidFill>
                <a:latin typeface="微軟正黑體" pitchFamily="34" charset="-120"/>
              </a:rPr>
              <a:t>DRDY_IN</a:t>
            </a:r>
            <a:r>
              <a:rPr lang="zh-CN" altLang="en-US" sz="1800" dirty="0" smtClean="0">
                <a:solidFill>
                  <a:schemeClr val="tx1"/>
                </a:solidFill>
                <a:latin typeface="微軟正黑體" pitchFamily="34" charset="-120"/>
              </a:rPr>
              <a:t>引脚也被置为有效的话，</a:t>
            </a:r>
            <a:r>
              <a:rPr lang="en-US" altLang="zh-CN" sz="1800" dirty="0" smtClean="0">
                <a:solidFill>
                  <a:schemeClr val="tx1"/>
                </a:solidFill>
                <a:latin typeface="微軟正黑體" pitchFamily="34" charset="-120"/>
              </a:rPr>
              <a:t>bq76PL536A</a:t>
            </a:r>
            <a:r>
              <a:rPr lang="zh-CN" altLang="en-US" sz="1800" dirty="0" smtClean="0">
                <a:solidFill>
                  <a:schemeClr val="tx1"/>
                </a:solidFill>
                <a:latin typeface="微軟正黑體" pitchFamily="34" charset="-120"/>
              </a:rPr>
              <a:t>通过将</a:t>
            </a:r>
            <a:r>
              <a:rPr lang="en-US" altLang="zh-CN" sz="1800" dirty="0" smtClean="0">
                <a:solidFill>
                  <a:schemeClr val="tx1"/>
                </a:solidFill>
                <a:latin typeface="微軟正黑體" pitchFamily="34" charset="-120"/>
              </a:rPr>
              <a:t>DRDY_S</a:t>
            </a:r>
            <a:r>
              <a:rPr lang="zh-CN" altLang="en-US" sz="1800" dirty="0" smtClean="0">
                <a:solidFill>
                  <a:schemeClr val="tx1"/>
                </a:solidFill>
                <a:latin typeface="微軟正黑體" pitchFamily="34" charset="-120"/>
              </a:rPr>
              <a:t>引脚置为有效来指示数据处于就绪状态。</a:t>
            </a:r>
            <a:endParaRPr lang="en-US" altLang="zh-CN" sz="1800" dirty="0" smtClean="0">
              <a:solidFill>
                <a:schemeClr val="tx1"/>
              </a:solidFill>
              <a:latin typeface="微軟正黑體" pitchFamily="34" charset="-120"/>
            </a:endParaRPr>
          </a:p>
          <a:p>
            <a:endParaRPr lang="en-US" altLang="zh-CN" sz="2000" dirty="0" smtClean="0">
              <a:solidFill>
                <a:schemeClr val="tx1"/>
              </a:solidFill>
              <a:latin typeface="微軟正黑體" pitchFamily="34" charset="-120"/>
            </a:endParaRPr>
          </a:p>
        </p:txBody>
      </p:sp>
      <p:pic>
        <p:nvPicPr>
          <p:cNvPr id="5122" name="Picture 2"/>
          <p:cNvPicPr>
            <a:picLocks noChangeAspect="1" noChangeArrowheads="1"/>
          </p:cNvPicPr>
          <p:nvPr/>
        </p:nvPicPr>
        <p:blipFill>
          <a:blip r:embed="rId2" cstate="print"/>
          <a:srcRect/>
          <a:stretch>
            <a:fillRect/>
          </a:stretch>
        </p:blipFill>
        <p:spPr bwMode="auto">
          <a:xfrm>
            <a:off x="2051720" y="4581128"/>
            <a:ext cx="4906963" cy="1656184"/>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zh-TW" altLang="en-US" sz="2800" dirty="0" smtClean="0">
                <a:solidFill>
                  <a:srgbClr val="6600FF"/>
                </a:solidFill>
                <a:effectLst>
                  <a:outerShdw blurRad="38100" dist="38100" dir="2700000" algn="tl">
                    <a:srgbClr val="000000">
                      <a:alpha val="43137"/>
                    </a:srgbClr>
                  </a:outerShdw>
                </a:effectLst>
                <a:cs typeface="Verdana" pitchFamily="34" charset="0"/>
              </a:rPr>
              <a:t>如何設置睡眠 </a:t>
            </a:r>
            <a:r>
              <a:rPr lang="en-US" altLang="zh-TW" sz="2800" dirty="0" smtClean="0">
                <a:solidFill>
                  <a:srgbClr val="6600FF"/>
                </a:solidFill>
                <a:effectLst>
                  <a:outerShdw blurRad="38100" dist="38100" dir="2700000" algn="tl">
                    <a:srgbClr val="000000">
                      <a:alpha val="43137"/>
                    </a:srgbClr>
                  </a:outerShdw>
                </a:effectLst>
                <a:ea typeface="Verdana" pitchFamily="34" charset="0"/>
                <a:cs typeface="Verdana" pitchFamily="34" charset="0"/>
              </a:rPr>
              <a:t>(SLEEP) </a:t>
            </a:r>
            <a:r>
              <a:rPr lang="zh-TW" altLang="en-US" sz="2800" dirty="0" smtClean="0">
                <a:solidFill>
                  <a:srgbClr val="6600FF"/>
                </a:solidFill>
                <a:effectLst>
                  <a:outerShdw blurRad="38100" dist="38100" dir="2700000" algn="tl">
                    <a:srgbClr val="000000">
                      <a:alpha val="43137"/>
                    </a:srgbClr>
                  </a:outerShdw>
                </a:effectLst>
                <a:cs typeface="Verdana" pitchFamily="34" charset="0"/>
              </a:rPr>
              <a:t>功能</a:t>
            </a:r>
            <a:endParaRPr lang="zh-TW" altLang="en-US" sz="2800" dirty="0">
              <a:solidFill>
                <a:srgbClr val="6600FF"/>
              </a:solidFill>
              <a:effectLst>
                <a:outerShdw blurRad="38100" dist="38100" dir="2700000" algn="tl">
                  <a:srgbClr val="000000">
                    <a:alpha val="43137"/>
                  </a:srgbClr>
                </a:outerShdw>
              </a:effectLst>
              <a:cs typeface="Verdana" pitchFamily="34" charset="0"/>
            </a:endParaRPr>
          </a:p>
        </p:txBody>
      </p:sp>
      <p:sp>
        <p:nvSpPr>
          <p:cNvPr id="3" name="內容版面配置區 2"/>
          <p:cNvSpPr>
            <a:spLocks noGrp="1"/>
          </p:cNvSpPr>
          <p:nvPr>
            <p:ph idx="1"/>
          </p:nvPr>
        </p:nvSpPr>
        <p:spPr>
          <a:xfrm>
            <a:off x="457200" y="980728"/>
            <a:ext cx="8229600" cy="4525963"/>
          </a:xfrm>
        </p:spPr>
        <p:txBody>
          <a:bodyPr/>
          <a:lstStyle/>
          <a:p>
            <a:r>
              <a:rPr lang="en-US" altLang="zh-CN" sz="1800" dirty="0" smtClean="0">
                <a:latin typeface="微軟正黑體" pitchFamily="34" charset="-120"/>
              </a:rPr>
              <a:t>bq76PL536A</a:t>
            </a:r>
            <a:r>
              <a:rPr lang="zh-CN" altLang="en-US" sz="1800" dirty="0" smtClean="0">
                <a:latin typeface="微軟正黑體" pitchFamily="34" charset="-120"/>
              </a:rPr>
              <a:t>为主机提供了一种通过设定</a:t>
            </a:r>
            <a:r>
              <a:rPr lang="en-US" altLang="zh-CN" sz="1800" dirty="0" smtClean="0">
                <a:latin typeface="微軟正黑體" pitchFamily="34" charset="-120"/>
              </a:rPr>
              <a:t>IO_CONTROL[SLEEP] </a:t>
            </a:r>
            <a:r>
              <a:rPr lang="zh-CN" altLang="en-US" sz="1800" dirty="0" smtClean="0">
                <a:latin typeface="微軟正黑體" pitchFamily="34" charset="-120"/>
              </a:rPr>
              <a:t>位而把器件置于低功耗睡眠状态的机制。当此位被设定</a:t>
            </a:r>
            <a:r>
              <a:rPr lang="en-US" altLang="zh-CN" sz="1800" dirty="0" smtClean="0">
                <a:latin typeface="微軟正黑體" pitchFamily="34" charset="-120"/>
              </a:rPr>
              <a:t>/</a:t>
            </a:r>
            <a:r>
              <a:rPr lang="zh-CN" altLang="en-US" sz="1800" dirty="0" smtClean="0">
                <a:latin typeface="微軟正黑體" pitchFamily="34" charset="-120"/>
              </a:rPr>
              <a:t>复位时，将发生以下动作：</a:t>
            </a:r>
            <a:endParaRPr lang="en-US" altLang="zh-CN" sz="1800" dirty="0" smtClean="0">
              <a:latin typeface="微軟正黑體" pitchFamily="34" charset="-120"/>
            </a:endParaRPr>
          </a:p>
          <a:p>
            <a:pPr lvl="1"/>
            <a:r>
              <a:rPr lang="zh-CN" altLang="en-US" sz="1600" dirty="0" smtClean="0">
                <a:latin typeface="微軟正黑體" pitchFamily="34" charset="-120"/>
              </a:rPr>
              <a:t>睡眠状态进入（</a:t>
            </a:r>
            <a:r>
              <a:rPr lang="en-US" altLang="zh-TW" sz="1600" dirty="0" smtClean="0">
                <a:latin typeface="微軟正黑體" pitchFamily="34" charset="-120"/>
              </a:rPr>
              <a:t>SLEEP</a:t>
            </a:r>
            <a:r>
              <a:rPr lang="zh-CN" altLang="en-US" sz="1600" dirty="0" smtClean="0">
                <a:latin typeface="微軟正黑體" pitchFamily="34" charset="-120"/>
              </a:rPr>
              <a:t>位设置）</a:t>
            </a:r>
            <a:endParaRPr lang="en-US" altLang="zh-CN" sz="1600" dirty="0" smtClean="0">
              <a:latin typeface="微軟正黑體" pitchFamily="34" charset="-120"/>
            </a:endParaRPr>
          </a:p>
          <a:p>
            <a:pPr lvl="2"/>
            <a:r>
              <a:rPr lang="zh-CN" altLang="en-US" sz="1200" dirty="0" smtClean="0">
                <a:latin typeface="微軟正黑體" pitchFamily="34" charset="-120"/>
              </a:rPr>
              <a:t>如果某个转换正在进行之中，则器件将等待其结束，然后设定</a:t>
            </a:r>
            <a:r>
              <a:rPr lang="en-US" altLang="zh-CN" sz="1200" dirty="0" smtClean="0">
                <a:latin typeface="微軟正黑體" pitchFamily="34" charset="-120"/>
              </a:rPr>
              <a:t>DRDY</a:t>
            </a:r>
            <a:r>
              <a:rPr lang="zh-CN" altLang="en-US" sz="1200" dirty="0" smtClean="0">
                <a:latin typeface="微軟正黑體" pitchFamily="34" charset="-120"/>
              </a:rPr>
              <a:t>为“</a:t>
            </a:r>
            <a:r>
              <a:rPr lang="en-US" altLang="zh-TW" sz="1200" dirty="0" smtClean="0">
                <a:latin typeface="微軟正黑體" pitchFamily="34" charset="-120"/>
              </a:rPr>
              <a:t>H</a:t>
            </a:r>
            <a:r>
              <a:rPr lang="zh-CN" altLang="en-US" sz="1200" dirty="0" smtClean="0">
                <a:latin typeface="微軟正黑體" pitchFamily="34" charset="-120"/>
              </a:rPr>
              <a:t>”（高电平）。</a:t>
            </a:r>
            <a:endParaRPr lang="en-US" altLang="zh-CN" sz="1200" dirty="0" smtClean="0">
              <a:latin typeface="微軟正黑體" pitchFamily="34" charset="-120"/>
            </a:endParaRPr>
          </a:p>
          <a:p>
            <a:pPr lvl="2"/>
            <a:r>
              <a:rPr lang="zh-TW" altLang="en-US" sz="1200" dirty="0" smtClean="0">
                <a:latin typeface="微軟正黑體" pitchFamily="34" charset="-120"/>
              </a:rPr>
              <a:t>器件设定</a:t>
            </a:r>
            <a:r>
              <a:rPr lang="en-US" altLang="zh-TW" sz="1200" dirty="0" smtClean="0">
                <a:latin typeface="微軟正黑體" pitchFamily="34" charset="-120"/>
              </a:rPr>
              <a:t>ALERT_STATUS[SLEEP] </a:t>
            </a:r>
            <a:r>
              <a:rPr lang="zh-TW" altLang="en-US" sz="1200" dirty="0" smtClean="0">
                <a:latin typeface="微軟正黑體" pitchFamily="34" charset="-120"/>
              </a:rPr>
              <a:t>位，而这又导致</a:t>
            </a:r>
            <a:r>
              <a:rPr lang="en-US" altLang="zh-TW" sz="1200" dirty="0" smtClean="0">
                <a:latin typeface="微軟正黑體" pitchFamily="34" charset="-120"/>
              </a:rPr>
              <a:t>ALERT</a:t>
            </a:r>
            <a:r>
              <a:rPr lang="zh-TW" altLang="en-US" sz="1200" dirty="0" smtClean="0">
                <a:latin typeface="微軟正黑體" pitchFamily="34" charset="-120"/>
              </a:rPr>
              <a:t>引脚被置为有效。</a:t>
            </a:r>
            <a:endParaRPr lang="en-US" altLang="zh-TW" sz="1200" dirty="0" smtClean="0">
              <a:latin typeface="微軟正黑體" pitchFamily="34" charset="-120"/>
            </a:endParaRPr>
          </a:p>
          <a:p>
            <a:pPr lvl="2"/>
            <a:r>
              <a:rPr lang="zh-TW" altLang="en-US" sz="1200" dirty="0" smtClean="0">
                <a:latin typeface="微軟正黑體" pitchFamily="34" charset="-120"/>
              </a:rPr>
              <a:t>器件断开所有其他的</a:t>
            </a:r>
            <a:r>
              <a:rPr lang="en-US" altLang="zh-TW" sz="1200" dirty="0" smtClean="0">
                <a:latin typeface="微軟正黑體" pitchFamily="34" charset="-120"/>
              </a:rPr>
              <a:t>FAULT</a:t>
            </a:r>
            <a:r>
              <a:rPr lang="zh-TW" altLang="en-US" sz="1200" dirty="0" smtClean="0">
                <a:latin typeface="微軟正黑體" pitchFamily="34" charset="-120"/>
              </a:rPr>
              <a:t>或</a:t>
            </a:r>
            <a:r>
              <a:rPr lang="en-US" altLang="zh-TW" sz="1200" dirty="0" smtClean="0">
                <a:latin typeface="微軟正黑體" pitchFamily="34" charset="-120"/>
              </a:rPr>
              <a:t>ALERT</a:t>
            </a:r>
            <a:r>
              <a:rPr lang="zh-TW" altLang="en-US" sz="1200" dirty="0" smtClean="0">
                <a:latin typeface="微軟正黑體" pitchFamily="34" charset="-120"/>
              </a:rPr>
              <a:t>电源（</a:t>
            </a:r>
            <a:r>
              <a:rPr lang="en-US" altLang="zh-TW" sz="1200" dirty="0" smtClean="0">
                <a:latin typeface="微軟正黑體" pitchFamily="34" charset="-120"/>
              </a:rPr>
              <a:t>ALERT[SLEEP] </a:t>
            </a:r>
            <a:r>
              <a:rPr lang="zh-TW" altLang="en-US" sz="1200" dirty="0" smtClean="0">
                <a:latin typeface="微軟正黑體" pitchFamily="34" charset="-120"/>
              </a:rPr>
              <a:t>除外）。</a:t>
            </a:r>
            <a:r>
              <a:rPr lang="en-US" altLang="zh-TW" sz="1200" dirty="0" smtClean="0">
                <a:latin typeface="微軟正黑體" pitchFamily="34" charset="-120"/>
              </a:rPr>
              <a:t>FAULT</a:t>
            </a:r>
            <a:r>
              <a:rPr lang="zh-TW" altLang="en-US" sz="1200" dirty="0" smtClean="0">
                <a:latin typeface="微軟正黑體" pitchFamily="34" charset="-120"/>
              </a:rPr>
              <a:t>和</a:t>
            </a:r>
            <a:r>
              <a:rPr lang="en-US" altLang="zh-TW" sz="1200" dirty="0" smtClean="0">
                <a:latin typeface="微軟正黑體" pitchFamily="34" charset="-120"/>
              </a:rPr>
              <a:t>ALERT</a:t>
            </a:r>
            <a:r>
              <a:rPr lang="zh-TW" altLang="en-US" sz="1200" dirty="0" smtClean="0">
                <a:latin typeface="微軟正黑體" pitchFamily="34" charset="-120"/>
              </a:rPr>
              <a:t>寄存器的现有状态被保存。</a:t>
            </a:r>
            <a:endParaRPr lang="en-US" altLang="zh-TW" sz="1200" dirty="0" smtClean="0">
              <a:latin typeface="微軟正黑體" pitchFamily="34" charset="-120"/>
            </a:endParaRPr>
          </a:p>
          <a:p>
            <a:pPr lvl="2"/>
            <a:r>
              <a:rPr lang="zh-CN" altLang="en-US" sz="1200" dirty="0" smtClean="0">
                <a:latin typeface="微軟正黑體" pitchFamily="34" charset="-120"/>
              </a:rPr>
              <a:t>主机应对正在设置的</a:t>
            </a:r>
            <a:r>
              <a:rPr lang="en-US" altLang="zh-CN" sz="1200" dirty="0" smtClean="0">
                <a:latin typeface="微軟正黑體" pitchFamily="34" charset="-120"/>
              </a:rPr>
              <a:t>SLEEP</a:t>
            </a:r>
            <a:r>
              <a:rPr lang="zh-CN" altLang="en-US" sz="1200" dirty="0" smtClean="0">
                <a:latin typeface="微軟正黑體" pitchFamily="34" charset="-120"/>
              </a:rPr>
              <a:t>位所产生的</a:t>
            </a:r>
            <a:r>
              <a:rPr lang="en-US" altLang="zh-CN" sz="1200" dirty="0" smtClean="0">
                <a:latin typeface="微軟正黑體" pitchFamily="34" charset="-120"/>
              </a:rPr>
              <a:t>ALERT</a:t>
            </a:r>
            <a:r>
              <a:rPr lang="zh-CN" altLang="en-US" sz="1200" dirty="0" smtClean="0">
                <a:latin typeface="微軟正黑體" pitchFamily="34" charset="-120"/>
              </a:rPr>
              <a:t>进行管理和复位，以通过写一个“</a:t>
            </a:r>
            <a:r>
              <a:rPr lang="en-US" altLang="zh-CN" sz="1200" dirty="0" smtClean="0">
                <a:latin typeface="微軟正黑體" pitchFamily="34" charset="-120"/>
              </a:rPr>
              <a:t>1”</a:t>
            </a:r>
            <a:r>
              <a:rPr lang="zh-CN" altLang="en-US" sz="1200" dirty="0" smtClean="0">
                <a:latin typeface="微軟正黑體" pitchFamily="34" charset="-120"/>
              </a:rPr>
              <a:t>至</a:t>
            </a:r>
            <a:r>
              <a:rPr lang="en-US" altLang="zh-CN" sz="1200" dirty="0" smtClean="0">
                <a:latin typeface="微軟正黑體" pitchFamily="34" charset="-120"/>
              </a:rPr>
              <a:t>ALERT[SLEEP] </a:t>
            </a:r>
            <a:r>
              <a:rPr lang="zh-CN" altLang="en-US" sz="1200" dirty="0" smtClean="0">
                <a:latin typeface="微軟正黑體" pitchFamily="34" charset="-120"/>
              </a:rPr>
              <a:t>、并随后写一个“</a:t>
            </a:r>
            <a:r>
              <a:rPr lang="en-US" altLang="zh-CN" sz="1200" dirty="0" smtClean="0">
                <a:latin typeface="微軟正黑體" pitchFamily="34" charset="-120"/>
              </a:rPr>
              <a:t>0”</a:t>
            </a:r>
            <a:r>
              <a:rPr lang="zh-CN" altLang="en-US" sz="1200" dirty="0" smtClean="0">
                <a:latin typeface="微軟正黑體" pitchFamily="34" charset="-120"/>
              </a:rPr>
              <a:t>至</a:t>
            </a:r>
            <a:r>
              <a:rPr lang="en-US" altLang="zh-CN" sz="1200" dirty="0" smtClean="0">
                <a:latin typeface="微軟正黑體" pitchFamily="34" charset="-120"/>
              </a:rPr>
              <a:t>ALERT[SLEEP] </a:t>
            </a:r>
            <a:r>
              <a:rPr lang="zh-CN" altLang="en-US" sz="1200" dirty="0" smtClean="0">
                <a:latin typeface="微軟正黑體" pitchFamily="34" charset="-120"/>
              </a:rPr>
              <a:t>来最大限度地减小</a:t>
            </a:r>
            <a:r>
              <a:rPr lang="en-US" altLang="zh-CN" sz="1200" dirty="0" smtClean="0">
                <a:latin typeface="微軟正黑體" pitchFamily="34" charset="-120"/>
              </a:rPr>
              <a:t>SLEEP</a:t>
            </a:r>
            <a:r>
              <a:rPr lang="zh-CN" altLang="en-US" sz="1200" dirty="0" smtClean="0">
                <a:latin typeface="微軟正黑體" pitchFamily="34" charset="-120"/>
              </a:rPr>
              <a:t>状态的吸收电流。</a:t>
            </a:r>
            <a:endParaRPr lang="en-US" altLang="zh-CN" sz="1200" dirty="0" smtClean="0">
              <a:latin typeface="微軟正黑體" pitchFamily="34" charset="-120"/>
            </a:endParaRPr>
          </a:p>
          <a:p>
            <a:pPr lvl="2"/>
            <a:r>
              <a:rPr lang="en-US" altLang="zh-CN" sz="1200" dirty="0" smtClean="0">
                <a:latin typeface="微軟正黑體" pitchFamily="34" charset="-120"/>
              </a:rPr>
              <a:t>REG50 LDO</a:t>
            </a:r>
            <a:r>
              <a:rPr lang="zh-CN" altLang="en-US" sz="1200" dirty="0" smtClean="0">
                <a:latin typeface="微軟正黑體" pitchFamily="34" charset="-120"/>
              </a:rPr>
              <a:t>被关断且输出被允许浮置。</a:t>
            </a:r>
            <a:r>
              <a:rPr lang="en-US" altLang="zh-CN" sz="1200" dirty="0" smtClean="0">
                <a:latin typeface="微軟正黑體" pitchFamily="34" charset="-120"/>
              </a:rPr>
              <a:t>ADC</a:t>
            </a:r>
            <a:r>
              <a:rPr lang="zh-CN" altLang="en-US" sz="1200" dirty="0" smtClean="0">
                <a:latin typeface="微軟正黑體" pitchFamily="34" charset="-120"/>
              </a:rPr>
              <a:t>、其基准和时钟被停用。</a:t>
            </a:r>
            <a:r>
              <a:rPr lang="en-US" altLang="zh-CN" sz="1200" dirty="0" smtClean="0">
                <a:latin typeface="微軟正黑體" pitchFamily="34" charset="-120"/>
              </a:rPr>
              <a:t>COV</a:t>
            </a:r>
            <a:r>
              <a:rPr lang="zh-CN" altLang="en-US" sz="1200" dirty="0" smtClean="0">
                <a:latin typeface="微軟正黑體" pitchFamily="34" charset="-120"/>
              </a:rPr>
              <a:t>、</a:t>
            </a:r>
            <a:r>
              <a:rPr lang="en-US" altLang="zh-CN" sz="1200" dirty="0" smtClean="0">
                <a:latin typeface="微軟正黑體" pitchFamily="34" charset="-120"/>
              </a:rPr>
              <a:t>CUV</a:t>
            </a:r>
            <a:r>
              <a:rPr lang="zh-CN" altLang="en-US" sz="1200" dirty="0" smtClean="0">
                <a:latin typeface="微軟正黑體" pitchFamily="34" charset="-120"/>
              </a:rPr>
              <a:t>和</a:t>
            </a:r>
            <a:r>
              <a:rPr lang="en-US" altLang="zh-CN" sz="1200" dirty="0" smtClean="0">
                <a:latin typeface="微軟正黑體" pitchFamily="34" charset="-120"/>
              </a:rPr>
              <a:t>OT</a:t>
            </a:r>
            <a:r>
              <a:rPr lang="zh-CN" altLang="en-US" sz="1200" dirty="0" smtClean="0">
                <a:latin typeface="微軟正黑體" pitchFamily="34" charset="-120"/>
              </a:rPr>
              <a:t>电路被停用，而且其带隙基准被关断。</a:t>
            </a:r>
            <a:endParaRPr lang="en-US" altLang="zh-CN" sz="1200" dirty="0" smtClean="0">
              <a:latin typeface="微軟正黑體" pitchFamily="34" charset="-120"/>
            </a:endParaRPr>
          </a:p>
          <a:p>
            <a:pPr lvl="2">
              <a:buNone/>
            </a:pPr>
            <a:r>
              <a:rPr lang="zh-TW" altLang="en-US" sz="1200" dirty="0" smtClean="0">
                <a:solidFill>
                  <a:srgbClr val="FF0000"/>
                </a:solidFill>
                <a:latin typeface="微軟正黑體" pitchFamily="34" charset="-120"/>
              </a:rPr>
              <a:t>      </a:t>
            </a:r>
            <a:r>
              <a:rPr lang="zh-CN" altLang="en-US" sz="1200" dirty="0" smtClean="0">
                <a:solidFill>
                  <a:srgbClr val="FF0000"/>
                </a:solidFill>
                <a:latin typeface="微軟正黑體" pitchFamily="34" charset="-120"/>
              </a:rPr>
              <a:t>这实际上取消了电池的保护及监视；设计人员应采取必要的设计步骤和检验方法来确保电池不会被系统的其他部件或使用特性置于一种不安全的状况之下。</a:t>
            </a:r>
            <a:endParaRPr lang="en-US" altLang="zh-CN" sz="1200" dirty="0" smtClean="0">
              <a:solidFill>
                <a:srgbClr val="FF0000"/>
              </a:solidFill>
              <a:latin typeface="微軟正黑體" pitchFamily="34" charset="-120"/>
            </a:endParaRPr>
          </a:p>
          <a:p>
            <a:pPr lvl="1"/>
            <a:r>
              <a:rPr lang="zh-CN" altLang="en-US" sz="1600" dirty="0" smtClean="0">
                <a:solidFill>
                  <a:schemeClr val="tx1"/>
                </a:solidFill>
                <a:latin typeface="微軟正黑體" pitchFamily="34" charset="-120"/>
              </a:rPr>
              <a:t>睡眠状态退出（</a:t>
            </a:r>
            <a:r>
              <a:rPr lang="en-US" altLang="zh-TW" sz="1600" dirty="0" smtClean="0">
                <a:solidFill>
                  <a:schemeClr val="tx1"/>
                </a:solidFill>
                <a:latin typeface="微軟正黑體" pitchFamily="34" charset="-120"/>
              </a:rPr>
              <a:t>SLEEP</a:t>
            </a:r>
            <a:r>
              <a:rPr lang="zh-CN" altLang="en-US" sz="1600" dirty="0" smtClean="0">
                <a:solidFill>
                  <a:schemeClr val="tx1"/>
                </a:solidFill>
                <a:latin typeface="微軟正黑體" pitchFamily="34" charset="-120"/>
              </a:rPr>
              <a:t>位复位）</a:t>
            </a:r>
            <a:endParaRPr lang="en-US" altLang="zh-CN" sz="1600" dirty="0" smtClean="0">
              <a:solidFill>
                <a:schemeClr val="tx1"/>
              </a:solidFill>
              <a:latin typeface="微軟正黑體" pitchFamily="34" charset="-120"/>
            </a:endParaRPr>
          </a:p>
          <a:p>
            <a:pPr lvl="2"/>
            <a:r>
              <a:rPr lang="en-US" altLang="zh-TW" sz="1200" dirty="0" smtClean="0">
                <a:solidFill>
                  <a:schemeClr val="tx1"/>
                </a:solidFill>
                <a:latin typeface="微軟正黑體" pitchFamily="34" charset="-120"/>
              </a:rPr>
              <a:t>VREG50</a:t>
            </a:r>
            <a:r>
              <a:rPr lang="zh-TW" altLang="en-US" sz="1200" dirty="0" smtClean="0">
                <a:solidFill>
                  <a:schemeClr val="tx1"/>
                </a:solidFill>
                <a:latin typeface="微軟正黑體" pitchFamily="34" charset="-120"/>
              </a:rPr>
              <a:t>操作被恢复。</a:t>
            </a:r>
            <a:endParaRPr lang="en-US" altLang="zh-TW" sz="1200" dirty="0" smtClean="0">
              <a:solidFill>
                <a:schemeClr val="tx1"/>
              </a:solidFill>
              <a:latin typeface="微軟正黑體" pitchFamily="34" charset="-120"/>
            </a:endParaRPr>
          </a:p>
          <a:p>
            <a:pPr lvl="2"/>
            <a:r>
              <a:rPr lang="en-US" altLang="zh-CN" sz="1200" dirty="0" smtClean="0">
                <a:solidFill>
                  <a:schemeClr val="tx1"/>
                </a:solidFill>
                <a:latin typeface="微軟正黑體" pitchFamily="34" charset="-120"/>
              </a:rPr>
              <a:t>COV</a:t>
            </a:r>
            <a:r>
              <a:rPr lang="zh-CN" altLang="en-US" sz="1200" dirty="0" smtClean="0">
                <a:solidFill>
                  <a:schemeClr val="tx1"/>
                </a:solidFill>
                <a:latin typeface="微軟正黑體" pitchFamily="34" charset="-120"/>
              </a:rPr>
              <a:t>、</a:t>
            </a:r>
            <a:r>
              <a:rPr lang="en-US" altLang="zh-CN" sz="1200" dirty="0" smtClean="0">
                <a:solidFill>
                  <a:schemeClr val="tx1"/>
                </a:solidFill>
                <a:latin typeface="微軟正黑體" pitchFamily="34" charset="-120"/>
              </a:rPr>
              <a:t>CUV</a:t>
            </a:r>
            <a:r>
              <a:rPr lang="zh-CN" altLang="en-US" sz="1200" dirty="0" smtClean="0">
                <a:solidFill>
                  <a:schemeClr val="tx1"/>
                </a:solidFill>
                <a:latin typeface="微軟正黑體" pitchFamily="34" charset="-120"/>
              </a:rPr>
              <a:t>、</a:t>
            </a:r>
            <a:r>
              <a:rPr lang="en-US" altLang="zh-CN" sz="1200" dirty="0" smtClean="0">
                <a:solidFill>
                  <a:schemeClr val="tx1"/>
                </a:solidFill>
                <a:latin typeface="微軟正黑體" pitchFamily="34" charset="-120"/>
              </a:rPr>
              <a:t>OT</a:t>
            </a:r>
            <a:r>
              <a:rPr lang="zh-CN" altLang="en-US" sz="1200" dirty="0" smtClean="0">
                <a:solidFill>
                  <a:schemeClr val="tx1"/>
                </a:solidFill>
                <a:latin typeface="微軟正黑體" pitchFamily="34" charset="-120"/>
              </a:rPr>
              <a:t>电路被重新启用。</a:t>
            </a:r>
            <a:endParaRPr lang="en-US" altLang="zh-CN" sz="1200" dirty="0" smtClean="0">
              <a:solidFill>
                <a:schemeClr val="tx1"/>
              </a:solidFill>
              <a:latin typeface="微軟正黑體" pitchFamily="34" charset="-120"/>
            </a:endParaRPr>
          </a:p>
          <a:p>
            <a:pPr lvl="2"/>
            <a:r>
              <a:rPr lang="en-US" altLang="zh-CN" sz="1200" dirty="0" smtClean="0">
                <a:solidFill>
                  <a:schemeClr val="tx1"/>
                </a:solidFill>
                <a:latin typeface="微軟正黑體" pitchFamily="34" charset="-120"/>
              </a:rPr>
              <a:t>ADC</a:t>
            </a:r>
            <a:r>
              <a:rPr lang="zh-CN" altLang="en-US" sz="1200" dirty="0" smtClean="0">
                <a:solidFill>
                  <a:schemeClr val="tx1"/>
                </a:solidFill>
                <a:latin typeface="微軟正黑體" pitchFamily="34" charset="-120"/>
              </a:rPr>
              <a:t>电路恢复至其先前的状态。需要注意：</a:t>
            </a:r>
            <a:r>
              <a:rPr lang="en-US" altLang="zh-CN" sz="1200" dirty="0" smtClean="0">
                <a:solidFill>
                  <a:schemeClr val="tx1"/>
                </a:solidFill>
                <a:latin typeface="微軟正黑體" pitchFamily="34" charset="-120"/>
              </a:rPr>
              <a:t>ADC</a:t>
            </a:r>
            <a:r>
              <a:rPr lang="zh-CN" altLang="en-US" sz="1200" dirty="0" smtClean="0">
                <a:solidFill>
                  <a:schemeClr val="tx1"/>
                </a:solidFill>
                <a:latin typeface="微軟正黑體" pitchFamily="34" charset="-120"/>
              </a:rPr>
              <a:t>的启用存在一个预热延迟，该延迟与针对从冷开机状态的启用所规定的延迟相同。</a:t>
            </a:r>
            <a:endParaRPr lang="en-US" altLang="zh-CN" sz="1200" dirty="0" smtClean="0">
              <a:solidFill>
                <a:schemeClr val="tx1"/>
              </a:solidFill>
              <a:latin typeface="微軟正黑體" pitchFamily="34" charset="-120"/>
            </a:endParaRPr>
          </a:p>
          <a:p>
            <a:pPr lvl="2"/>
            <a:r>
              <a:rPr lang="en-US" altLang="zh-TW" sz="1200" dirty="0" smtClean="0">
                <a:solidFill>
                  <a:schemeClr val="tx1"/>
                </a:solidFill>
                <a:latin typeface="微軟正黑體" pitchFamily="34" charset="-120"/>
              </a:rPr>
              <a:t>FAULT</a:t>
            </a:r>
            <a:r>
              <a:rPr lang="zh-TW" altLang="en-US" sz="1200" dirty="0" smtClean="0">
                <a:solidFill>
                  <a:schemeClr val="tx1"/>
                </a:solidFill>
                <a:latin typeface="微軟正黑體" pitchFamily="34" charset="-120"/>
              </a:rPr>
              <a:t>和</a:t>
            </a:r>
            <a:r>
              <a:rPr lang="en-US" altLang="zh-TW" sz="1200" dirty="0" smtClean="0">
                <a:solidFill>
                  <a:schemeClr val="tx1"/>
                </a:solidFill>
                <a:latin typeface="微軟正黑體" pitchFamily="34" charset="-120"/>
              </a:rPr>
              <a:t>ALERT</a:t>
            </a:r>
            <a:r>
              <a:rPr lang="zh-TW" altLang="en-US" sz="1200" dirty="0" smtClean="0">
                <a:solidFill>
                  <a:schemeClr val="tx1"/>
                </a:solidFill>
                <a:latin typeface="微軟正黑體" pitchFamily="34" charset="-120"/>
              </a:rPr>
              <a:t>寄存器恢复至其</a:t>
            </a:r>
            <a:r>
              <a:rPr lang="en-US" altLang="zh-TW" sz="1200" dirty="0" smtClean="0">
                <a:solidFill>
                  <a:schemeClr val="tx1"/>
                </a:solidFill>
                <a:latin typeface="微軟正黑體" pitchFamily="34" charset="-120"/>
              </a:rPr>
              <a:t>SLEEP</a:t>
            </a:r>
            <a:r>
              <a:rPr lang="zh-TW" altLang="en-US" sz="1200" dirty="0" smtClean="0">
                <a:solidFill>
                  <a:schemeClr val="tx1"/>
                </a:solidFill>
                <a:latin typeface="微軟正黑體" pitchFamily="34" charset="-120"/>
              </a:rPr>
              <a:t>之前的状态。如果在</a:t>
            </a:r>
            <a:r>
              <a:rPr lang="en-US" altLang="zh-TW" sz="1200" dirty="0" smtClean="0">
                <a:solidFill>
                  <a:schemeClr val="tx1"/>
                </a:solidFill>
                <a:latin typeface="微軟正黑體" pitchFamily="34" charset="-120"/>
              </a:rPr>
              <a:t>SLEEP</a:t>
            </a:r>
            <a:r>
              <a:rPr lang="zh-TW" altLang="en-US" sz="1200" dirty="0" smtClean="0">
                <a:solidFill>
                  <a:schemeClr val="tx1"/>
                </a:solidFill>
                <a:latin typeface="微軟正黑體" pitchFamily="34" charset="-120"/>
              </a:rPr>
              <a:t>之前存在某种</a:t>
            </a:r>
            <a:r>
              <a:rPr lang="en-US" altLang="zh-TW" sz="1200" dirty="0" smtClean="0">
                <a:solidFill>
                  <a:schemeClr val="tx1"/>
                </a:solidFill>
                <a:latin typeface="微軟正黑體" pitchFamily="34" charset="-120"/>
              </a:rPr>
              <a:t>FAULT</a:t>
            </a:r>
            <a:r>
              <a:rPr lang="zh-TW" altLang="en-US" sz="1200" dirty="0" smtClean="0">
                <a:solidFill>
                  <a:schemeClr val="tx1"/>
                </a:solidFill>
                <a:latin typeface="微軟正黑體" pitchFamily="34" charset="-120"/>
              </a:rPr>
              <a:t>或</a:t>
            </a:r>
            <a:r>
              <a:rPr lang="en-US" altLang="zh-TW" sz="1200" dirty="0" smtClean="0">
                <a:solidFill>
                  <a:schemeClr val="tx1"/>
                </a:solidFill>
                <a:latin typeface="微軟正黑體" pitchFamily="34" charset="-120"/>
              </a:rPr>
              <a:t>ALERT</a:t>
            </a:r>
            <a:r>
              <a:rPr lang="zh-TW" altLang="en-US" sz="1200" dirty="0" smtClean="0">
                <a:solidFill>
                  <a:schemeClr val="tx1"/>
                </a:solidFill>
                <a:latin typeface="微軟正黑體" pitchFamily="34" charset="-120"/>
              </a:rPr>
              <a:t>情况，则</a:t>
            </a:r>
            <a:r>
              <a:rPr lang="en-US" altLang="zh-TW" sz="1200" dirty="0" smtClean="0">
                <a:solidFill>
                  <a:schemeClr val="tx1"/>
                </a:solidFill>
                <a:latin typeface="微軟正黑體" pitchFamily="34" charset="-120"/>
              </a:rPr>
              <a:t>FAULT</a:t>
            </a:r>
            <a:r>
              <a:rPr lang="zh-TW" altLang="en-US" sz="1200" dirty="0" smtClean="0">
                <a:solidFill>
                  <a:schemeClr val="tx1"/>
                </a:solidFill>
                <a:latin typeface="微軟正黑體" pitchFamily="34" charset="-120"/>
              </a:rPr>
              <a:t>或</a:t>
            </a:r>
            <a:r>
              <a:rPr lang="en-US" altLang="zh-TW" sz="1200" dirty="0" smtClean="0">
                <a:solidFill>
                  <a:schemeClr val="tx1"/>
                </a:solidFill>
                <a:latin typeface="微軟正黑體" pitchFamily="34" charset="-120"/>
              </a:rPr>
              <a:t>ALERT</a:t>
            </a:r>
            <a:r>
              <a:rPr lang="zh-TW" altLang="en-US" sz="1200" dirty="0" smtClean="0">
                <a:solidFill>
                  <a:schemeClr val="tx1"/>
                </a:solidFill>
                <a:latin typeface="微軟正黑體" pitchFamily="34" charset="-120"/>
              </a:rPr>
              <a:t>引脚将被立即置为有效。</a:t>
            </a:r>
            <a:endParaRPr lang="en-US" altLang="zh-TW" sz="1200" dirty="0" smtClean="0">
              <a:solidFill>
                <a:schemeClr val="tx1"/>
              </a:solidFill>
              <a:latin typeface="微軟正黑體" pitchFamily="34" charset="-120"/>
            </a:endParaRPr>
          </a:p>
          <a:p>
            <a:pPr lvl="2"/>
            <a:r>
              <a:rPr lang="zh-TW" altLang="en-US" sz="1200" dirty="0" smtClean="0">
                <a:solidFill>
                  <a:schemeClr val="tx1"/>
                </a:solidFill>
                <a:latin typeface="微軟正黑體" pitchFamily="34" charset="-120"/>
              </a:rPr>
              <a:t>倘若需要</a:t>
            </a:r>
            <a:r>
              <a:rPr lang="en-US" altLang="zh-TW" sz="1200" dirty="0" smtClean="0">
                <a:solidFill>
                  <a:schemeClr val="tx1"/>
                </a:solidFill>
                <a:latin typeface="微軟正黑體" pitchFamily="34" charset="-120"/>
              </a:rPr>
              <a:t>OT</a:t>
            </a:r>
            <a:r>
              <a:rPr lang="zh-TW" altLang="en-US" sz="1200" dirty="0" smtClean="0">
                <a:solidFill>
                  <a:schemeClr val="tx1"/>
                </a:solidFill>
                <a:latin typeface="微軟正黑體" pitchFamily="34" charset="-120"/>
              </a:rPr>
              <a:t>功能或温度测量功能，则应由主机设定</a:t>
            </a:r>
            <a:r>
              <a:rPr lang="en-US" altLang="zh-TW" sz="1200" dirty="0" smtClean="0">
                <a:solidFill>
                  <a:schemeClr val="tx1"/>
                </a:solidFill>
                <a:latin typeface="微軟正黑體" pitchFamily="34" charset="-120"/>
              </a:rPr>
              <a:t>O_CONTROL[TS1(2)]</a:t>
            </a:r>
            <a:r>
              <a:rPr lang="zh-TW" altLang="en-US" sz="1200" dirty="0" smtClean="0">
                <a:solidFill>
                  <a:schemeClr val="tx1"/>
                </a:solidFill>
                <a:latin typeface="微軟正黑體" pitchFamily="34" charset="-120"/>
              </a:rPr>
              <a:t>。</a:t>
            </a:r>
            <a:endParaRPr lang="zh-TW" altLang="en-US" sz="1200" dirty="0">
              <a:solidFill>
                <a:schemeClr val="tx1"/>
              </a:solidFill>
              <a:latin typeface="微軟正黑體" pitchFamily="34"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384"/>
            <a:ext cx="8229600" cy="1143000"/>
          </a:xfrm>
        </p:spPr>
        <p:txBody>
          <a:bodyPr/>
          <a:lstStyle/>
          <a:p>
            <a:r>
              <a:rPr lang="en-US" altLang="zh-CN" sz="2800" dirty="0" smtClean="0">
                <a:solidFill>
                  <a:srgbClr val="6600FF"/>
                </a:solidFill>
                <a:effectLst>
                  <a:outerShdw blurRad="38100" dist="38100" dir="2700000" algn="tl">
                    <a:srgbClr val="000000">
                      <a:alpha val="43137"/>
                    </a:srgbClr>
                  </a:outerShdw>
                </a:effectLst>
                <a:ea typeface="Verdana" pitchFamily="34" charset="0"/>
                <a:cs typeface="Verdana" pitchFamily="34" charset="0"/>
              </a:rPr>
              <a:t>bq76PL536A </a:t>
            </a:r>
            <a:r>
              <a:rPr lang="zh-CN" altLang="en-US" sz="2800" dirty="0" smtClean="0">
                <a:solidFill>
                  <a:srgbClr val="6600FF"/>
                </a:solidFill>
                <a:effectLst>
                  <a:outerShdw blurRad="38100" dist="38100" dir="2700000" algn="tl">
                    <a:srgbClr val="000000">
                      <a:alpha val="43137"/>
                    </a:srgbClr>
                  </a:outerShdw>
                </a:effectLst>
                <a:cs typeface="Verdana" pitchFamily="34" charset="0"/>
              </a:rPr>
              <a:t>寄存器架构</a:t>
            </a:r>
            <a:endParaRPr lang="zh-TW" altLang="en-US" sz="2800" dirty="0">
              <a:solidFill>
                <a:srgbClr val="6600FF"/>
              </a:solidFill>
              <a:effectLst>
                <a:outerShdw blurRad="38100" dist="38100" dir="2700000" algn="tl">
                  <a:srgbClr val="000000">
                    <a:alpha val="43137"/>
                  </a:srgbClr>
                </a:outerShdw>
              </a:effectLst>
              <a:cs typeface="Verdana" pitchFamily="34" charset="0"/>
            </a:endParaRPr>
          </a:p>
        </p:txBody>
      </p:sp>
      <p:sp>
        <p:nvSpPr>
          <p:cNvPr id="5" name="內容版面配置區 4"/>
          <p:cNvSpPr>
            <a:spLocks noGrp="1"/>
          </p:cNvSpPr>
          <p:nvPr>
            <p:ph idx="1"/>
          </p:nvPr>
        </p:nvSpPr>
        <p:spPr>
          <a:xfrm>
            <a:off x="457200" y="1052736"/>
            <a:ext cx="8219256" cy="4176463"/>
          </a:xfrm>
        </p:spPr>
        <p:txBody>
          <a:bodyPr/>
          <a:lstStyle/>
          <a:p>
            <a:r>
              <a:rPr lang="en-US" altLang="zh-CN" sz="1600" dirty="0" smtClean="0">
                <a:latin typeface="微軟正黑體" pitchFamily="34" charset="-120"/>
              </a:rPr>
              <a:t>I/O</a:t>
            </a:r>
            <a:r>
              <a:rPr lang="zh-CN" altLang="en-US" sz="1600" dirty="0" smtClean="0">
                <a:latin typeface="微軟正黑體" pitchFamily="34" charset="-120"/>
              </a:rPr>
              <a:t>寄存器 </a:t>
            </a:r>
            <a:r>
              <a:rPr lang="en-US" altLang="zh-CN" sz="1600" dirty="0" smtClean="0">
                <a:latin typeface="微軟正黑體" pitchFamily="34" charset="-120"/>
              </a:rPr>
              <a:t>: </a:t>
            </a:r>
            <a:r>
              <a:rPr lang="en-US" altLang="zh-CN" sz="1200" dirty="0" smtClean="0">
                <a:latin typeface="微軟正黑體" pitchFamily="34" charset="-120"/>
              </a:rPr>
              <a:t>bq76PL536A </a:t>
            </a:r>
            <a:r>
              <a:rPr lang="zh-CN" altLang="en-US" sz="1200" dirty="0" smtClean="0">
                <a:latin typeface="微軟正黑體" pitchFamily="34" charset="-120"/>
              </a:rPr>
              <a:t>具有</a:t>
            </a:r>
            <a:r>
              <a:rPr lang="en-US" altLang="zh-CN" sz="1200" dirty="0" smtClean="0">
                <a:latin typeface="微軟正黑體" pitchFamily="34" charset="-120"/>
              </a:rPr>
              <a:t>48</a:t>
            </a:r>
            <a:r>
              <a:rPr lang="zh-CN" altLang="en-US" sz="1200" dirty="0" smtClean="0">
                <a:latin typeface="微軟正黑體" pitchFamily="34" charset="-120"/>
              </a:rPr>
              <a:t>个可寻址</a:t>
            </a:r>
            <a:r>
              <a:rPr lang="en-US" altLang="zh-CN" sz="1200" dirty="0" smtClean="0">
                <a:latin typeface="微軟正黑體" pitchFamily="34" charset="-120"/>
              </a:rPr>
              <a:t>I/O</a:t>
            </a:r>
            <a:r>
              <a:rPr lang="zh-CN" altLang="en-US" sz="1200" dirty="0" smtClean="0">
                <a:latin typeface="微軟正黑體" pitchFamily="34" charset="-120"/>
              </a:rPr>
              <a:t>寄存器。这些寄存器提供了用于电池保护系统的状态、控制和配置信息。</a:t>
            </a:r>
            <a:endParaRPr lang="en-US" altLang="zh-CN" sz="1200" dirty="0" smtClean="0">
              <a:latin typeface="微軟正黑體" pitchFamily="34" charset="-120"/>
            </a:endParaRPr>
          </a:p>
          <a:p>
            <a:r>
              <a:rPr lang="zh-TW" altLang="en-US" sz="1600" dirty="0" smtClean="0">
                <a:latin typeface="微軟正黑體" pitchFamily="34" charset="-120"/>
              </a:rPr>
              <a:t>寄存器类型 </a:t>
            </a:r>
            <a:r>
              <a:rPr lang="en-US" altLang="zh-TW" sz="1600" dirty="0" smtClean="0">
                <a:latin typeface="微軟正黑體" pitchFamily="34" charset="-120"/>
              </a:rPr>
              <a:t>:</a:t>
            </a:r>
          </a:p>
          <a:p>
            <a:pPr lvl="1"/>
            <a:r>
              <a:rPr lang="zh-TW" altLang="en-US" sz="1400" dirty="0" smtClean="0">
                <a:latin typeface="微軟正黑體" pitchFamily="34" charset="-120"/>
              </a:rPr>
              <a:t>只读型（</a:t>
            </a:r>
            <a:r>
              <a:rPr lang="en-US" altLang="zh-CN" sz="1400" dirty="0" smtClean="0">
                <a:latin typeface="微軟正黑體" pitchFamily="34" charset="-120"/>
              </a:rPr>
              <a:t>Group 1</a:t>
            </a:r>
            <a:r>
              <a:rPr lang="zh-CN" altLang="en-US" sz="1400" dirty="0" smtClean="0">
                <a:latin typeface="微軟正黑體" pitchFamily="34" charset="-120"/>
              </a:rPr>
              <a:t>） </a:t>
            </a:r>
            <a:r>
              <a:rPr lang="en-US" altLang="zh-CN" sz="1400" dirty="0" smtClean="0">
                <a:latin typeface="微軟正黑體" pitchFamily="34" charset="-120"/>
              </a:rPr>
              <a:t>: </a:t>
            </a:r>
            <a:r>
              <a:rPr lang="zh-CN" altLang="en-US" sz="1400" dirty="0" smtClean="0">
                <a:latin typeface="微軟正黑體" pitchFamily="34" charset="-120"/>
              </a:rPr>
              <a:t>此类寄存器包含转换的结果、或者由内部逻辑设定的器件状态信息。</a:t>
            </a:r>
            <a:endParaRPr lang="en-US" altLang="zh-CN" sz="1400" dirty="0" smtClean="0">
              <a:latin typeface="微軟正黑體" pitchFamily="34" charset="-120"/>
            </a:endParaRPr>
          </a:p>
          <a:p>
            <a:pPr lvl="1"/>
            <a:r>
              <a:rPr lang="zh-TW" altLang="en-US" sz="1400" dirty="0" smtClean="0">
                <a:latin typeface="微軟正黑體" pitchFamily="34" charset="-120"/>
              </a:rPr>
              <a:t>读</a:t>
            </a:r>
            <a:r>
              <a:rPr lang="en-US" altLang="zh-TW" sz="1400" dirty="0" smtClean="0">
                <a:latin typeface="微軟正黑體" pitchFamily="34" charset="-120"/>
              </a:rPr>
              <a:t>/</a:t>
            </a:r>
            <a:r>
              <a:rPr lang="zh-TW" altLang="en-US" sz="1400" dirty="0" smtClean="0">
                <a:latin typeface="微軟正黑體" pitchFamily="34" charset="-120"/>
              </a:rPr>
              <a:t>写（</a:t>
            </a:r>
            <a:r>
              <a:rPr lang="en-US" altLang="zh-CN" sz="1400" dirty="0" smtClean="0">
                <a:latin typeface="微軟正黑體" pitchFamily="34" charset="-120"/>
              </a:rPr>
              <a:t>Group 2</a:t>
            </a:r>
            <a:r>
              <a:rPr lang="zh-CN" altLang="en-US" sz="1400" dirty="0" smtClean="0">
                <a:latin typeface="微軟正黑體" pitchFamily="34" charset="-120"/>
              </a:rPr>
              <a:t>） </a:t>
            </a:r>
            <a:r>
              <a:rPr lang="en-US" altLang="zh-CN" sz="1400" dirty="0" smtClean="0">
                <a:latin typeface="微軟正黑體" pitchFamily="34" charset="-120"/>
              </a:rPr>
              <a:t>:</a:t>
            </a:r>
            <a:r>
              <a:rPr lang="zh-TW" altLang="en-US" sz="1400" dirty="0" smtClean="0">
                <a:latin typeface="微軟正黑體" pitchFamily="34" charset="-120"/>
              </a:rPr>
              <a:t>该寄存器组可改变器件的操作或特性，或者指示</a:t>
            </a:r>
            <a:r>
              <a:rPr lang="en-US" altLang="zh-CN" sz="1400" dirty="0" smtClean="0">
                <a:latin typeface="微軟正黑體" pitchFamily="34" charset="-120"/>
              </a:rPr>
              <a:t>ALERT_STATUS[] </a:t>
            </a:r>
            <a:r>
              <a:rPr lang="zh-TW" altLang="en-US" sz="1400" dirty="0" smtClean="0">
                <a:latin typeface="微軟正黑體" pitchFamily="34" charset="-120"/>
              </a:rPr>
              <a:t>及 </a:t>
            </a:r>
            <a:r>
              <a:rPr lang="en-US" altLang="zh-CN" sz="1400" dirty="0" smtClean="0">
                <a:latin typeface="微軟正黑體" pitchFamily="34" charset="-120"/>
              </a:rPr>
              <a:t>FAULT_STATUS[] </a:t>
            </a:r>
            <a:r>
              <a:rPr lang="zh-TW" altLang="en-US" sz="1400" dirty="0" smtClean="0">
                <a:latin typeface="微軟正黑體" pitchFamily="34" charset="-120"/>
              </a:rPr>
              <a:t>寄存器中的详细状态。</a:t>
            </a:r>
            <a:endParaRPr lang="en-US" altLang="zh-TW" sz="1400" dirty="0" smtClean="0">
              <a:latin typeface="微軟正黑體" pitchFamily="34" charset="-120"/>
            </a:endParaRPr>
          </a:p>
          <a:p>
            <a:pPr lvl="1"/>
            <a:r>
              <a:rPr lang="zh-TW" altLang="en-US" sz="1400" dirty="0" smtClean="0">
                <a:latin typeface="微軟正黑體" pitchFamily="34" charset="-120"/>
              </a:rPr>
              <a:t>读</a:t>
            </a:r>
            <a:r>
              <a:rPr lang="en-US" altLang="zh-TW" sz="1400" dirty="0" smtClean="0">
                <a:latin typeface="微軟正黑體" pitchFamily="34" charset="-120"/>
              </a:rPr>
              <a:t>/</a:t>
            </a:r>
            <a:r>
              <a:rPr lang="zh-TW" altLang="en-US" sz="1400" dirty="0" smtClean="0">
                <a:latin typeface="微軟正黑體" pitchFamily="34" charset="-120"/>
              </a:rPr>
              <a:t>写，依靠</a:t>
            </a:r>
            <a:r>
              <a:rPr lang="en-US" altLang="zh-CN" sz="1400" dirty="0" smtClean="0">
                <a:latin typeface="微軟正黑體" pitchFamily="34" charset="-120"/>
              </a:rPr>
              <a:t>EPROM</a:t>
            </a:r>
            <a:r>
              <a:rPr lang="zh-TW" altLang="en-US" sz="1400" dirty="0" smtClean="0">
                <a:latin typeface="微軟正黑體" pitchFamily="34" charset="-120"/>
              </a:rPr>
              <a:t>进行初始化（</a:t>
            </a:r>
            <a:r>
              <a:rPr lang="en-US" altLang="zh-CN" sz="1400" dirty="0" smtClean="0">
                <a:latin typeface="微軟正黑體" pitchFamily="34" charset="-120"/>
              </a:rPr>
              <a:t>Group3</a:t>
            </a:r>
            <a:r>
              <a:rPr lang="zh-CN" altLang="en-US" sz="1400" dirty="0" smtClean="0">
                <a:latin typeface="微軟正黑體" pitchFamily="34" charset="-120"/>
              </a:rPr>
              <a:t>） </a:t>
            </a:r>
            <a:r>
              <a:rPr lang="en-US" altLang="zh-CN" sz="1400" dirty="0" smtClean="0">
                <a:latin typeface="微軟正黑體" pitchFamily="34" charset="-120"/>
              </a:rPr>
              <a:t>: </a:t>
            </a:r>
            <a:r>
              <a:rPr lang="zh-CN" altLang="en-US" sz="1400" dirty="0" smtClean="0">
                <a:latin typeface="微軟正黑體" pitchFamily="34" charset="-120"/>
              </a:rPr>
              <a:t>此类寄存器用于控制器件配置和功能。这些寄存器只可以采用一种特殊的顺序写序列 </a:t>
            </a:r>
            <a:r>
              <a:rPr lang="en-US" altLang="zh-CN" sz="1400" dirty="0" smtClean="0">
                <a:latin typeface="微軟正黑體" pitchFamily="34" charset="-120"/>
              </a:rPr>
              <a:t>(sequential-write sequence) </a:t>
            </a:r>
            <a:r>
              <a:rPr lang="zh-CN" altLang="en-US" sz="1400" dirty="0" smtClean="0">
                <a:latin typeface="微軟正黑體" pitchFamily="34" charset="-120"/>
              </a:rPr>
              <a:t>来修改，以避免发生被意外更改的现象。在复位时 （或根据命令）从</a:t>
            </a:r>
            <a:r>
              <a:rPr lang="en-US" altLang="zh-CN" sz="1400" dirty="0" smtClean="0">
                <a:latin typeface="微軟正黑體" pitchFamily="34" charset="-120"/>
              </a:rPr>
              <a:t>EPROM</a:t>
            </a:r>
            <a:r>
              <a:rPr lang="zh-CN" altLang="en-US" sz="1400" dirty="0" smtClean="0">
                <a:latin typeface="微軟正黑體" pitchFamily="34" charset="-120"/>
              </a:rPr>
              <a:t>载入的数值可通过使用特殊的写序列临时取代。这些临时值凭借下一个复位或重新载入命令被改写 为设定的</a:t>
            </a:r>
            <a:r>
              <a:rPr lang="en-US" altLang="zh-CN" sz="1400" dirty="0" smtClean="0">
                <a:latin typeface="微軟正黑體" pitchFamily="34" charset="-120"/>
              </a:rPr>
              <a:t>EPROM</a:t>
            </a:r>
            <a:r>
              <a:rPr lang="zh-CN" altLang="en-US" sz="1400" dirty="0" smtClean="0">
                <a:latin typeface="微軟正黑體" pitchFamily="34" charset="-120"/>
              </a:rPr>
              <a:t>初始化值。</a:t>
            </a:r>
            <a:endParaRPr lang="en-US" altLang="zh-CN" sz="1400" dirty="0" smtClean="0">
              <a:latin typeface="微軟正黑體" pitchFamily="34" charset="-120"/>
            </a:endParaRPr>
          </a:p>
          <a:p>
            <a:pPr lvl="1"/>
            <a:r>
              <a:rPr lang="en-US" altLang="zh-CN" sz="1400" dirty="0" smtClean="0">
                <a:latin typeface="微軟正黑體" pitchFamily="34" charset="-120"/>
              </a:rPr>
              <a:t>EEPROM</a:t>
            </a:r>
            <a:r>
              <a:rPr lang="zh-CN" altLang="en-US" sz="1400" dirty="0" smtClean="0">
                <a:latin typeface="微軟正黑體" pitchFamily="34" charset="-120"/>
              </a:rPr>
              <a:t>存储常数的设置方法是：先将数值写入寄存器，接着把设定的电压施加至</a:t>
            </a:r>
            <a:r>
              <a:rPr lang="en-US" altLang="zh-CN" sz="1400" dirty="0" err="1" smtClean="0">
                <a:latin typeface="微軟正黑體" pitchFamily="34" charset="-120"/>
              </a:rPr>
              <a:t>LDODx</a:t>
            </a:r>
            <a:r>
              <a:rPr lang="zh-CN" altLang="en-US" sz="1400" dirty="0" smtClean="0">
                <a:latin typeface="微軟正黑體" pitchFamily="34" charset="-120"/>
              </a:rPr>
              <a:t>引脚，再把</a:t>
            </a:r>
            <a:r>
              <a:rPr lang="en-US" altLang="zh-CN" sz="1400" dirty="0" smtClean="0">
                <a:latin typeface="微軟正黑體" pitchFamily="34" charset="-120"/>
              </a:rPr>
              <a:t>EEPROM_WRITE</a:t>
            </a:r>
            <a:r>
              <a:rPr lang="zh-CN" altLang="en-US" sz="1400" dirty="0" smtClean="0">
                <a:latin typeface="微軟正黑體" pitchFamily="34" charset="-120"/>
              </a:rPr>
              <a:t>命令发布至寄存器</a:t>
            </a:r>
            <a:r>
              <a:rPr lang="en-US" altLang="zh-CN" sz="1400" dirty="0" smtClean="0">
                <a:latin typeface="微軟正黑體" pitchFamily="34" charset="-120"/>
              </a:rPr>
              <a:t>E_EN[]</a:t>
            </a:r>
            <a:r>
              <a:rPr lang="zh-CN" altLang="en-US" sz="1400" dirty="0" smtClean="0">
                <a:latin typeface="微軟正黑體" pitchFamily="34" charset="-120"/>
              </a:rPr>
              <a:t>。所有的</a:t>
            </a:r>
            <a:r>
              <a:rPr lang="en-US" altLang="zh-CN" sz="1400" dirty="0" smtClean="0">
                <a:latin typeface="微軟正黑體" pitchFamily="34" charset="-120"/>
              </a:rPr>
              <a:t>Group3</a:t>
            </a:r>
            <a:r>
              <a:rPr lang="zh-CN" altLang="en-US" sz="1400" dirty="0" smtClean="0">
                <a:latin typeface="微軟正黑體" pitchFamily="34" charset="-120"/>
              </a:rPr>
              <a:t>寄存器同时编程，而且此项操作对于一次性可编程 </a:t>
            </a:r>
            <a:r>
              <a:rPr lang="en-US" altLang="zh-CN" sz="1400" dirty="0" smtClean="0">
                <a:latin typeface="微軟正黑體" pitchFamily="34" charset="-120"/>
              </a:rPr>
              <a:t>(OTP) </a:t>
            </a:r>
            <a:r>
              <a:rPr lang="zh-CN" altLang="en-US" sz="1400" dirty="0" smtClean="0">
                <a:latin typeface="微軟正黑體" pitchFamily="34" charset="-120"/>
              </a:rPr>
              <a:t>存储单元只能执行一次。</a:t>
            </a:r>
            <a:endParaRPr lang="en-US" altLang="zh-CN" sz="1400" dirty="0" smtClean="0">
              <a:latin typeface="微軟正黑體" pitchFamily="34" charset="-120"/>
            </a:endParaRPr>
          </a:p>
          <a:p>
            <a:pPr lvl="1">
              <a:buNone/>
            </a:pPr>
            <a:r>
              <a:rPr lang="zh-TW" altLang="en-US" sz="1400" dirty="0" smtClean="0">
                <a:solidFill>
                  <a:srgbClr val="FF0000"/>
                </a:solidFill>
                <a:latin typeface="微軟正黑體" pitchFamily="34" charset="-120"/>
              </a:rPr>
              <a:t>     如欲将整个</a:t>
            </a:r>
            <a:r>
              <a:rPr lang="en-US" altLang="zh-CN" sz="1400" dirty="0" smtClean="0">
                <a:solidFill>
                  <a:srgbClr val="FF0000"/>
                </a:solidFill>
                <a:latin typeface="微軟正黑體" pitchFamily="34" charset="-120"/>
              </a:rPr>
              <a:t>Group3</a:t>
            </a:r>
            <a:r>
              <a:rPr lang="zh-TW" altLang="en-US" sz="1400" dirty="0" smtClean="0">
                <a:solidFill>
                  <a:srgbClr val="FF0000"/>
                </a:solidFill>
                <a:latin typeface="微軟正黑體" pitchFamily="34" charset="-120"/>
              </a:rPr>
              <a:t>寄存器组重新初始化为</a:t>
            </a:r>
            <a:r>
              <a:rPr lang="en-US" altLang="zh-CN" sz="1400" dirty="0" smtClean="0">
                <a:solidFill>
                  <a:srgbClr val="FF0000"/>
                </a:solidFill>
                <a:latin typeface="微軟正黑體" pitchFamily="34" charset="-120"/>
              </a:rPr>
              <a:t>EPROM</a:t>
            </a:r>
            <a:r>
              <a:rPr lang="zh-TW" altLang="en-US" sz="1400" dirty="0" smtClean="0">
                <a:solidFill>
                  <a:srgbClr val="FF0000"/>
                </a:solidFill>
                <a:latin typeface="微軟正黑體" pitchFamily="34" charset="-120"/>
              </a:rPr>
              <a:t>默认值，则把数值</a:t>
            </a:r>
            <a:r>
              <a:rPr lang="en-US" altLang="zh-TW" sz="1400" dirty="0" smtClean="0">
                <a:solidFill>
                  <a:srgbClr val="FF0000"/>
                </a:solidFill>
                <a:latin typeface="微軟正黑體" pitchFamily="34" charset="-120"/>
              </a:rPr>
              <a:t>0</a:t>
            </a:r>
            <a:r>
              <a:rPr lang="en-US" altLang="zh-CN" sz="1400" dirty="0" smtClean="0">
                <a:solidFill>
                  <a:srgbClr val="FF0000"/>
                </a:solidFill>
                <a:latin typeface="微軟正黑體" pitchFamily="34" charset="-120"/>
              </a:rPr>
              <a:t>x27</a:t>
            </a:r>
            <a:r>
              <a:rPr lang="zh-TW" altLang="en-US" sz="1400" dirty="0" smtClean="0">
                <a:solidFill>
                  <a:srgbClr val="FF0000"/>
                </a:solidFill>
                <a:latin typeface="微軟正黑體" pitchFamily="34" charset="-120"/>
              </a:rPr>
              <a:t>写入</a:t>
            </a:r>
            <a:r>
              <a:rPr lang="en-US" altLang="zh-CN" sz="1400" dirty="0" smtClean="0">
                <a:solidFill>
                  <a:srgbClr val="FF0000"/>
                </a:solidFill>
                <a:latin typeface="微軟正黑體" pitchFamily="34" charset="-120"/>
              </a:rPr>
              <a:t>SHDW_CONTROL[</a:t>
            </a:r>
            <a:r>
              <a:rPr lang="zh-TW" altLang="en-US" sz="1400" dirty="0" smtClean="0">
                <a:solidFill>
                  <a:srgbClr val="FF0000"/>
                </a:solidFill>
                <a:latin typeface="微軟正黑體" pitchFamily="34" charset="-120"/>
              </a:rPr>
              <a:t> </a:t>
            </a:r>
            <a:r>
              <a:rPr lang="en-US" altLang="zh-CN" sz="1400" dirty="0" smtClean="0">
                <a:solidFill>
                  <a:srgbClr val="FF0000"/>
                </a:solidFill>
                <a:latin typeface="微軟正黑體" pitchFamily="34" charset="-120"/>
              </a:rPr>
              <a:t>]</a:t>
            </a:r>
            <a:r>
              <a:rPr lang="zh-CN" altLang="en-US" sz="1400" dirty="0" smtClean="0">
                <a:solidFill>
                  <a:srgbClr val="FF0000"/>
                </a:solidFill>
                <a:latin typeface="微軟正黑體" pitchFamily="34" charset="-120"/>
              </a:rPr>
              <a:t>。</a:t>
            </a:r>
            <a:endParaRPr lang="en-US" altLang="zh-CN" sz="1400" dirty="0" smtClean="0">
              <a:solidFill>
                <a:srgbClr val="FF0000"/>
              </a:solidFill>
              <a:latin typeface="微軟正黑體" pitchFamily="34" charset="-120"/>
            </a:endParaRPr>
          </a:p>
          <a:p>
            <a:endParaRPr lang="en-US" altLang="zh-TW" sz="1600" dirty="0" smtClean="0">
              <a:solidFill>
                <a:schemeClr val="tx1"/>
              </a:solidFill>
              <a:latin typeface="微軟正黑體" pitchFamily="34" charset="-120"/>
            </a:endParaRPr>
          </a:p>
          <a:p>
            <a:pPr marL="800100" lvl="1" indent="-342900">
              <a:buFont typeface="+mj-lt"/>
              <a:buAutoNum type="arabicPeriod"/>
            </a:pPr>
            <a:endParaRPr lang="en-US" altLang="zh-CN" sz="1400" dirty="0" smtClean="0">
              <a:latin typeface="微軟正黑體" pitchFamily="34" charset="-120"/>
            </a:endParaRPr>
          </a:p>
          <a:p>
            <a:pPr>
              <a:buNone/>
            </a:pPr>
            <a:endParaRPr lang="zh-TW" altLang="en-US" sz="1800" dirty="0">
              <a:latin typeface="微軟正黑體"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384"/>
            <a:ext cx="8229600" cy="1143000"/>
          </a:xfrm>
        </p:spPr>
        <p:txBody>
          <a:bodyPr/>
          <a:lstStyle/>
          <a:p>
            <a:r>
              <a:rPr lang="zh-TW" altLang="en-US" sz="2800" dirty="0" smtClean="0">
                <a:solidFill>
                  <a:srgbClr val="6600FF"/>
                </a:solidFill>
                <a:effectLst>
                  <a:outerShdw blurRad="38100" dist="38100" dir="2700000" algn="tl">
                    <a:srgbClr val="000000">
                      <a:alpha val="43137"/>
                    </a:srgbClr>
                  </a:outerShdw>
                </a:effectLst>
              </a:rPr>
              <a:t>设置</a:t>
            </a:r>
            <a:r>
              <a:rPr lang="en-US" altLang="zh-TW" sz="2800" dirty="0" smtClean="0">
                <a:solidFill>
                  <a:srgbClr val="6600FF"/>
                </a:solidFill>
                <a:effectLst>
                  <a:outerShdw blurRad="38100" dist="38100" dir="2700000" algn="tl">
                    <a:srgbClr val="000000">
                      <a:alpha val="43137"/>
                    </a:srgbClr>
                  </a:outerShdw>
                </a:effectLst>
              </a:rPr>
              <a:t>EPROM</a:t>
            </a:r>
            <a:r>
              <a:rPr lang="zh-TW" altLang="en-US" sz="2800" dirty="0" smtClean="0">
                <a:solidFill>
                  <a:srgbClr val="6600FF"/>
                </a:solidFill>
                <a:effectLst>
                  <a:outerShdw blurRad="38100" dist="38100" dir="2700000" algn="tl">
                    <a:srgbClr val="000000">
                      <a:alpha val="43137"/>
                    </a:srgbClr>
                  </a:outerShdw>
                </a:effectLst>
              </a:rPr>
              <a:t>配置寄存器</a:t>
            </a:r>
            <a:endParaRPr lang="zh-TW" altLang="en-US" sz="2800" dirty="0">
              <a:solidFill>
                <a:srgbClr val="6600FF"/>
              </a:solidFill>
              <a:effectLst>
                <a:outerShdw blurRad="38100" dist="38100" dir="2700000" algn="tl">
                  <a:srgbClr val="000000">
                    <a:alpha val="43137"/>
                  </a:srgbClr>
                </a:outerShdw>
              </a:effectLst>
            </a:endParaRPr>
          </a:p>
        </p:txBody>
      </p:sp>
      <p:sp>
        <p:nvSpPr>
          <p:cNvPr id="5" name="內容版面配置區 4"/>
          <p:cNvSpPr>
            <a:spLocks noGrp="1"/>
          </p:cNvSpPr>
          <p:nvPr>
            <p:ph idx="1"/>
          </p:nvPr>
        </p:nvSpPr>
        <p:spPr>
          <a:xfrm>
            <a:off x="457200" y="1052736"/>
            <a:ext cx="4114800" cy="4525963"/>
          </a:xfrm>
        </p:spPr>
        <p:txBody>
          <a:bodyPr/>
          <a:lstStyle/>
          <a:p>
            <a:r>
              <a:rPr lang="en-US" altLang="zh-CN" sz="1800" dirty="0" smtClean="0">
                <a:latin typeface="微軟正黑體" pitchFamily="34" charset="-120"/>
              </a:rPr>
              <a:t>bq76PL536A-Q1</a:t>
            </a:r>
            <a:r>
              <a:rPr lang="zh-CN" altLang="en-US" sz="1800" dirty="0" smtClean="0">
                <a:latin typeface="微軟正黑體" pitchFamily="34" charset="-120"/>
              </a:rPr>
              <a:t>具有一个</a:t>
            </a:r>
            <a:r>
              <a:rPr lang="en-US" altLang="zh-CN" sz="1800" dirty="0" smtClean="0">
                <a:latin typeface="微軟正黑體" pitchFamily="34" charset="-120"/>
              </a:rPr>
              <a:t>OTP-EPROM</a:t>
            </a:r>
            <a:r>
              <a:rPr lang="zh-CN" altLang="en-US" sz="1800" dirty="0" smtClean="0">
                <a:latin typeface="微軟正黑體" pitchFamily="34" charset="-120"/>
              </a:rPr>
              <a:t>块</a:t>
            </a:r>
            <a:r>
              <a:rPr lang="en-US" altLang="zh-CN" sz="1800" dirty="0" smtClean="0">
                <a:latin typeface="微軟正黑體" pitchFamily="34" charset="-120"/>
              </a:rPr>
              <a:t>,</a:t>
            </a:r>
            <a:r>
              <a:rPr lang="zh-CN" altLang="en-US" sz="1800" dirty="0" smtClean="0">
                <a:latin typeface="微軟正黑體" pitchFamily="34" charset="-120"/>
              </a:rPr>
              <a:t>用于配置</a:t>
            </a:r>
            <a:r>
              <a:rPr lang="en-US" altLang="zh-CN" sz="1800" dirty="0" smtClean="0">
                <a:latin typeface="微軟正黑體" pitchFamily="34" charset="-120"/>
              </a:rPr>
              <a:t>bq76PL536A-Q1</a:t>
            </a:r>
            <a:r>
              <a:rPr lang="zh-CN" altLang="en-US" sz="1800" dirty="0" smtClean="0">
                <a:latin typeface="微軟正黑體" pitchFamily="34" charset="-120"/>
              </a:rPr>
              <a:t>的操作。</a:t>
            </a:r>
            <a:r>
              <a:rPr lang="en-US" altLang="zh-CN" sz="1800" dirty="0" smtClean="0">
                <a:latin typeface="微軟正黑體" pitchFamily="34" charset="-120"/>
              </a:rPr>
              <a:t>EPROM</a:t>
            </a:r>
            <a:r>
              <a:rPr lang="zh-CN" altLang="en-US" sz="1800" dirty="0" smtClean="0">
                <a:latin typeface="微軟正黑體" pitchFamily="34" charset="-120"/>
              </a:rPr>
              <a:t>的编程应在封装</a:t>
            </a:r>
            <a:r>
              <a:rPr lang="en-US" altLang="zh-CN" sz="1800" dirty="0" smtClean="0">
                <a:latin typeface="微軟正黑體" pitchFamily="34" charset="-120"/>
              </a:rPr>
              <a:t>/</a:t>
            </a:r>
            <a:r>
              <a:rPr lang="zh-CN" altLang="en-US" sz="1800" dirty="0" smtClean="0">
                <a:latin typeface="微軟正黑體" pitchFamily="34" charset="-120"/>
              </a:rPr>
              <a:t>系统制造过程中进行。</a:t>
            </a:r>
            <a:endParaRPr lang="en-US" altLang="zh-CN" sz="1800" dirty="0" smtClean="0">
              <a:latin typeface="微軟正黑體" pitchFamily="34" charset="-120"/>
            </a:endParaRPr>
          </a:p>
          <a:p>
            <a:r>
              <a:rPr lang="zh-CN" altLang="en-US" sz="1800" dirty="0" smtClean="0">
                <a:latin typeface="微軟正黑體" pitchFamily="34" charset="-120"/>
              </a:rPr>
              <a:t>在</a:t>
            </a:r>
            <a:r>
              <a:rPr lang="en-US" altLang="zh-CN" sz="1800" dirty="0" smtClean="0">
                <a:latin typeface="微軟正黑體" pitchFamily="34" charset="-120"/>
              </a:rPr>
              <a:t>PROG</a:t>
            </a:r>
            <a:r>
              <a:rPr lang="zh-CN" altLang="en-US" sz="1800" dirty="0" smtClean="0">
                <a:latin typeface="微軟正黑體" pitchFamily="34" charset="-120"/>
              </a:rPr>
              <a:t>引脚上需要一个</a:t>
            </a:r>
            <a:r>
              <a:rPr lang="en-US" altLang="zh-CN" sz="1800" dirty="0" smtClean="0">
                <a:latin typeface="微軟正黑體" pitchFamily="34" charset="-120"/>
              </a:rPr>
              <a:t>7 V (</a:t>
            </a:r>
            <a:r>
              <a:rPr lang="zh-TW" altLang="en-US" sz="1800" dirty="0" smtClean="0">
                <a:latin typeface="微軟正黑體" pitchFamily="34" charset="-120"/>
              </a:rPr>
              <a:t> </a:t>
            </a:r>
            <a:r>
              <a:rPr lang="en-US" altLang="zh-CN" sz="1800" dirty="0" smtClean="0">
                <a:latin typeface="微軟正黑體" pitchFamily="34" charset="-120"/>
              </a:rPr>
              <a:t>V</a:t>
            </a:r>
            <a:r>
              <a:rPr lang="en-US" altLang="zh-CN" sz="1400" dirty="0" smtClean="0">
                <a:latin typeface="微軟正黑體" pitchFamily="34" charset="-120"/>
              </a:rPr>
              <a:t> PP </a:t>
            </a:r>
            <a:r>
              <a:rPr lang="en-US" altLang="zh-CN" sz="1800" dirty="0" smtClean="0">
                <a:latin typeface="微軟正黑體" pitchFamily="34" charset="-120"/>
              </a:rPr>
              <a:t>) </a:t>
            </a:r>
            <a:r>
              <a:rPr lang="zh-CN" altLang="en-US" sz="1800" dirty="0" smtClean="0">
                <a:latin typeface="微軟正黑體" pitchFamily="34" charset="-120"/>
              </a:rPr>
              <a:t>脉冲</a:t>
            </a:r>
            <a:r>
              <a:rPr lang="zh-CN" altLang="en-US" sz="1800" b="1" dirty="0" smtClean="0">
                <a:latin typeface="微軟正黑體" pitchFamily="34" charset="-120"/>
              </a:rPr>
              <a:t>。</a:t>
            </a:r>
            <a:endParaRPr lang="en-US" altLang="zh-CN" sz="1800" b="1" dirty="0" smtClean="0">
              <a:latin typeface="微軟正黑體" pitchFamily="34" charset="-120"/>
            </a:endParaRPr>
          </a:p>
          <a:p>
            <a:r>
              <a:rPr lang="zh-TW" altLang="en-US" sz="1800" dirty="0" smtClean="0">
                <a:latin typeface="微軟正黑體" pitchFamily="34" charset="-120"/>
              </a:rPr>
              <a:t>操作方式 </a:t>
            </a:r>
            <a:r>
              <a:rPr lang="en-US" altLang="zh-TW" sz="1800" dirty="0" smtClean="0">
                <a:latin typeface="微軟正黑體" pitchFamily="34" charset="-120"/>
              </a:rPr>
              <a:t>:</a:t>
            </a:r>
            <a:r>
              <a:rPr lang="zh-TW" altLang="en-US" sz="1800" dirty="0" smtClean="0">
                <a:latin typeface="微軟正黑體" pitchFamily="34" charset="-120"/>
              </a:rPr>
              <a:t> </a:t>
            </a:r>
            <a:endParaRPr lang="en-US" altLang="zh-TW" sz="1800" dirty="0" smtClean="0">
              <a:latin typeface="微軟正黑體" pitchFamily="34" charset="-120"/>
            </a:endParaRPr>
          </a:p>
          <a:p>
            <a:pPr marL="800100" lvl="1" indent="-342900">
              <a:buFont typeface="+mj-lt"/>
              <a:buAutoNum type="arabicPeriod"/>
            </a:pPr>
            <a:r>
              <a:rPr lang="zh-CN" altLang="en-US" sz="1400" dirty="0" smtClean="0">
                <a:latin typeface="微軟正黑體" pitchFamily="34" charset="-120"/>
              </a:rPr>
              <a:t>将期望的数值写入所有相同且受保护的</a:t>
            </a:r>
            <a:r>
              <a:rPr lang="en-US" altLang="zh-CN" sz="1400" dirty="0" smtClean="0">
                <a:latin typeface="微軟正黑體" pitchFamily="34" charset="-120"/>
              </a:rPr>
              <a:t>Group3</a:t>
            </a:r>
            <a:r>
              <a:rPr lang="zh-CN" altLang="en-US" sz="1400" dirty="0" smtClean="0">
                <a:latin typeface="微軟正黑體" pitchFamily="34" charset="-120"/>
              </a:rPr>
              <a:t>寄存器地址。</a:t>
            </a:r>
            <a:endParaRPr lang="en-US" altLang="zh-CN" sz="1400" dirty="0" smtClean="0">
              <a:latin typeface="微軟正黑體" pitchFamily="34" charset="-120"/>
            </a:endParaRPr>
          </a:p>
          <a:p>
            <a:pPr marL="800100" lvl="1" indent="-342900">
              <a:buFont typeface="+mj-lt"/>
              <a:buAutoNum type="arabicPeriod"/>
            </a:pPr>
            <a:r>
              <a:rPr lang="zh-CN" altLang="en-US" sz="1400" dirty="0" smtClean="0">
                <a:latin typeface="微軟正黑體" pitchFamily="34" charset="-120"/>
              </a:rPr>
              <a:t>通过先将</a:t>
            </a:r>
            <a:r>
              <a:rPr lang="en-US" altLang="zh-CN" sz="1400" dirty="0" smtClean="0">
                <a:latin typeface="微軟正黑體" pitchFamily="34" charset="-120"/>
              </a:rPr>
              <a:t>7 V</a:t>
            </a:r>
            <a:r>
              <a:rPr lang="zh-CN" altLang="en-US" sz="1400" dirty="0" smtClean="0">
                <a:latin typeface="微軟正黑體" pitchFamily="34" charset="-120"/>
              </a:rPr>
              <a:t>电压施加至</a:t>
            </a:r>
            <a:r>
              <a:rPr lang="en-US" altLang="zh-CN" sz="1400" dirty="0" smtClean="0">
                <a:latin typeface="微軟正黑體" pitchFamily="34" charset="-120"/>
              </a:rPr>
              <a:t>LDOD1 (2) </a:t>
            </a:r>
            <a:r>
              <a:rPr lang="zh-CN" altLang="en-US" sz="1400" dirty="0" smtClean="0">
                <a:latin typeface="微軟正黑體" pitchFamily="34" charset="-120"/>
              </a:rPr>
              <a:t>引脚来把期望的数据写入合适的地址</a:t>
            </a:r>
            <a:r>
              <a:rPr lang="zh-TW" altLang="en-US" sz="1400" dirty="0" smtClean="0">
                <a:latin typeface="微軟正黑體" pitchFamily="34" charset="-120"/>
              </a:rPr>
              <a:t>。</a:t>
            </a:r>
            <a:endParaRPr lang="en-US" altLang="zh-TW" sz="1400" dirty="0" smtClean="0">
              <a:latin typeface="微軟正黑體" pitchFamily="34" charset="-120"/>
            </a:endParaRPr>
          </a:p>
          <a:p>
            <a:pPr marL="800100" lvl="1" indent="-342900">
              <a:buFont typeface="+mj-lt"/>
              <a:buAutoNum type="arabicPeriod"/>
            </a:pPr>
            <a:r>
              <a:rPr lang="zh-CN" altLang="en-US" sz="1400" dirty="0" smtClean="0">
                <a:latin typeface="微軟正黑體" pitchFamily="34" charset="-120"/>
              </a:rPr>
              <a:t>数据</a:t>
            </a:r>
            <a:r>
              <a:rPr lang="en-US" altLang="zh-CN" sz="1400" dirty="0" smtClean="0">
                <a:latin typeface="微軟正黑體" pitchFamily="34" charset="-120"/>
              </a:rPr>
              <a:t>0x91</a:t>
            </a:r>
            <a:r>
              <a:rPr lang="zh-CN" altLang="en-US" sz="1400" dirty="0" smtClean="0">
                <a:latin typeface="微軟正黑體" pitchFamily="34" charset="-120"/>
              </a:rPr>
              <a:t>写入</a:t>
            </a:r>
            <a:r>
              <a:rPr lang="en-US" altLang="zh-CN" sz="1400" dirty="0" smtClean="0">
                <a:latin typeface="微軟正黑體" pitchFamily="34" charset="-120"/>
              </a:rPr>
              <a:t>EE_EN</a:t>
            </a:r>
            <a:r>
              <a:rPr lang="zh-CN" altLang="en-US" sz="1400" dirty="0" smtClean="0">
                <a:latin typeface="微軟正黑體" pitchFamily="34" charset="-120"/>
              </a:rPr>
              <a:t>寄存器（地址</a:t>
            </a:r>
            <a:r>
              <a:rPr lang="en-US" altLang="zh-CN" sz="1400" dirty="0" smtClean="0">
                <a:latin typeface="微軟正黑體" pitchFamily="34" charset="-120"/>
              </a:rPr>
              <a:t>0x3f</a:t>
            </a:r>
            <a:r>
              <a:rPr lang="zh-CN" altLang="en-US" sz="1400" dirty="0" smtClean="0">
                <a:latin typeface="微軟正黑體" pitchFamily="34" charset="-120"/>
              </a:rPr>
              <a:t>）进行编程</a:t>
            </a:r>
            <a:r>
              <a:rPr lang="zh-TW" altLang="en-US" sz="1400" dirty="0" smtClean="0">
                <a:latin typeface="微軟正黑體" pitchFamily="34" charset="-120"/>
              </a:rPr>
              <a:t>。</a:t>
            </a:r>
            <a:endParaRPr lang="en-US" altLang="zh-CN" sz="1400" dirty="0" smtClean="0">
              <a:latin typeface="微軟正黑體" pitchFamily="34" charset="-120"/>
            </a:endParaRPr>
          </a:p>
          <a:p>
            <a:pPr marL="800100" lvl="1" indent="-342900">
              <a:buFont typeface="+mj-lt"/>
              <a:buAutoNum type="arabicPeriod"/>
            </a:pPr>
            <a:r>
              <a:rPr lang="zh-CN" altLang="en-US" sz="1400" dirty="0" smtClean="0">
                <a:latin typeface="微軟正黑體" pitchFamily="34" charset="-120"/>
              </a:rPr>
              <a:t>在一个 </a:t>
            </a:r>
            <a:r>
              <a:rPr lang="en-US" altLang="zh-CN" sz="1400" dirty="0" smtClean="0">
                <a:latin typeface="微軟正黑體" pitchFamily="34" charset="-120"/>
              </a:rPr>
              <a:t>&gt;1500μs</a:t>
            </a:r>
            <a:r>
              <a:rPr lang="zh-CN" altLang="en-US" sz="1400" dirty="0" smtClean="0">
                <a:latin typeface="微軟正黑體" pitchFamily="34" charset="-120"/>
              </a:rPr>
              <a:t>的时间周期之后，取消</a:t>
            </a:r>
            <a:r>
              <a:rPr lang="en-US" altLang="zh-CN" sz="1400" dirty="0" smtClean="0">
                <a:latin typeface="微軟正黑體" pitchFamily="34" charset="-120"/>
              </a:rPr>
              <a:t>7 V</a:t>
            </a:r>
            <a:r>
              <a:rPr lang="zh-CN" altLang="en-US" sz="1400" dirty="0" smtClean="0">
                <a:latin typeface="微軟正黑體" pitchFamily="34" charset="-120"/>
              </a:rPr>
              <a:t>电压</a:t>
            </a:r>
            <a:r>
              <a:rPr lang="zh-TW" altLang="en-US" sz="1400" dirty="0" smtClean="0">
                <a:latin typeface="微軟正黑體" pitchFamily="34" charset="-120"/>
              </a:rPr>
              <a:t>。 </a:t>
            </a:r>
            <a:r>
              <a:rPr lang="en-US" altLang="zh-TW" sz="1400" dirty="0" smtClean="0">
                <a:latin typeface="微軟正黑體" pitchFamily="34" charset="-120"/>
              </a:rPr>
              <a:t>(</a:t>
            </a:r>
            <a:r>
              <a:rPr lang="zh-CN" altLang="en-US" sz="1400" dirty="0" smtClean="0">
                <a:solidFill>
                  <a:srgbClr val="FF0000"/>
                </a:solidFill>
                <a:latin typeface="微軟正黑體" pitchFamily="34" charset="-120"/>
              </a:rPr>
              <a:t>按照规格，该电压脉冲应持续施加约</a:t>
            </a:r>
            <a:r>
              <a:rPr lang="en-US" altLang="zh-CN" sz="1400" dirty="0" smtClean="0">
                <a:solidFill>
                  <a:srgbClr val="FF0000"/>
                </a:solidFill>
                <a:latin typeface="微軟正黑體" pitchFamily="34" charset="-120"/>
              </a:rPr>
              <a:t>2</a:t>
            </a:r>
            <a:r>
              <a:rPr lang="zh-CN" altLang="en-US" sz="1400" dirty="0" smtClean="0">
                <a:solidFill>
                  <a:srgbClr val="FF0000"/>
                </a:solidFill>
                <a:latin typeface="微軟正黑體" pitchFamily="34" charset="-120"/>
              </a:rPr>
              <a:t>～</a:t>
            </a:r>
            <a:r>
              <a:rPr lang="en-US" altLang="zh-CN" sz="1400" dirty="0" smtClean="0">
                <a:solidFill>
                  <a:srgbClr val="FF0000"/>
                </a:solidFill>
                <a:latin typeface="微軟正黑體" pitchFamily="34" charset="-120"/>
              </a:rPr>
              <a:t>3ms</a:t>
            </a:r>
            <a:r>
              <a:rPr lang="zh-CN" altLang="en-US" sz="1400" dirty="0" smtClean="0">
                <a:latin typeface="微軟正黑體" pitchFamily="34" charset="-120"/>
              </a:rPr>
              <a:t>。</a:t>
            </a:r>
            <a:r>
              <a:rPr lang="en-US" altLang="zh-TW" sz="1400" dirty="0" smtClean="0">
                <a:latin typeface="微軟正黑體" pitchFamily="34" charset="-120"/>
              </a:rPr>
              <a:t>)</a:t>
            </a:r>
          </a:p>
          <a:p>
            <a:pPr marL="800100" lvl="1" indent="-342900">
              <a:buFont typeface="+mj-lt"/>
              <a:buAutoNum type="arabicPeriod"/>
            </a:pPr>
            <a:endParaRPr lang="en-US" altLang="zh-TW" sz="1400" dirty="0" smtClean="0">
              <a:solidFill>
                <a:schemeClr val="tx1"/>
              </a:solidFill>
              <a:latin typeface="微軟正黑體" pitchFamily="34" charset="-120"/>
            </a:endParaRPr>
          </a:p>
          <a:p>
            <a:pPr marL="800100" lvl="1" indent="-342900">
              <a:buFont typeface="+mj-lt"/>
              <a:buAutoNum type="arabicPeriod"/>
            </a:pPr>
            <a:endParaRPr lang="en-US" altLang="zh-CN" sz="1400" dirty="0" smtClean="0">
              <a:latin typeface="微軟正黑體" pitchFamily="34" charset="-120"/>
            </a:endParaRPr>
          </a:p>
          <a:p>
            <a:pPr>
              <a:buNone/>
            </a:pPr>
            <a:endParaRPr lang="zh-TW" altLang="en-US" sz="1800" dirty="0">
              <a:latin typeface="微軟正黑體" pitchFamily="34" charset="-120"/>
            </a:endParaRPr>
          </a:p>
        </p:txBody>
      </p:sp>
      <p:pic>
        <p:nvPicPr>
          <p:cNvPr id="6146" name="Picture 2"/>
          <p:cNvPicPr>
            <a:picLocks noChangeAspect="1" noChangeArrowheads="1"/>
          </p:cNvPicPr>
          <p:nvPr/>
        </p:nvPicPr>
        <p:blipFill>
          <a:blip r:embed="rId2" cstate="print"/>
          <a:srcRect/>
          <a:stretch>
            <a:fillRect/>
          </a:stretch>
        </p:blipFill>
        <p:spPr bwMode="auto">
          <a:xfrm>
            <a:off x="4644008" y="980728"/>
            <a:ext cx="4248472" cy="4896544"/>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solidFill>
                  <a:srgbClr val="6600FF"/>
                </a:solidFill>
                <a:effectLst>
                  <a:outerShdw blurRad="38100" dist="38100" dir="2700000" algn="tl">
                    <a:srgbClr val="000000">
                      <a:alpha val="43137"/>
                    </a:srgbClr>
                  </a:outerShdw>
                </a:effectLst>
              </a:rPr>
              <a:t>問題 </a:t>
            </a:r>
            <a:r>
              <a:rPr lang="en-US" altLang="zh-TW" dirty="0" smtClean="0">
                <a:solidFill>
                  <a:srgbClr val="6600FF"/>
                </a:solidFill>
                <a:effectLst>
                  <a:outerShdw blurRad="38100" dist="38100" dir="2700000" algn="tl">
                    <a:srgbClr val="000000">
                      <a:alpha val="43137"/>
                    </a:srgbClr>
                  </a:outerShdw>
                </a:effectLst>
              </a:rPr>
              <a:t>!?</a:t>
            </a:r>
            <a:endParaRPr lang="zh-TW" altLang="en-US" dirty="0">
              <a:solidFill>
                <a:srgbClr val="6600FF"/>
              </a:solidFill>
              <a:effectLst>
                <a:outerShdw blurRad="38100" dist="38100" dir="2700000" algn="tl">
                  <a:srgbClr val="000000">
                    <a:alpha val="43137"/>
                  </a:srgbClr>
                </a:outerShdw>
              </a:effectLst>
            </a:endParaRPr>
          </a:p>
        </p:txBody>
      </p:sp>
    </p:spTree>
  </p:cSld>
  <p:clrMapOvr>
    <a:masterClrMapping/>
  </p:clrMapOvr>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bwMode="auto">
        <a:solidFill>
          <a:schemeClr val="accent1"/>
        </a:solidFill>
        <a:ln w="9525" cap="flat" cmpd="sng" algn="ctr">
          <a:solidFill>
            <a:srgbClr val="6600FF"/>
          </a:solidFill>
          <a:prstDash val="solid"/>
          <a:round/>
          <a:headEnd type="none" w="med" len="med"/>
          <a:tailEnd type="arrow"/>
        </a:ln>
        <a:effectLst/>
      </a:spPr>
      <a:bodyPr/>
      <a:lstStyle/>
    </a:ln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1624</TotalTime>
  <Words>4898</Words>
  <Application>Microsoft Office PowerPoint</Application>
  <PresentationFormat>如螢幕大小 (4:3)</PresentationFormat>
  <Paragraphs>427</Paragraphs>
  <Slides>23</Slides>
  <Notes>3</Notes>
  <HiddenSlides>0</HiddenSlides>
  <MMClips>0</MMClips>
  <ScaleCrop>false</ScaleCrop>
  <HeadingPairs>
    <vt:vector size="4" baseType="variant">
      <vt:variant>
        <vt:lpstr>佈景主題</vt:lpstr>
      </vt:variant>
      <vt:variant>
        <vt:i4>1</vt:i4>
      </vt:variant>
      <vt:variant>
        <vt:lpstr>投影片標題</vt:lpstr>
      </vt:variant>
      <vt:variant>
        <vt:i4>23</vt:i4>
      </vt:variant>
    </vt:vector>
  </HeadingPairs>
  <TitlesOfParts>
    <vt:vector size="24" baseType="lpstr">
      <vt:lpstr>預設簡報設計</vt:lpstr>
      <vt:lpstr>TI 多节电池解决方案介紹 ( 电池电量检测与监视、电池保护 )</vt:lpstr>
      <vt:lpstr>Agenda</vt:lpstr>
      <vt:lpstr>Lithium Chemistry Battery Management  HCE Product – Solutions Map</vt:lpstr>
      <vt:lpstr>投影片 4</vt:lpstr>
      <vt:lpstr>投影片 5</vt:lpstr>
      <vt:lpstr>bqMAXIMO &amp; bqMAXIMUS:拥有最大灵活性</vt:lpstr>
      <vt:lpstr>Bq76920+ bqMAXIMUS</vt:lpstr>
      <vt:lpstr>Bq76930+ bqMAXIMUS</vt:lpstr>
      <vt:lpstr>Bq76940+ bqMAXIMUS</vt:lpstr>
      <vt:lpstr>投影片 10</vt:lpstr>
      <vt:lpstr>投影片 11</vt:lpstr>
      <vt:lpstr>536A Key Features</vt:lpstr>
      <vt:lpstr>536A Built-in Protector</vt:lpstr>
      <vt:lpstr>536A Evaluation Software</vt:lpstr>
      <vt:lpstr>bq76PL536A 如何操作器件寻址</vt:lpstr>
      <vt:lpstr>如何设置3至6节串联电池</vt:lpstr>
      <vt:lpstr>如何读取电池与GPAI与VBAT</vt:lpstr>
      <vt:lpstr>如何读取温度</vt:lpstr>
      <vt:lpstr>SPI 转换控制</vt:lpstr>
      <vt:lpstr>如何設置睡眠 (SLEEP) 功能</vt:lpstr>
      <vt:lpstr>bq76PL536A 寄存器架构</vt:lpstr>
      <vt:lpstr>设置EPROM配置寄存器</vt:lpstr>
      <vt:lpstr>問題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Book</dc:creator>
  <cp:lastModifiedBy>acer</cp:lastModifiedBy>
  <cp:revision>75</cp:revision>
  <dcterms:created xsi:type="dcterms:W3CDTF">2008-09-08T07:36:07Z</dcterms:created>
  <dcterms:modified xsi:type="dcterms:W3CDTF">2012-08-20T22:48:58Z</dcterms:modified>
</cp:coreProperties>
</file>